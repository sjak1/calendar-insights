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7"/>
  </p:notesMasterIdLst>
  <p:sldIdLst>
    <p:sldId id="262" r:id="rId2"/>
    <p:sldId id="266" r:id="rId3"/>
    <p:sldId id="263" r:id="rId4"/>
    <p:sldId id="264" r:id="rId5"/>
    <p:sldId id="265" r:id="rId6"/>
  </p:sldIdLst>
  <p:sldSz cx="7772400" cy="1005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E8"/>
    <a:srgbClr val="5678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49" autoAdjust="0"/>
    <p:restoredTop sz="93792" autoAdjust="0"/>
  </p:normalViewPr>
  <p:slideViewPr>
    <p:cSldViewPr snapToGrid="0">
      <p:cViewPr varScale="1">
        <p:scale>
          <a:sx n="84" d="100"/>
          <a:sy n="84" d="100"/>
        </p:scale>
        <p:origin x="3752" y="200"/>
      </p:cViewPr>
      <p:guideLst/>
    </p:cSldViewPr>
  </p:slideViewPr>
  <p:notesTextViewPr>
    <p:cViewPr>
      <p:scale>
        <a:sx n="1" d="1"/>
        <a:sy n="1" d="1"/>
      </p:scale>
      <p:origin x="0" y="0"/>
    </p:cViewPr>
  </p:notesTextViewPr>
  <p:notesViewPr>
    <p:cSldViewPr snapToGrid="0" showGuides="1">
      <p:cViewPr varScale="1">
        <p:scale>
          <a:sx n="97" d="100"/>
          <a:sy n="97" d="100"/>
        </p:scale>
        <p:origin x="4328"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6"/>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8"/>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1,'4'0,"1"0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81B0A-E192-416E-A90F-59D34D9F0B49}" type="datetimeFigureOut">
              <a:rPr lang="en-US" smtClean="0"/>
              <a:t>6/13/23</a:t>
            </a:fld>
            <a:endParaRPr lang="en-US" dirty="0"/>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08E823-96DC-4430-91CE-09AFABFC50B8}" type="slidenum">
              <a:rPr lang="en-US" smtClean="0"/>
              <a:t>‹#›</a:t>
            </a:fld>
            <a:endParaRPr lang="en-US" dirty="0"/>
          </a:p>
        </p:txBody>
      </p:sp>
    </p:spTree>
    <p:extLst>
      <p:ext uri="{BB962C8B-B14F-4D97-AF65-F5344CB8AC3E}">
        <p14:creationId xmlns:p14="http://schemas.microsoft.com/office/powerpoint/2010/main" val="1109597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4970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2752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1336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9369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6610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y.oracle.com/site/fin/gfo/GlobalProcesses/LMS/index.htm" TargetMode="External"/><Relationship Id="rId3" Type="http://schemas.openxmlformats.org/officeDocument/2006/relationships/hyperlink" Target="https://my.oracle.com/site/fin/gfo/SIA/index.html"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ow to Use this Template">
    <p:bg>
      <p:bgPr>
        <a:solidFill>
          <a:schemeClr val="bg2"/>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59F47F-6DEF-B917-1507-E5FFAD84B913}"/>
              </a:ext>
            </a:extLst>
          </p:cNvPr>
          <p:cNvSpPr txBox="1"/>
          <p:nvPr userDrawn="1"/>
        </p:nvSpPr>
        <p:spPr>
          <a:xfrm>
            <a:off x="190501" y="1021424"/>
            <a:ext cx="7391398" cy="276999"/>
          </a:xfrm>
          <a:prstGeom prst="rect">
            <a:avLst/>
          </a:prstGeom>
          <a:noFill/>
        </p:spPr>
        <p:txBody>
          <a:bodyPr wrap="square" lIns="0" tIns="0" rIns="0" bIns="0" rtlCol="0">
            <a:spAutoFit/>
          </a:bodyPr>
          <a:lstStyle/>
          <a:p>
            <a:r>
              <a:rPr lang="en-US" b="1" dirty="0">
                <a:solidFill>
                  <a:srgbClr val="2C5967"/>
                </a:solidFill>
                <a:latin typeface="Oracle Sans Tab" panose="020B0503020204020204" pitchFamily="34" charset="0"/>
                <a:cs typeface="Oracle Sans Tab" panose="020B0503020204020204" pitchFamily="34" charset="0"/>
              </a:rPr>
              <a:t>Best Practices</a:t>
            </a:r>
          </a:p>
        </p:txBody>
      </p:sp>
      <p:sp>
        <p:nvSpPr>
          <p:cNvPr id="6" name="TextBox 5">
            <a:extLst>
              <a:ext uri="{FF2B5EF4-FFF2-40B4-BE49-F238E27FC236}">
                <a16:creationId xmlns:a16="http://schemas.microsoft.com/office/drawing/2014/main" id="{B441DECE-FA24-F40C-5172-4D877DF27D7B}"/>
              </a:ext>
            </a:extLst>
          </p:cNvPr>
          <p:cNvSpPr txBox="1"/>
          <p:nvPr userDrawn="1"/>
        </p:nvSpPr>
        <p:spPr>
          <a:xfrm>
            <a:off x="190500" y="1487374"/>
            <a:ext cx="7391399" cy="7699544"/>
          </a:xfrm>
          <a:prstGeom prst="rect">
            <a:avLst/>
          </a:prstGeom>
          <a:noFill/>
        </p:spPr>
        <p:txBody>
          <a:bodyPr wrap="square" lIns="0" rIns="0" rtlCol="0">
            <a:spAutoFit/>
          </a:bodyPr>
          <a:lstStyle/>
          <a:p>
            <a:pPr>
              <a:spcAft>
                <a:spcPts val="1000"/>
              </a:spcAft>
            </a:pPr>
            <a:r>
              <a:rPr lang="en-US" sz="1200" dirty="0">
                <a:latin typeface="Oracle Sans Tab" panose="020B0503020204020204" pitchFamily="34" charset="0"/>
                <a:cs typeface="Oracle Sans Tab" panose="020B0503020204020204" pitchFamily="34" charset="0"/>
              </a:rPr>
              <a:t>The Executive Briefing Document is required to qualify a meeting request both by the Oracle executive management teams and the CVC. This document provides pertinent and valuable insights detailing meeting objectives, current business condition, and strategy, along with any challenges. Providing complete and accurate information will create an effective and targeted meeting, fully addressing the Customer’s meeting objectives</a:t>
            </a:r>
            <a:endParaRPr lang="en-US" sz="1600" dirty="0">
              <a:latin typeface="Oracle Sans Tab" panose="020B0503020204020204" pitchFamily="34" charset="0"/>
              <a:cs typeface="Oracle Sans Tab" panose="020B0503020204020204" pitchFamily="34" charset="0"/>
            </a:endParaRPr>
          </a:p>
          <a:p>
            <a:pPr>
              <a:spcAft>
                <a:spcPts val="1000"/>
              </a:spcAft>
            </a:pPr>
            <a:endParaRPr lang="en-US" sz="1200" b="1"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Best Practices:  Filling out the Document</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Please delete this page prior to submitting.</a:t>
            </a:r>
          </a:p>
          <a:p>
            <a:pPr marL="176213" indent="-168275">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Please submit this completed document with your engagement request. This document is required for all executive engagements.</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Make sure meeting objectives, business challenges, topics of interest, etc.  are concise.</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Provide the most up-to-date opportunity and product footprint info.</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Include customer reference proof points that are relevant to the customer’s transformation and industry.</a:t>
            </a:r>
          </a:p>
          <a:p>
            <a:pPr marL="7938">
              <a:spcAft>
                <a:spcPts val="1000"/>
              </a:spcAft>
            </a:pPr>
            <a:endParaRPr lang="en-US" sz="1200" b="1" dirty="0">
              <a:latin typeface="Oracle Sans Tab" panose="020B0503020204020204" pitchFamily="34" charset="0"/>
              <a:cs typeface="Oracle Sans Tab" panose="020B0503020204020204" pitchFamily="34" charset="0"/>
            </a:endParaRPr>
          </a:p>
          <a:p>
            <a:pPr marL="7938">
              <a:spcAft>
                <a:spcPts val="1000"/>
              </a:spcAft>
            </a:pPr>
            <a:r>
              <a:rPr lang="en-US" sz="1200" b="1" dirty="0">
                <a:latin typeface="Oracle Sans Tab" panose="020B0503020204020204" pitchFamily="34" charset="0"/>
                <a:cs typeface="Oracle Sans Tab" panose="020B0503020204020204" pitchFamily="34" charset="0"/>
              </a:rPr>
              <a:t>Best Practices:  Formatting the Document</a:t>
            </a:r>
            <a:endParaRPr lang="en-US" sz="1200" dirty="0">
              <a:latin typeface="Oracle Sans Tab" panose="020B0503020204020204" pitchFamily="34" charset="0"/>
              <a:cs typeface="Oracle Sans Tab" panose="020B0503020204020204" pitchFamily="34" charset="0"/>
            </a:endParaRP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If you do not need any of the additional spaces for your customer meeting, then delete any of the items you do not need.</a:t>
            </a: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Pasting text:</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Right click on the field that you would like to paste text into. </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Choose the option all the way on the right under paste – “Keep Text Only”. </a:t>
            </a:r>
          </a:p>
          <a:p>
            <a:pPr lvl="1">
              <a:spcAft>
                <a:spcPts val="1000"/>
              </a:spcAft>
            </a:pPr>
            <a:r>
              <a:rPr lang="en-US" sz="1200" dirty="0">
                <a:latin typeface="Oracle Sans Tab" panose="020B0503020204020204" pitchFamily="34" charset="0"/>
                <a:cs typeface="Oracle Sans Tab" panose="020B0503020204020204" pitchFamily="34" charset="0"/>
              </a:rPr>
              <a:t>    This will allow you to insert the text and keep the formatting in the table.</a:t>
            </a:r>
          </a:p>
          <a:p>
            <a:pPr marL="171450" lvl="0" indent="-171450">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The font type should be Oracle Sans throughout.</a:t>
            </a:r>
          </a:p>
          <a:p>
            <a:pPr lvl="0">
              <a:spcAft>
                <a:spcPts val="1000"/>
              </a:spcAft>
            </a:pPr>
            <a:endParaRPr lang="en-US" sz="1200"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Additional information:</a:t>
            </a: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License Management Services Homepage: </a:t>
            </a:r>
            <a:r>
              <a:rPr lang="en-US" sz="1200" dirty="0">
                <a:latin typeface="Oracle Sans Tab" panose="020B0503020204020204" pitchFamily="34" charset="0"/>
                <a:cs typeface="Oracle Sans Tab" panose="020B0503020204020204" pitchFamily="34" charset="0"/>
                <a:hlinkClick r:id="rId2"/>
              </a:rPr>
              <a:t>https://my.oracle.com/site/fin/gfo/GlobalProcesses/LMS/index.htm</a:t>
            </a:r>
            <a:endParaRPr lang="en-US" sz="1200" dirty="0">
              <a:latin typeface="Oracle Sans Tab" panose="020B0503020204020204" pitchFamily="34" charset="0"/>
              <a:cs typeface="Oracle Sans Tab" panose="020B0503020204020204" pitchFamily="34" charset="0"/>
            </a:endParaRP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Software Investment Advisor Homepage: </a:t>
            </a:r>
            <a:r>
              <a:rPr lang="en-US" sz="1200" dirty="0">
                <a:latin typeface="Oracle Sans Tab" panose="020B0503020204020204" pitchFamily="34" charset="0"/>
                <a:cs typeface="Oracle Sans Tab" panose="020B0503020204020204" pitchFamily="34" charset="0"/>
                <a:hlinkClick r:id="rId3"/>
              </a:rPr>
              <a:t>https://my.oracle.com/site/fin/gfo/SIA/index.html</a:t>
            </a:r>
            <a:endParaRPr lang="en-US" sz="1200" dirty="0">
              <a:latin typeface="Oracle Sans Tab" panose="020B0503020204020204" pitchFamily="34" charset="0"/>
              <a:cs typeface="Oracle Sans Tab" panose="020B0503020204020204" pitchFamily="34" charset="0"/>
            </a:endParaRPr>
          </a:p>
        </p:txBody>
      </p:sp>
    </p:spTree>
    <p:extLst>
      <p:ext uri="{BB962C8B-B14F-4D97-AF65-F5344CB8AC3E}">
        <p14:creationId xmlns:p14="http://schemas.microsoft.com/office/powerpoint/2010/main" val="309906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 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1113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230FEE-C563-4D59-AC5A-2772635D491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206728" y="9674318"/>
            <a:ext cx="384082" cy="384082"/>
          </a:xfrm>
          <a:prstGeom prst="rect">
            <a:avLst/>
          </a:prstGeom>
        </p:spPr>
      </p:pic>
      <p:pic>
        <p:nvPicPr>
          <p:cNvPr id="8" name="Picture 7">
            <a:extLst>
              <a:ext uri="{FF2B5EF4-FFF2-40B4-BE49-F238E27FC236}">
                <a16:creationId xmlns:a16="http://schemas.microsoft.com/office/drawing/2014/main" id="{B3C71360-1220-3AAC-BF2E-BD55DF1DA28A}"/>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0" y="-1"/>
            <a:ext cx="7772400" cy="207193"/>
          </a:xfrm>
          <a:prstGeom prst="rect">
            <a:avLst/>
          </a:prstGeom>
        </p:spPr>
      </p:pic>
      <p:sp>
        <p:nvSpPr>
          <p:cNvPr id="4" name="TextBox 3">
            <a:extLst>
              <a:ext uri="{FF2B5EF4-FFF2-40B4-BE49-F238E27FC236}">
                <a16:creationId xmlns:a16="http://schemas.microsoft.com/office/drawing/2014/main" id="{F2E08B6F-149E-5F07-CF1D-93DCAB8C04E4}"/>
              </a:ext>
            </a:extLst>
          </p:cNvPr>
          <p:cNvSpPr txBox="1"/>
          <p:nvPr userDrawn="1"/>
        </p:nvSpPr>
        <p:spPr>
          <a:xfrm>
            <a:off x="179389" y="9674317"/>
            <a:ext cx="3758184" cy="169164"/>
          </a:xfrm>
          <a:prstGeom prst="rect">
            <a:avLst/>
          </a:prstGeom>
        </p:spPr>
        <p:txBody>
          <a:bodyPr vert="horz" lIns="0" tIns="0" rIns="0" bIns="0" rtlCol="0" anchor="b"/>
          <a:lstStyle>
            <a:defPPr>
              <a:defRPr lang="en-US"/>
            </a:defPPr>
            <a:lvl1pPr>
              <a:defRPr sz="900">
                <a:solidFill>
                  <a:srgbClr val="8B8580"/>
                </a:solidFill>
              </a:defRPr>
            </a:lvl1pPr>
          </a:lstStyle>
          <a:p>
            <a:pPr lvl="0"/>
            <a:r>
              <a:rPr lang="en-US" dirty="0"/>
              <a:t>Copyright © 2023, Oracle and/or its affiliates  |  Confidential: Restricted</a:t>
            </a:r>
          </a:p>
        </p:txBody>
      </p:sp>
      <p:sp>
        <p:nvSpPr>
          <p:cNvPr id="10" name="TextBox 9">
            <a:extLst>
              <a:ext uri="{FF2B5EF4-FFF2-40B4-BE49-F238E27FC236}">
                <a16:creationId xmlns:a16="http://schemas.microsoft.com/office/drawing/2014/main" id="{38071B4B-6207-75E4-E82D-26827A33F24D}"/>
              </a:ext>
            </a:extLst>
          </p:cNvPr>
          <p:cNvSpPr txBox="1"/>
          <p:nvPr userDrawn="1"/>
        </p:nvSpPr>
        <p:spPr>
          <a:xfrm>
            <a:off x="4084086" y="9674318"/>
            <a:ext cx="2502924" cy="169164"/>
          </a:xfrm>
          <a:prstGeom prst="rect">
            <a:avLst/>
          </a:prstGeom>
        </p:spPr>
        <p:txBody>
          <a:bodyPr vert="horz" lIns="0" tIns="0" rIns="0" bIns="0" rtlCol="0" anchor="b"/>
          <a:lstStyle>
            <a:defPPr>
              <a:defRPr lang="en-US"/>
            </a:defPPr>
            <a:lvl1pPr>
              <a:defRPr sz="900">
                <a:solidFill>
                  <a:srgbClr val="8B8580"/>
                </a:solidFill>
              </a:defRPr>
            </a:lvl1pPr>
          </a:lstStyle>
          <a:p>
            <a:pPr lvl="0"/>
            <a:fld id="{409578D9-D361-A046-B7E4-191350565D45}" type="datetime8">
              <a:rPr lang="en-US" smtClean="0"/>
              <a:t>6/13/23 3:47 PM</a:t>
            </a:fld>
            <a:endParaRPr lang="en-US" dirty="0"/>
          </a:p>
        </p:txBody>
      </p:sp>
      <p:sp>
        <p:nvSpPr>
          <p:cNvPr id="11" name="TextBox 10">
            <a:extLst>
              <a:ext uri="{FF2B5EF4-FFF2-40B4-BE49-F238E27FC236}">
                <a16:creationId xmlns:a16="http://schemas.microsoft.com/office/drawing/2014/main" id="{48732693-C342-472B-843E-82C1C4AE94D3}"/>
              </a:ext>
            </a:extLst>
          </p:cNvPr>
          <p:cNvSpPr txBox="1"/>
          <p:nvPr userDrawn="1"/>
        </p:nvSpPr>
        <p:spPr>
          <a:xfrm>
            <a:off x="179389" y="420034"/>
            <a:ext cx="5990406" cy="307777"/>
          </a:xfrm>
          <a:prstGeom prst="rect">
            <a:avLst/>
          </a:prstGeom>
          <a:noFill/>
        </p:spPr>
        <p:txBody>
          <a:bodyPr wrap="square" lIns="0" tIns="0" rIns="0" bIns="0" rtlCol="0">
            <a:spAutoFit/>
          </a:bodyPr>
          <a:lstStyle/>
          <a:p>
            <a:r>
              <a:rPr lang="en-US" sz="2000" i="1" dirty="0">
                <a:solidFill>
                  <a:srgbClr val="2C5967"/>
                </a:solidFill>
                <a:latin typeface="Oracle Sans" panose="020B0503020204020204" pitchFamily="34" charset="0"/>
                <a:cs typeface="Oracle Sans" panose="020B0503020204020204" pitchFamily="34" charset="0"/>
              </a:rPr>
              <a:t>Executive Briefing Document</a:t>
            </a:r>
          </a:p>
        </p:txBody>
      </p:sp>
      <p:pic>
        <p:nvPicPr>
          <p:cNvPr id="13" name="Picture 12">
            <a:extLst>
              <a:ext uri="{FF2B5EF4-FFF2-40B4-BE49-F238E27FC236}">
                <a16:creationId xmlns:a16="http://schemas.microsoft.com/office/drawing/2014/main" id="{1D1FE7FF-B443-2D54-49B0-FFADA3A41F1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380503" y="421171"/>
            <a:ext cx="1210307" cy="338328"/>
          </a:xfrm>
          <a:prstGeom prst="rect">
            <a:avLst/>
          </a:prstGeom>
        </p:spPr>
      </p:pic>
    </p:spTree>
    <p:extLst>
      <p:ext uri="{BB962C8B-B14F-4D97-AF65-F5344CB8AC3E}">
        <p14:creationId xmlns:p14="http://schemas.microsoft.com/office/powerpoint/2010/main" val="2968834506"/>
      </p:ext>
    </p:extLst>
  </p:cSld>
  <p:clrMap bg1="lt1" tx1="dk1" bg2="lt2" tx2="dk2" accent1="accent1" accent2="accent2" accent3="accent3" accent4="accent4" accent5="accent5" accent6="accent6" hlink="hlink" folHlink="folHlink"/>
  <p:sldLayoutIdLst>
    <p:sldLayoutId id="2147483664" r:id="rId1"/>
    <p:sldLayoutId id="2147483665" r:id="rId2"/>
  </p:sldLayoutIdLst>
  <p:hf sldNum="0" hdr="0"/>
  <p:txStyles>
    <p:titleStyle>
      <a:lvl1pPr algn="l" defTabSz="195517" rtl="0" eaLnBrk="1" latinLnBrk="0" hangingPunct="1">
        <a:lnSpc>
          <a:spcPct val="95000"/>
        </a:lnSpc>
        <a:spcBef>
          <a:spcPct val="0"/>
        </a:spcBef>
        <a:buNone/>
        <a:defRPr sz="1642" kern="1200">
          <a:solidFill>
            <a:schemeClr val="tx1"/>
          </a:solidFill>
          <a:latin typeface="+mj-lt"/>
          <a:ea typeface="+mj-ea"/>
          <a:cs typeface="+mj-cs"/>
        </a:defRPr>
      </a:lvl1pPr>
    </p:titleStyle>
    <p:bodyStyle>
      <a:lvl1pPr marL="0" marR="0" indent="0" algn="l" defTabSz="195517" rtl="0" eaLnBrk="1" fontAlgn="auto" latinLnBrk="0" hangingPunct="1">
        <a:lnSpc>
          <a:spcPct val="95000"/>
        </a:lnSpc>
        <a:spcBef>
          <a:spcPts val="127"/>
        </a:spcBef>
        <a:spcAft>
          <a:spcPts val="0"/>
        </a:spcAft>
        <a:buClrTx/>
        <a:buSzTx/>
        <a:buFont typeface="System Font Regular"/>
        <a:buNone/>
        <a:tabLst/>
        <a:defRPr sz="821" b="0" i="0" kern="1200">
          <a:solidFill>
            <a:schemeClr val="tx1"/>
          </a:solidFill>
          <a:latin typeface="Oracle Sans" panose="020B0503020204020204" pitchFamily="34" charset="0"/>
          <a:ea typeface="+mn-ea"/>
          <a:cs typeface="Oracle Sans" panose="020B0503020204020204" pitchFamily="34" charset="0"/>
        </a:defRPr>
      </a:lvl1pPr>
      <a:lvl2pPr marL="78206" marR="0" indent="-39104" algn="l" defTabSz="195517" rtl="0" eaLnBrk="1" fontAlgn="auto" latinLnBrk="0" hangingPunct="1">
        <a:lnSpc>
          <a:spcPct val="95000"/>
        </a:lnSpc>
        <a:spcBef>
          <a:spcPts val="127"/>
        </a:spcBef>
        <a:spcAft>
          <a:spcPts val="0"/>
        </a:spcAft>
        <a:buClrTx/>
        <a:buSzPct val="100000"/>
        <a:buFont typeface="Arial" panose="020B0604020202020204" pitchFamily="34" charset="0"/>
        <a:buChar char="•"/>
        <a:tabLst/>
        <a:defRPr sz="821" b="0" i="0" kern="1200">
          <a:solidFill>
            <a:schemeClr val="tx1"/>
          </a:solidFill>
          <a:latin typeface="Oracle Sans" panose="020B0503020204020204" pitchFamily="34" charset="0"/>
          <a:ea typeface="+mn-ea"/>
          <a:cs typeface="Oracle Sans" panose="020B0503020204020204" pitchFamily="34" charset="0"/>
        </a:defRPr>
      </a:lvl2pPr>
      <a:lvl3pPr marL="156413" marR="0" indent="-39104" algn="l" defTabSz="195517" rtl="0" eaLnBrk="1" fontAlgn="auto" latinLnBrk="0" hangingPunct="1">
        <a:lnSpc>
          <a:spcPct val="95000"/>
        </a:lnSpc>
        <a:spcBef>
          <a:spcPts val="86"/>
        </a:spcBef>
        <a:spcAft>
          <a:spcPts val="0"/>
        </a:spcAft>
        <a:buClrTx/>
        <a:buSzPct val="120000"/>
        <a:buFont typeface="System Font Regular"/>
        <a:buChar char="-"/>
        <a:tabLst/>
        <a:defRPr sz="821" kern="1200">
          <a:solidFill>
            <a:schemeClr val="tx1"/>
          </a:solidFill>
          <a:latin typeface="Oracle Sans" panose="020B0503020204020204" pitchFamily="34" charset="0"/>
          <a:ea typeface="+mn-ea"/>
          <a:cs typeface="Oracle Sans" panose="020B0503020204020204" pitchFamily="34" charset="0"/>
        </a:defRPr>
      </a:lvl3pPr>
      <a:lvl4pPr marL="234621" marR="0" indent="-39104" algn="l" defTabSz="195517" rtl="0" eaLnBrk="1" fontAlgn="auto" latinLnBrk="0" hangingPunct="1">
        <a:lnSpc>
          <a:spcPct val="95000"/>
        </a:lnSpc>
        <a:spcBef>
          <a:spcPts val="86"/>
        </a:spcBef>
        <a:spcAft>
          <a:spcPts val="0"/>
        </a:spcAft>
        <a:buClrTx/>
        <a:buSzPct val="100000"/>
        <a:buFont typeface="System Font Regular"/>
        <a:buChar char="◦"/>
        <a:tabLst/>
        <a:defRPr sz="720" kern="1200">
          <a:solidFill>
            <a:schemeClr val="tx1"/>
          </a:solidFill>
          <a:latin typeface="Oracle Sans" panose="020B0503020204020204" pitchFamily="34" charset="0"/>
          <a:ea typeface="+mn-ea"/>
          <a:cs typeface="Oracle Sans" panose="020B0503020204020204" pitchFamily="34" charset="0"/>
        </a:defRPr>
      </a:lvl4pPr>
      <a:lvl5pPr marL="312828" marR="0" indent="-39104" algn="l" defTabSz="195517" rtl="0" eaLnBrk="1" fontAlgn="auto" latinLnBrk="0" hangingPunct="1">
        <a:lnSpc>
          <a:spcPct val="95000"/>
        </a:lnSpc>
        <a:spcBef>
          <a:spcPts val="86"/>
        </a:spcBef>
        <a:spcAft>
          <a:spcPts val="0"/>
        </a:spcAft>
        <a:buClrTx/>
        <a:buSzTx/>
        <a:buFont typeface="System Font Regular"/>
        <a:buChar char="•"/>
        <a:tabLst/>
        <a:defRPr sz="615" kern="1200">
          <a:solidFill>
            <a:schemeClr val="tx1"/>
          </a:solidFill>
          <a:latin typeface="Oracle Sans" panose="020B0503020204020204" pitchFamily="34" charset="0"/>
          <a:ea typeface="+mn-ea"/>
          <a:cs typeface="Oracle Sans" panose="020B0503020204020204" pitchFamily="34" charset="0"/>
        </a:defRPr>
      </a:lvl5pPr>
      <a:lvl6pPr marL="391034" indent="-39104" algn="l" defTabSz="195517" rtl="0" eaLnBrk="1" latinLnBrk="0" hangingPunct="1">
        <a:lnSpc>
          <a:spcPct val="95000"/>
        </a:lnSpc>
        <a:spcBef>
          <a:spcPts val="86"/>
        </a:spcBef>
        <a:spcAft>
          <a:spcPts val="0"/>
        </a:spcAft>
        <a:buSzPct val="120000"/>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6pPr>
      <a:lvl7pPr marL="469242" indent="-39104" algn="l" defTabSz="195517" rtl="0" eaLnBrk="1" latinLnBrk="0" hangingPunct="1">
        <a:lnSpc>
          <a:spcPct val="95000"/>
        </a:lnSpc>
        <a:spcBef>
          <a:spcPts val="86"/>
        </a:spcBef>
        <a:spcAft>
          <a:spcPts val="0"/>
        </a:spcAft>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7pPr>
      <a:lvl8pPr marL="733189"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8pPr>
      <a:lvl9pPr marL="830950"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9pPr>
    </p:bodyStyle>
    <p:otherStyle>
      <a:defPPr>
        <a:defRPr lang="en-US"/>
      </a:defPPr>
      <a:lvl1pPr marL="0" algn="l" defTabSz="195517" rtl="0" eaLnBrk="1" latinLnBrk="0" hangingPunct="1">
        <a:defRPr sz="386" kern="1200">
          <a:solidFill>
            <a:schemeClr val="tx1"/>
          </a:solidFill>
          <a:latin typeface="+mn-lt"/>
          <a:ea typeface="+mn-ea"/>
          <a:cs typeface="+mn-cs"/>
        </a:defRPr>
      </a:lvl1pPr>
      <a:lvl2pPr marL="97760" algn="l" defTabSz="195517" rtl="0" eaLnBrk="1" latinLnBrk="0" hangingPunct="1">
        <a:defRPr sz="386" kern="1200">
          <a:solidFill>
            <a:schemeClr val="tx1"/>
          </a:solidFill>
          <a:latin typeface="+mn-lt"/>
          <a:ea typeface="+mn-ea"/>
          <a:cs typeface="+mn-cs"/>
        </a:defRPr>
      </a:lvl2pPr>
      <a:lvl3pPr marL="195517" algn="l" defTabSz="195517" rtl="0" eaLnBrk="1" latinLnBrk="0" hangingPunct="1">
        <a:defRPr sz="386" kern="1200">
          <a:solidFill>
            <a:schemeClr val="tx1"/>
          </a:solidFill>
          <a:latin typeface="+mn-lt"/>
          <a:ea typeface="+mn-ea"/>
          <a:cs typeface="+mn-cs"/>
        </a:defRPr>
      </a:lvl3pPr>
      <a:lvl4pPr marL="293276" algn="l" defTabSz="195517" rtl="0" eaLnBrk="1" latinLnBrk="0" hangingPunct="1">
        <a:defRPr sz="386" kern="1200">
          <a:solidFill>
            <a:schemeClr val="tx1"/>
          </a:solidFill>
          <a:latin typeface="+mn-lt"/>
          <a:ea typeface="+mn-ea"/>
          <a:cs typeface="+mn-cs"/>
        </a:defRPr>
      </a:lvl4pPr>
      <a:lvl5pPr marL="391034" algn="l" defTabSz="195517" rtl="0" eaLnBrk="1" latinLnBrk="0" hangingPunct="1">
        <a:defRPr sz="386" kern="1200">
          <a:solidFill>
            <a:schemeClr val="tx1"/>
          </a:solidFill>
          <a:latin typeface="+mn-lt"/>
          <a:ea typeface="+mn-ea"/>
          <a:cs typeface="+mn-cs"/>
        </a:defRPr>
      </a:lvl5pPr>
      <a:lvl6pPr marL="488794" algn="l" defTabSz="195517" rtl="0" eaLnBrk="1" latinLnBrk="0" hangingPunct="1">
        <a:defRPr sz="386" kern="1200">
          <a:solidFill>
            <a:schemeClr val="tx1"/>
          </a:solidFill>
          <a:latin typeface="+mn-lt"/>
          <a:ea typeface="+mn-ea"/>
          <a:cs typeface="+mn-cs"/>
        </a:defRPr>
      </a:lvl6pPr>
      <a:lvl7pPr marL="586551" algn="l" defTabSz="195517" rtl="0" eaLnBrk="1" latinLnBrk="0" hangingPunct="1">
        <a:defRPr sz="386" kern="1200">
          <a:solidFill>
            <a:schemeClr val="tx1"/>
          </a:solidFill>
          <a:latin typeface="+mn-lt"/>
          <a:ea typeface="+mn-ea"/>
          <a:cs typeface="+mn-cs"/>
        </a:defRPr>
      </a:lvl7pPr>
      <a:lvl8pPr marL="684312" algn="l" defTabSz="195517" rtl="0" eaLnBrk="1" latinLnBrk="0" hangingPunct="1">
        <a:defRPr sz="386" kern="1200">
          <a:solidFill>
            <a:schemeClr val="tx1"/>
          </a:solidFill>
          <a:latin typeface="+mn-lt"/>
          <a:ea typeface="+mn-ea"/>
          <a:cs typeface="+mn-cs"/>
        </a:defRPr>
      </a:lvl8pPr>
      <a:lvl9pPr marL="782070" algn="l" defTabSz="195517" rtl="0" eaLnBrk="1" latinLnBrk="0" hangingPunct="1">
        <a:defRPr sz="38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0">
          <p15:clr>
            <a:srgbClr val="F26B43"/>
          </p15:clr>
        </p15:guide>
        <p15:guide id="2" orient="horz" pos="6192">
          <p15:clr>
            <a:srgbClr val="F26B43"/>
          </p15:clr>
        </p15:guide>
        <p15:guide id="3" pos="4776">
          <p15:clr>
            <a:srgbClr val="F26B43"/>
          </p15:clr>
        </p15:guide>
        <p15:guide id="4" orient="horz" pos="1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mysites.oracle.com/cvc-global/" TargetMode="External"/><Relationship Id="rId4" Type="http://schemas.openxmlformats.org/officeDocument/2006/relationships/hyperlink" Target="https://oradocs-prodapp.cec.ocp.oraclecloud.com/documents/link/LDCC9DE792D6004DAD456BD977D95D9E3232DD4D0809/fileview/D03EB05CA79A7B4EB2C5ADFA783F488ACA8DD28E0700/_Designing_the_Interaction_Capture_Process_Manual_Lite_v1.0_(Lite_Beta).pdf" TargetMode="External"/><Relationship Id="rId5" Type="http://schemas.openxmlformats.org/officeDocument/2006/relationships/hyperlink" Target="https://mysites.oracle.com/license-compliance/" TargetMode="External"/><Relationship Id="rId6" Type="http://schemas.openxmlformats.org/officeDocument/2006/relationships/hyperlink" Target="https://mysites.oracle.com/SIA-Companywid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mysites.oracle.com/license-compliance/" TargetMode="External"/><Relationship Id="rId4" Type="http://schemas.openxmlformats.org/officeDocument/2006/relationships/hyperlink" Target="https://mysites.oracle.com/SIA-Companywide/" TargetMode="External"/><Relationship Id="rId5" Type="http://schemas.openxmlformats.org/officeDocument/2006/relationships/customXml" Target="../ink/ink1.xml"/><Relationship Id="rId6" Type="http://schemas.openxmlformats.org/officeDocument/2006/relationships/image" Target="../media/image5.png"/><Relationship Id="rId7" Type="http://schemas.openxmlformats.org/officeDocument/2006/relationships/customXml" Target="../ink/ink2.xml"/><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14CCB44F-7E3E-2F3E-1EF4-1BEC0ECB3A5C}"/>
              </a:ext>
            </a:extLst>
          </p:cNvPr>
          <p:cNvSpPr txBox="1"/>
          <p:nvPr/>
        </p:nvSpPr>
        <p:spPr>
          <a:xfrm>
            <a:off x="268925" y="959370"/>
            <a:ext cx="7255571" cy="6668492"/>
          </a:xfrm>
          <a:prstGeom prst="rect">
            <a:avLst/>
          </a:prstGeom>
          <a:noFill/>
        </p:spPr>
        <p:txBody>
          <a:bodyPr wrap="square" rtlCol="0">
            <a:spAutoFit/>
          </a:bodyPr>
          <a:lstStyle/>
          <a:p>
            <a:r>
              <a:rPr lang="en-US" sz="1400" i="1" dirty="0">
                <a:cs typeface="Oracle Sans" panose="020B0503020204020204" pitchFamily="34" charset="0"/>
              </a:rPr>
              <a:t>Best Practices</a:t>
            </a:r>
          </a:p>
          <a:p>
            <a:endParaRPr lang="en-US" sz="1000" dirty="0">
              <a:cs typeface="Oracle Sans" panose="020B0503020204020204" pitchFamily="34" charset="0"/>
            </a:endParaRPr>
          </a:p>
          <a:p>
            <a:r>
              <a:rPr lang="en-US" sz="1000" dirty="0">
                <a:cs typeface="Oracle Sans" panose="020B0503020204020204" pitchFamily="34" charset="0"/>
              </a:rPr>
              <a:t>The Executive Briefing Document (EBD) is required to qualify a meeting request both by the Oracle executive management teams and the </a:t>
            </a:r>
            <a:r>
              <a:rPr lang="en-US" sz="1000" dirty="0">
                <a:cs typeface="Oracle Sans" panose="020B0503020204020204" pitchFamily="34" charset="0"/>
                <a:hlinkClick r:id="rId3"/>
              </a:rPr>
              <a:t>Executive Briefing Center</a:t>
            </a:r>
            <a:r>
              <a:rPr lang="en-US" sz="1000" dirty="0">
                <a:cs typeface="Oracle Sans" panose="020B0503020204020204" pitchFamily="34" charset="0"/>
              </a:rPr>
              <a:t> (EBC). This document provides pertinent and valuable insights detailing meeting objectives and desired outcomes, current business condition, and strategy, along with any challenges. Providing complete and accurate information will create an effective and targeted meeting, fully addressing the customer’s meeting objectives.</a:t>
            </a:r>
            <a:endParaRPr lang="en-US" sz="1000" dirty="0"/>
          </a:p>
          <a:p>
            <a:endParaRPr lang="en-US" sz="1000" dirty="0"/>
          </a:p>
          <a:p>
            <a:r>
              <a:rPr lang="en-US" sz="1000" b="1" dirty="0"/>
              <a:t>Best practices prior to, during, and post-EBD submission:</a:t>
            </a:r>
          </a:p>
          <a:p>
            <a:pPr marL="171450" indent="-171450">
              <a:buFont typeface="Arial" panose="020B0604020202020204" pitchFamily="34" charset="0"/>
              <a:buChar char="•"/>
            </a:pPr>
            <a:r>
              <a:rPr lang="en-US" sz="1000" dirty="0"/>
              <a:t>Delete this page prior to submitting</a:t>
            </a:r>
          </a:p>
          <a:p>
            <a:pPr marL="171450" indent="-171450">
              <a:buFont typeface="Arial" panose="020B0604020202020204" pitchFamily="34" charset="0"/>
              <a:buChar char="•"/>
            </a:pPr>
            <a:r>
              <a:rPr lang="en-US" sz="1000" dirty="0"/>
              <a:t>Please submit this completed document with your engagement request; this document is required for all executive engagements</a:t>
            </a:r>
          </a:p>
          <a:p>
            <a:pPr marL="171450" indent="-171450">
              <a:buFont typeface="Arial" panose="020B0604020202020204" pitchFamily="34" charset="0"/>
              <a:buChar char="•"/>
            </a:pPr>
            <a:r>
              <a:rPr lang="en-US" sz="1000" dirty="0"/>
              <a:t>Be sure to get the client’s perspective on their objectives for the engagement and their key talking points for discussion </a:t>
            </a:r>
          </a:p>
          <a:p>
            <a:pPr marL="171450" lvl="0" indent="-171450">
              <a:buSzPts val="900"/>
              <a:buFont typeface="Arial" panose="020B0604020202020204" pitchFamily="34" charset="0"/>
              <a:buChar char="•"/>
            </a:pPr>
            <a:r>
              <a:rPr lang="en-GB" sz="1000" dirty="0"/>
              <a:t>Host a 30-minute briefing call for the Oracle participants who will be attending the client engagement</a:t>
            </a:r>
          </a:p>
          <a:p>
            <a:pPr marL="171450" lvl="0" indent="-171450">
              <a:buSzPts val="900"/>
              <a:buFont typeface="Arial" panose="020B0604020202020204" pitchFamily="34" charset="0"/>
              <a:buChar char="•"/>
            </a:pPr>
            <a:r>
              <a:rPr lang="en-GB" sz="1000" dirty="0"/>
              <a:t>If Oracle is hosting the virtual meeting, please review the “Zoom checklist” below</a:t>
            </a:r>
          </a:p>
          <a:p>
            <a:pPr marL="171450" lvl="0" indent="-171450">
              <a:buSzPts val="900"/>
              <a:buFont typeface="Arial" panose="020B0604020202020204" pitchFamily="34" charset="0"/>
              <a:buChar char="•"/>
            </a:pPr>
            <a:r>
              <a:rPr lang="en-GB" sz="1000" dirty="0"/>
              <a:t>After the engagement, host a 15-minute call for Oracle participants and executive(s) to reflect on the engagement and the agreed-upon actions </a:t>
            </a:r>
          </a:p>
          <a:p>
            <a:pPr marL="171450" lvl="0" indent="-171450">
              <a:buSzPts val="900"/>
              <a:buFont typeface="Arial" panose="020B0604020202020204" pitchFamily="34" charset="0"/>
              <a:buChar char="•"/>
            </a:pPr>
            <a:r>
              <a:rPr lang="en-GB" sz="1000" dirty="0"/>
              <a:t>Follow up with your client with a thank you email recapping takeaways and next steps; deliver on the agreed upon actions</a:t>
            </a:r>
          </a:p>
          <a:p>
            <a:pPr lvl="0">
              <a:buSzPts val="900"/>
            </a:pPr>
            <a:endParaRPr lang="en-GB" sz="1000" dirty="0">
              <a:solidFill>
                <a:srgbClr val="312D2A"/>
              </a:solidFill>
              <a:latin typeface="Oracle Sans" panose="020B0503020204020204" pitchFamily="34" charset="0"/>
              <a:ea typeface="Times New Roman" panose="02020603050405020304" pitchFamily="18" charset="0"/>
              <a:cs typeface="Oracle Sans" panose="020B0503020204020204" pitchFamily="34" charset="0"/>
            </a:endParaRPr>
          </a:p>
          <a:p>
            <a:pPr marL="171450" lvl="0" indent="-171450">
              <a:spcAft>
                <a:spcPts val="400"/>
              </a:spcAft>
              <a:buSzPts val="900"/>
              <a:buFont typeface="Arial" panose="020B0604020202020204" pitchFamily="34" charset="0"/>
              <a:buChar char="•"/>
            </a:pP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Use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hlinkClick r:id="rId4"/>
              </a:rPr>
              <a:t>Designing the Interaction</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 </a:t>
            </a: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self-paced guide to support you in completing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EBD</a:t>
            </a:r>
            <a:endParaRPr lang="en-GB" sz="1000" dirty="0">
              <a:effectLst/>
              <a:latin typeface="Oracle Sans" panose="020B0503020204020204" pitchFamily="34" charset="0"/>
              <a:ea typeface="Times New Roman" panose="02020603050405020304" pitchFamily="18" charset="0"/>
              <a:cs typeface="Oracle Sans" panose="020B0503020204020204" pitchFamily="34" charset="0"/>
            </a:endParaRPr>
          </a:p>
          <a:p>
            <a:pPr>
              <a:spcBef>
                <a:spcPts val="1200"/>
              </a:spcBef>
            </a:pPr>
            <a:r>
              <a:rPr lang="en-GB" sz="1000" b="1" kern="0" dirty="0">
                <a:effectLst/>
                <a:latin typeface="Oracle Sans" panose="020B0503020204020204" pitchFamily="34" charset="0"/>
                <a:cs typeface="Oracle Sans" panose="020B0503020204020204" pitchFamily="34" charset="0"/>
              </a:rPr>
              <a:t>Zoom checklist: </a:t>
            </a:r>
          </a:p>
          <a:p>
            <a:pPr marL="171450" lvl="0" indent="-171450">
              <a:buFont typeface="Arial" panose="020B0604020202020204" pitchFamily="34" charset="0"/>
              <a:buChar char="•"/>
            </a:pPr>
            <a:r>
              <a:rPr lang="en-GB" sz="1000" dirty="0"/>
              <a:t>Share agenda with assigned speakers</a:t>
            </a:r>
          </a:p>
          <a:p>
            <a:pPr marL="171450" lvl="0" indent="-171450">
              <a:buFont typeface="Arial" panose="020B0604020202020204" pitchFamily="34" charset="0"/>
              <a:buChar char="•"/>
            </a:pPr>
            <a:r>
              <a:rPr lang="en-GB" sz="1000" dirty="0"/>
              <a:t>Nominate a backup meeting facilitator</a:t>
            </a:r>
          </a:p>
          <a:p>
            <a:pPr marL="171450" lvl="0" indent="-171450">
              <a:buFont typeface="Arial" panose="020B0604020202020204" pitchFamily="34" charset="0"/>
              <a:buChar char="•"/>
            </a:pPr>
            <a:r>
              <a:rPr lang="en-GB" sz="1000" dirty="0"/>
              <a:t>Share slides in advance with backup facilitator</a:t>
            </a:r>
          </a:p>
          <a:p>
            <a:pPr marL="171450" lvl="0" indent="-171450">
              <a:buFont typeface="Arial" panose="020B0604020202020204" pitchFamily="34" charset="0"/>
              <a:buChar char="•"/>
            </a:pPr>
            <a:r>
              <a:rPr lang="en-GB" sz="1000" dirty="0"/>
              <a:t>Share slides in advance or pre-read with customer, if appropriate</a:t>
            </a:r>
          </a:p>
          <a:p>
            <a:pPr marL="171450" lvl="0" indent="-171450">
              <a:buFont typeface="Arial" panose="020B0604020202020204" pitchFamily="34" charset="0"/>
              <a:buChar char="•"/>
            </a:pPr>
            <a:r>
              <a:rPr lang="en-GB" sz="1000" dirty="0"/>
              <a:t>Enable “Waiting Room” functionality</a:t>
            </a:r>
          </a:p>
          <a:p>
            <a:pPr marL="171450" lvl="0" indent="-171450">
              <a:buFont typeface="Arial" panose="020B0604020202020204" pitchFamily="34" charset="0"/>
              <a:buChar char="•"/>
            </a:pPr>
            <a:r>
              <a:rPr lang="en-GB" sz="1000" dirty="0"/>
              <a:t>Have Zoom application available on your mobile device, as a backup</a:t>
            </a:r>
          </a:p>
          <a:p>
            <a:pPr marL="7938"/>
            <a:endParaRPr lang="en-US" sz="1000" dirty="0"/>
          </a:p>
          <a:p>
            <a:pPr marL="0" indent="0">
              <a:buFont typeface="Arial" panose="020B0604020202020204" pitchFamily="34" charset="0"/>
              <a:buNone/>
            </a:pPr>
            <a:r>
              <a:rPr lang="en-US" sz="1000" b="1" dirty="0"/>
              <a:t>Instructions and tips for template use:</a:t>
            </a:r>
          </a:p>
          <a:p>
            <a:pPr marL="171450" indent="-171450">
              <a:buFont typeface="Arial" panose="020B0604020202020204" pitchFamily="34" charset="0"/>
              <a:buChar char="•"/>
            </a:pPr>
            <a:r>
              <a:rPr lang="en-US" sz="1000" dirty="0"/>
              <a:t>To insert the logo for the company, pick the logo shape that best fits their logo (delete the one that does not) and then right click on the image, select “change picture,” then select “from a file,” and choose the customer’s logo that you have saved on your computer</a:t>
            </a:r>
          </a:p>
          <a:p>
            <a:pPr marL="171450" indent="-171450">
              <a:buFont typeface="Arial" panose="020B0604020202020204" pitchFamily="34" charset="0"/>
              <a:buChar char="•"/>
            </a:pPr>
            <a:r>
              <a:rPr lang="en-US" sz="1000" dirty="0"/>
              <a:t>Replace customer images with photos of the customer attendees who will be in the meeting; follow the same process as above, right clicking on the image, clicking “change picture,” and selecting from a file on your computer</a:t>
            </a:r>
          </a:p>
          <a:p>
            <a:pPr marL="171450" indent="-171450">
              <a:buFont typeface="Arial" panose="020B0604020202020204" pitchFamily="34" charset="0"/>
              <a:buChar char="•"/>
            </a:pPr>
            <a:r>
              <a:rPr lang="en-US" sz="1000" dirty="0"/>
              <a:t>When pasting in text, right click on the field that you would like to paste the text into; choose “keep text only” to keep the formatting of the table</a:t>
            </a:r>
          </a:p>
          <a:p>
            <a:pPr marL="171450" indent="-171450">
              <a:buFont typeface="Arial" panose="020B0604020202020204" pitchFamily="34" charset="0"/>
              <a:buChar char="•"/>
            </a:pPr>
            <a:r>
              <a:rPr lang="en-US" sz="1000" dirty="0"/>
              <a:t>Ensure Oracle Sans font is used throughout the document</a:t>
            </a:r>
          </a:p>
          <a:p>
            <a:endParaRPr lang="en-US" sz="1000" dirty="0"/>
          </a:p>
          <a:p>
            <a:r>
              <a:rPr lang="en-US" sz="1000" b="1" dirty="0"/>
              <a:t>Additional information:</a:t>
            </a:r>
          </a:p>
          <a:p>
            <a:pPr marL="171450" indent="-171450">
              <a:buFont typeface="Arial" panose="020B0604020202020204" pitchFamily="34" charset="0"/>
              <a:buChar char="•"/>
            </a:pPr>
            <a:r>
              <a:rPr lang="en-US" sz="1000" dirty="0"/>
              <a:t>License Management Services (LMS) Homepage: </a:t>
            </a:r>
            <a:r>
              <a:rPr lang="en-US" sz="1000" dirty="0">
                <a:hlinkClick r:id="rId5"/>
              </a:rPr>
              <a:t>https://mysites.oracle.com/license-compliance/</a:t>
            </a:r>
            <a:endParaRPr lang="en-US" sz="1000" dirty="0"/>
          </a:p>
          <a:p>
            <a:pPr marL="171450" indent="-171450">
              <a:buFont typeface="Arial" panose="020B0604020202020204" pitchFamily="34" charset="0"/>
              <a:buChar char="•"/>
            </a:pPr>
            <a:r>
              <a:rPr lang="en-US" sz="1000" dirty="0"/>
              <a:t>Software Investment Advisor (SIA) Homepage: </a:t>
            </a:r>
            <a:r>
              <a:rPr lang="en-US" sz="1000" dirty="0">
                <a:hlinkClick r:id="rId6"/>
              </a:rPr>
              <a:t>https://mysites.oracle.com/SIA-Companywide/</a:t>
            </a:r>
            <a:r>
              <a:rPr lang="en-US" sz="1000" dirty="0"/>
              <a:t> </a:t>
            </a:r>
          </a:p>
        </p:txBody>
      </p:sp>
    </p:spTree>
    <p:extLst>
      <p:ext uri="{BB962C8B-B14F-4D97-AF65-F5344CB8AC3E}">
        <p14:creationId xmlns:p14="http://schemas.microsoft.com/office/powerpoint/2010/main" val="19288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a:extLst>
              <a:ext uri="{FF2B5EF4-FFF2-40B4-BE49-F238E27FC236}">
                <a16:creationId xmlns:a16="http://schemas.microsoft.com/office/drawing/2014/main" id="{BC585F01-6A6E-82E2-6550-17314EBCD64A}"/>
              </a:ext>
            </a:extLst>
          </p:cNvPr>
          <p:cNvGraphicFramePr>
            <a:graphicFrameLocks noGrp="1"/>
          </p:cNvGraphicFramePr>
          <p:nvPr>
            <p:extLst>
              <p:ext uri="{D42A27DB-BD31-4B8C-83A1-F6EECF244321}">
                <p14:modId xmlns:p14="http://schemas.microsoft.com/office/powerpoint/2010/main" val="2126370258"/>
              </p:ext>
            </p:extLst>
          </p:nvPr>
        </p:nvGraphicFramePr>
        <p:xfrm>
          <a:off x="111653" y="814360"/>
          <a:ext cx="7549094" cy="8429680"/>
        </p:xfrm>
        <a:graphic>
          <a:graphicData uri="http://schemas.openxmlformats.org/drawingml/2006/table">
            <a:tbl>
              <a:tblPr firstRow="1" bandRow="1">
                <a:tableStyleId>{2D5ABB26-0587-4C30-8999-92F81FD0307C}</a:tableStyleId>
              </a:tblPr>
              <a:tblGrid>
                <a:gridCol w="1774091">
                  <a:extLst>
                    <a:ext uri="{9D8B030D-6E8A-4147-A177-3AD203B41FA5}">
                      <a16:colId xmlns:a16="http://schemas.microsoft.com/office/drawing/2014/main" val="291925485"/>
                    </a:ext>
                  </a:extLst>
                </a:gridCol>
                <a:gridCol w="923942">
                  <a:extLst>
                    <a:ext uri="{9D8B030D-6E8A-4147-A177-3AD203B41FA5}">
                      <a16:colId xmlns:a16="http://schemas.microsoft.com/office/drawing/2014/main" val="4243254253"/>
                    </a:ext>
                  </a:extLst>
                </a:gridCol>
                <a:gridCol w="1957667">
                  <a:extLst>
                    <a:ext uri="{9D8B030D-6E8A-4147-A177-3AD203B41FA5}">
                      <a16:colId xmlns:a16="http://schemas.microsoft.com/office/drawing/2014/main" val="869386441"/>
                    </a:ext>
                  </a:extLst>
                </a:gridCol>
                <a:gridCol w="2893394">
                  <a:extLst>
                    <a:ext uri="{9D8B030D-6E8A-4147-A177-3AD203B41FA5}">
                      <a16:colId xmlns:a16="http://schemas.microsoft.com/office/drawing/2014/main" val="3713650747"/>
                    </a:ext>
                  </a:extLst>
                </a:gridCol>
              </a:tblGrid>
              <a:tr h="859369">
                <a:tc gridSpan="2">
                  <a:txBody>
                    <a:bodyPr/>
                    <a:lstStyle/>
                    <a:p>
                      <a:r>
                        <a:t>Amazon</a:t>
                      </a:r>
                    </a:p>
                  </a:txBody>
                  <a:tcPr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t>Retail</a:t>
                      </a:r>
                    </a:p>
                  </a:txBody>
                  <a:tcPr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86691244"/>
                  </a:ext>
                </a:extLst>
              </a:tr>
              <a:tr h="274320">
                <a:tc rowSpan="3" gridSpan="2">
                  <a:txBody>
                    <a:bodyPr/>
                    <a:lstStyle/>
                    <a:p>
                      <a:r>
                        <a:t>410 Terry Avenue North, Seattle, WA 98109</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hMerge="1">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r>
                        <a:t>Meeting Date/Time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February 10, 2026 | 10:00 AM - 5:00 PM PST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6059242"/>
                  </a:ext>
                </a:extLst>
              </a:tr>
              <a:tr h="429768">
                <a:tc gridSpan="2" vMerge="1">
                  <a:txBody>
                    <a:bodyPr/>
                    <a:lstStyle/>
                    <a:p>
                      <a:endParaRPr lang="en-US" sz="900" dirty="0">
                        <a:solidFill>
                          <a:schemeClr val="tx1"/>
                        </a:solidFill>
                        <a:latin typeface="+mn-lt"/>
                      </a:endParaRPr>
                    </a:p>
                  </a:txBody>
                  <a:tcPr marL="45720" marR="45720" marT="0" marB="0" anchor="ct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tc>
                <a:tc>
                  <a:txBody>
                    <a:bodyPr/>
                    <a:lstStyle/>
                    <a:p>
                      <a:r>
                        <a:t>Meeting Location</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Oracle Executive Briefing Center - Redwood City</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77019104"/>
                  </a:ext>
                </a:extLst>
              </a:tr>
              <a:tr h="467903">
                <a:tc gridSpan="2" vMerge="1">
                  <a:txBody>
                    <a:bodyPr/>
                    <a:lstStyle/>
                    <a:p>
                      <a:r>
                        <a:t>410 Terry Avenue North, Seattle, WA 98109</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endParaRPr lang="en-US" sz="900" dirty="0">
                        <a:solidFill>
                          <a:schemeClr val="tx1"/>
                        </a:solidFill>
                        <a:latin typeface="+mn-lt"/>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Engagement Type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1:1 Executive Briefing</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8421276"/>
                  </a:ext>
                </a:extLst>
              </a:tr>
              <a:tr h="274320">
                <a:tc rowSpan="3" gridSpan="2">
                  <a:txBody>
                    <a:bodyPr/>
                    <a:lstStyle/>
                    <a:p>
                      <a:r>
                        <a:t>www.amazon.com</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h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mn-lt"/>
                        <a:ea typeface="+mn-ea"/>
                        <a:cs typeface="Oracle Sans" panose="020B0503020204020204" pitchFamily="34" charset="0"/>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r>
                        <a:t>EBD/Meeting Point of Contact</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Sarah Mitchell, Sr. Account Executive, sarah.mitchell@oracle.com, (512) 555-1234</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6116238"/>
                  </a:ext>
                </a:extLst>
              </a:tr>
              <a:tr h="382016">
                <a:tc gridSpan="2" vMerge="1">
                  <a:txBody>
                    <a:bodyPr/>
                    <a:lstStyle/>
                    <a:p>
                      <a:endParaRPr lang="en-US" sz="900" dirty="0">
                        <a:solidFill>
                          <a:schemeClr val="tx1"/>
                        </a:solidFill>
                        <a:latin typeface="+mn-lt"/>
                      </a:endParaRPr>
                    </a:p>
                  </a:txBody>
                  <a:tcPr marL="45720" marR="4572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t>Oracle Meeting Attendees</a:t>
                      </a:r>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Thomas Reed, VP Analytics Solutions, thomas.reed@oracle.com</a:t>
                      </a:r>
                    </a:p>
                    <a:p>
                      <a:r>
                        <a:t>Sarah Kim, Sr. Director Customer Experience, sarah.kim@oracle.com</a:t>
                      </a:r>
                    </a:p>
                    <a:p>
                      <a:r>
                        <a:t>James Liu, Principal Data Architect, james.liu@oracle.com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4143921"/>
                  </a:ext>
                </a:extLst>
              </a:tr>
              <a:tr h="392744">
                <a:tc gridSpan="2" vMerge="1">
                  <a:txBody>
                    <a:bodyPr/>
                    <a:lstStyle/>
                    <a:p>
                      <a:pPr marL="0" algn="l" defTabSz="195517" rtl="0" eaLnBrk="1" latinLnBrk="0" hangingPunct="1">
                        <a:lnSpc>
                          <a:spcPct val="90000"/>
                        </a:lnSpc>
                      </a:pPr>
                      <a:endParaRPr lang="en-US" sz="900" b="0" i="0" kern="1200" dirty="0">
                        <a:solidFill>
                          <a:schemeClr val="tx1"/>
                        </a:solidFill>
                        <a:latin typeface="+mn-lt"/>
                        <a:ea typeface="+mn-ea"/>
                        <a:cs typeface="Oracle Sans" panose="020B0503020204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latin typeface="+mn-lt"/>
                      </a:endParaRPr>
                    </a:p>
                  </a:txBody>
                  <a:tcPr marL="45720" marR="45720" marT="0" marB="0" anchor="ctr">
                    <a:lnT w="12700" cap="flat" cmpd="sng" algn="ctr">
                      <a:solidFill>
                        <a:schemeClr val="tx1"/>
                      </a:solidFill>
                      <a:prstDash val="solid"/>
                      <a:round/>
                      <a:headEnd type="none" w="med" len="med"/>
                      <a:tailEnd type="none" w="med" len="med"/>
                    </a:lnT>
                  </a:tcPr>
                </a:tc>
                <a:tc>
                  <a:txBody>
                    <a:bodyPr/>
                    <a:lstStyle/>
                    <a:p>
                      <a:r>
                        <a:t>Customer Meeting Attendees</a:t>
                      </a:r>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Jennifer Martinez, VP Retail Analytics</a:t>
                      </a:r>
                    </a:p>
                    <a:p>
                      <a:r>
                        <a:t>David Kim, Director Supply Chain Technology</a:t>
                      </a:r>
                    </a:p>
                    <a:p>
                      <a:r>
                        <a:t>Patricia Lee, Head of Customer Insights</a:t>
                      </a:r>
                    </a:p>
                    <a:p>
                      <a:r>
                        <a:t>Michael Brown, Senior Data Scientist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3714262"/>
                  </a:ext>
                </a:extLst>
              </a:tr>
              <a:tr h="329455">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Company Description:</a:t>
                      </a:r>
                      <a:r>
                        <a:rPr lang="en-US" sz="900" b="0" kern="1200" dirty="0">
                          <a:solidFill>
                            <a:schemeClr val="tx1"/>
                          </a:solidFill>
                          <a:latin typeface="+mn-lt"/>
                          <a:ea typeface="+mn-ea"/>
                          <a:cs typeface="+mn-cs"/>
                        </a:rPr>
                        <a:t> </a:t>
                      </a: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dirty="0">
                        <a:solidFill>
                          <a:schemeClr val="tx1"/>
                        </a:solidFill>
                        <a:latin typeface="Oracle Sans" panose="020B0503020204020204" pitchFamily="34" charset="0"/>
                        <a:cs typeface="Oracle Sans" panose="020B0503020204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r>
                        <a:t>NovaTech Industries is a $2.8B manufacturing company specializing in precision aerospace components and industrial automation systems. Founded in 1987, they operate 12 manufacturing facilities across North America and employ 8,500 people. They are a key supplier to Boeing, Lockheed Martin, and General Electric. NovaTech is currently undergoing a digital transformation initiative to modernize their legacy ERP systems and improve supply chain visibility.</a:t>
                      </a:r>
                    </a:p>
                  </a:txBody>
                  <a:tcPr>
                    <a:lnL w="12700" cap="flat" cmpd="sng" algn="ctr">
                      <a:solidFill>
                        <a:schemeClr val="tx1"/>
                      </a:solidFill>
                      <a:prstDash val="solid"/>
                      <a:round/>
                      <a:headEnd type="none" w="med" len="med"/>
                      <a:tailEnd type="none" w="med" len="med"/>
                    </a:lnL>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extLst>
                  <a:ext uri="{0D108BD9-81ED-4DB2-BD59-A6C34878D82A}">
                    <a16:rowId xmlns:a16="http://schemas.microsoft.com/office/drawing/2014/main" val="4200647729"/>
                  </a:ext>
                </a:extLst>
              </a:tr>
              <a:tr h="662644">
                <a:tc>
                  <a:txBody>
                    <a:bodyPr/>
                    <a:lstStyle/>
                    <a:p>
                      <a:pPr algn="l"/>
                      <a:r>
                        <a:rPr lang="en-US" sz="900" b="1" kern="1200" dirty="0">
                          <a:solidFill>
                            <a:srgbClr val="2C5967"/>
                          </a:solidFill>
                          <a:latin typeface="+mn-lt"/>
                          <a:ea typeface="+mn-ea"/>
                          <a:cs typeface="+mn-cs"/>
                        </a:rPr>
                        <a:t>Meeting Objectives / </a:t>
                      </a:r>
                    </a:p>
                    <a:p>
                      <a:pPr algn="l"/>
                      <a:r>
                        <a:rPr lang="en-US" sz="900" b="1" kern="1200" dirty="0">
                          <a:solidFill>
                            <a:srgbClr val="2C5967"/>
                          </a:solidFill>
                          <a:latin typeface="+mn-lt"/>
                          <a:ea typeface="+mn-ea"/>
                          <a:cs typeface="+mn-cs"/>
                        </a:rPr>
                        <a:t>Customer Expectations</a:t>
                      </a:r>
                    </a:p>
                    <a:p>
                      <a:pPr algn="l"/>
                      <a:r>
                        <a:rPr lang="en-US" sz="700" b="0" kern="1200" dirty="0">
                          <a:solidFill>
                            <a:schemeClr val="tx1"/>
                          </a:solidFill>
                          <a:latin typeface="+mn-lt"/>
                          <a:ea typeface="+mn-ea"/>
                          <a:cs typeface="+mn-cs"/>
                        </a:rPr>
                        <a:t>(Main purpose of engagement, desired outcomes - focus on the customer perspective)</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 Understand how Oracle Cloud ERP can consolidate their 4 legacy ERP systems (SAP, JD Edwards, custom solutions) into a unified platform</a:t>
                      </a:r>
                    </a:p>
                    <a:p>
                      <a:r>
                        <a:t>2. Evaluate Oracle's manufacturing execution and supply chain planning capabilities for aerospace compliance requirements</a:t>
                      </a:r>
                    </a:p>
                    <a:p>
                      <a:r>
                        <a:t>3. Discuss AI/ML capabilities for predictive maintenance and demand forecasting</a:t>
                      </a:r>
                    </a:p>
                    <a:p>
                      <a:r>
                        <a:t>4. Review TCO comparison and implementation timeline for a phased rollout approach</a:t>
                      </a:r>
                    </a:p>
                    <a:p>
                      <a:r>
                        <a:t>5. Meet with Oracle executives to establish strategic partnership for their 5-year digital transformation roadmap</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algn="r"/>
                      <a:r>
                        <a:rPr lang="en-US" sz="900" kern="1200">
                          <a:solidFill>
                            <a:srgbClr val="67605B"/>
                          </a:solidFill>
                          <a:effectLst/>
                          <a:latin typeface="+mn-lt"/>
                          <a:ea typeface="+mn-ea"/>
                          <a:cs typeface="+mn-cs"/>
                        </a:rPr>
                        <a:t>&lt;e.g. ABC is evaluating ERP/HCM solutions as part of their transformation initiative, which has been narrowed down to Oracle and Workday. Discuss the benefits of Oracle and how ABC stands to benefit in the areas of architecture and integration, security, automation capabilities, and the cost-benefit related to reduced IT dependency.&gt;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583825254"/>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Top Business Challenges / Where Oracle Can Help</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(Customer’s challenges - how Oracle can help – both near term and long term, top 3 things to know about the customer)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 LEGACY SYSTEM FRAGMENTATION: Running 4 different ERP systems across facilities, causing data silos, reconciliation delays, and $3M+ annually in integration maintenance costs</a:t>
                      </a:r>
                    </a:p>
                    <a:p/>
                    <a:p>
                      <a:r>
                        <a:t>2. SUPPLY CHAIN VISIBILITY: Limited real-time visibility into supplier inventory and production capacity; recent chip shortage caused 6-week production delays and $12M in lost revenue</a:t>
                      </a:r>
                    </a:p>
                    <a:p/>
                    <a:p>
                      <a:r>
                        <a:t>3. COMPLIANCE &amp; TRACEABILITY: Aerospace customers (Boeing, Lockheed) requiring AS9100 compliance with full component traceability; current systems lack unified audit trail</a:t>
                      </a:r>
                    </a:p>
                    <a:p/>
                    <a:p>
                      <a:r>
                        <a:t>4. WORKFORCE CHALLENGES: 40% of senior manufacturing engineers retiring in next 5 years; need to capture institutional knowledge and automate manual processes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66672720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Customer’s Business / </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IT Strategy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(High-level CEO and IT strategy)</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CEO Vision: "Become the most digitally advanced precision manufacturer in North America by 2028"</a:t>
                      </a:r>
                    </a:p>
                    <a:p/>
                    <a:p>
                      <a:r>
                        <a:t>IT Strategy:</a:t>
                      </a:r>
                    </a:p>
                    <a:p>
                      <a:r>
                        <a:t>- Cloud-first approach for all new applications</a:t>
                      </a:r>
                    </a:p>
                    <a:p>
                      <a:r>
                        <a:t>- Consolidate to single ERP platform within 3 years</a:t>
                      </a:r>
                    </a:p>
                    <a:p>
                      <a:r>
                        <a:t>- Implement IoT sensors across all production lines for real-time monitoring</a:t>
                      </a:r>
                    </a:p>
                    <a:p>
                      <a:r>
                        <a:t>- Leverage AI for predictive maintenance (targeting 30% reduction in unplanned downtime)</a:t>
                      </a:r>
                    </a:p>
                    <a:p>
                      <a:r>
                        <a:t>- Modernize B2B integration with suppliers and customers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Identify</a:t>
                      </a:r>
                      <a:r>
                        <a:rPr lang="en-US" sz="900" baseline="0">
                          <a:solidFill>
                            <a:srgbClr val="67605B"/>
                          </a:solidFill>
                          <a:latin typeface="Oracle Sans" panose="020B0503020204020204" pitchFamily="34" charset="0"/>
                          <a:cs typeface="Oracle Sans" panose="020B0503020204020204" pitchFamily="34" charset="0"/>
                        </a:rPr>
                        <a:t> an integrated ERP/HCM solution that does not require high customization and reduces IT dependency.&gt;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26403262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 Lifecycle</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(Where we are in sales process, where customer is in their lifecycle, why they chose Oracle, what value has been realized, recent go-lives and implementations)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SALES STAGE: Evaluation / Active Opportunity ($8.5M TCV)</a:t>
                      </a:r>
                    </a:p>
                    <a:p>
                      <a:r>
                        <a:t>- Initial discovery completed Q3 2025</a:t>
                      </a:r>
                    </a:p>
                    <a:p>
                      <a:r>
                        <a:t>- RFP issued to Oracle, SAP, and Microsoft</a:t>
                      </a:r>
                    </a:p>
                    <a:p>
                      <a:r>
                        <a:t>- Technical deep-dive scheduled for February 2026</a:t>
                      </a:r>
                    </a:p>
                    <a:p>
                      <a:r>
                        <a:t>- Decision expected Q2 2026</a:t>
                      </a:r>
                    </a:p>
                    <a:p/>
                    <a:p>
                      <a:r>
                        <a:t>WHY CONSIDERING ORACLE:</a:t>
                      </a:r>
                    </a:p>
                    <a:p>
                      <a:r>
                        <a:t>- Existing Oracle Database footprint (60% of data warehouses)</a:t>
                      </a:r>
                    </a:p>
                    <a:p>
                      <a:r>
                        <a:t>- Positive experience with Oracle support</a:t>
                      </a:r>
                    </a:p>
                    <a:p>
                      <a:r>
                        <a:t>- Industry references from aerospace peers (Honeywell, Textron)</a:t>
                      </a:r>
                    </a:p>
                    <a:p/>
                    <a:p>
                      <a:r>
                        <a:t>RECENT IMPLEMENTATIONS:</a:t>
                      </a:r>
                    </a:p>
                    <a:p>
                      <a:r>
                        <a:t>- Oracle Analytics Cloud deployed in 2024 (successful)</a:t>
                      </a:r>
                    </a:p>
                    <a:p>
                      <a:r>
                        <a:t>- Oracle Autonomous Database POC completed (positive results)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dirty="0">
                          <a:solidFill>
                            <a:srgbClr val="67605B"/>
                          </a:solidFill>
                          <a:latin typeface="Oracle Sans" panose="020B0503020204020204" pitchFamily="34" charset="0"/>
                          <a:cs typeface="Oracle Sans" panose="020B0503020204020204" pitchFamily="34" charset="0"/>
                        </a:rPr>
                        <a:t>&lt;What is the overall relationship strength and customer view of Oracle?&gt;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9064669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Account Status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(Red, yellow, green health status,  customer’s feeling towards Oracle - positive, negative, or neutral, issues to highlight and potential derailers)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GREEN - Strong relationship</a:t>
                      </a:r>
                    </a:p>
                    <a:p/>
                    <a:p>
                      <a:r>
                        <a:t>POSITIVES:</a:t>
                      </a:r>
                    </a:p>
                    <a:p>
                      <a:r>
                        <a:t>- Executive sponsor (CIO James Wilson) is former Oracle customer at previous company</a:t>
                      </a:r>
                    </a:p>
                    <a:p>
                      <a:r>
                        <a:t>- CFO impressed with Oracle's financial management capabilities in demos</a:t>
                      </a:r>
                    </a:p>
                    <a:p>
                      <a:r>
                        <a:t>- IT team prefers Oracle's integration capabilities</a:t>
                      </a:r>
                    </a:p>
                    <a:p/>
                    <a:p>
                      <a:r>
                        <a:t>POTENTIAL DERAILERS:</a:t>
                      </a:r>
                    </a:p>
                    <a:p>
                      <a:r>
                        <a:t>- CEO has personal relationship with SAP executive</a:t>
                      </a:r>
                    </a:p>
                    <a:p>
                      <a:r>
                        <a:t>- Concerns about implementation timeline (want go-live within 18 months)</a:t>
                      </a:r>
                    </a:p>
                    <a:p>
                      <a:r>
                        <a:t>- Board pressure to show quick ROI</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96515455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Oracle Talking Points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(3 main talking points Oracle exec should cover)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3">
                  <a:txBody>
                    <a:bodyPr/>
                    <a:lstStyle/>
                    <a:p>
                      <a:r>
                        <a:t>1. INDUSTRY EXPERTISE: Highlight Oracle's manufacturing cloud customers in aerospace (Honeywell, Textron, Spirit AeroSystems) and our AS9100 compliance capabilities</a:t>
                      </a:r>
                    </a:p>
                    <a:p/>
                    <a:p>
                      <a:r>
                        <a:t>2. UNIFIED PLATFORM VALUE: Demonstrate how Oracle Fusion Cloud eliminates integration costs and provides single source of truth - reference $4M+ annual savings at similar-sized manufacturers</a:t>
                      </a:r>
                    </a:p>
                    <a:p/>
                    <a:p>
                      <a:r>
                        <a:t>3. AI/INNOVATION LEADERSHIP: Showcase Oracle's embedded AI capabilities for demand sensing, predictive maintenance, and supply chain optimization - differentiate from SAP's bolt-on approach</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tc>
                <a:tc hMerge="1">
                  <a:txBody>
                    <a:bodyPr/>
                    <a:lstStyle/>
                    <a:p>
                      <a:endParaRPr lang="en-US"/>
                    </a:p>
                  </a:txBody>
                  <a:tcPr/>
                </a:tc>
                <a:extLst>
                  <a:ext uri="{0D108BD9-81ED-4DB2-BD59-A6C34878D82A}">
                    <a16:rowId xmlns:a16="http://schemas.microsoft.com/office/drawing/2014/main" val="3430135698"/>
                  </a:ext>
                </a:extLst>
              </a:tr>
            </a:tbl>
          </a:graphicData>
        </a:graphic>
      </p:graphicFrame>
      <p:pic>
        <p:nvPicPr>
          <p:cNvPr id="21" name="Picture 20">
            <a:extLst>
              <a:ext uri="{FF2B5EF4-FFF2-40B4-BE49-F238E27FC236}">
                <a16:creationId xmlns:a16="http://schemas.microsoft.com/office/drawing/2014/main" id="{F1993DF2-0200-0E81-A2DC-844CC34078F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333" r="22222"/>
          <a:stretch/>
        </p:blipFill>
        <p:spPr>
          <a:xfrm>
            <a:off x="306948" y="909378"/>
            <a:ext cx="757450" cy="731520"/>
          </a:xfrm>
          <a:prstGeom prst="rect">
            <a:avLst/>
          </a:prstGeom>
        </p:spPr>
      </p:pic>
      <p:pic>
        <p:nvPicPr>
          <p:cNvPr id="22" name="Picture 21">
            <a:extLst>
              <a:ext uri="{FF2B5EF4-FFF2-40B4-BE49-F238E27FC236}">
                <a16:creationId xmlns:a16="http://schemas.microsoft.com/office/drawing/2014/main" id="{6C2806C5-B1B2-E7A3-42D8-5BE2FF39492B}"/>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333" r="22222"/>
          <a:stretch/>
        </p:blipFill>
        <p:spPr>
          <a:xfrm>
            <a:off x="1259692" y="909378"/>
            <a:ext cx="1604858" cy="731520"/>
          </a:xfrm>
          <a:prstGeom prst="rect">
            <a:avLst/>
          </a:prstGeom>
        </p:spPr>
      </p:pic>
    </p:spTree>
    <p:extLst>
      <p:ext uri="{BB962C8B-B14F-4D97-AF65-F5344CB8AC3E}">
        <p14:creationId xmlns:p14="http://schemas.microsoft.com/office/powerpoint/2010/main" val="3492236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0851D5C-0391-8C3C-CFDA-9B26DD635BBC}"/>
              </a:ext>
            </a:extLst>
          </p:cNvPr>
          <p:cNvGraphicFramePr>
            <a:graphicFrameLocks noGrp="1"/>
          </p:cNvGraphicFramePr>
          <p:nvPr>
            <p:extLst>
              <p:ext uri="{D42A27DB-BD31-4B8C-83A1-F6EECF244321}">
                <p14:modId xmlns:p14="http://schemas.microsoft.com/office/powerpoint/2010/main" val="3483581123"/>
              </p:ext>
            </p:extLst>
          </p:nvPr>
        </p:nvGraphicFramePr>
        <p:xfrm>
          <a:off x="163793" y="7185907"/>
          <a:ext cx="7315201" cy="2458197"/>
        </p:xfrm>
        <a:graphic>
          <a:graphicData uri="http://schemas.openxmlformats.org/drawingml/2006/table">
            <a:tbl>
              <a:tblPr firstRow="1" bandRow="1">
                <a:tableStyleId>{2D5ABB26-0587-4C30-8999-92F81FD0307C}</a:tableStyleId>
              </a:tblPr>
              <a:tblGrid>
                <a:gridCol w="1560257">
                  <a:extLst>
                    <a:ext uri="{9D8B030D-6E8A-4147-A177-3AD203B41FA5}">
                      <a16:colId xmlns:a16="http://schemas.microsoft.com/office/drawing/2014/main" val="1823716183"/>
                    </a:ext>
                  </a:extLst>
                </a:gridCol>
                <a:gridCol w="263334">
                  <a:extLst>
                    <a:ext uri="{9D8B030D-6E8A-4147-A177-3AD203B41FA5}">
                      <a16:colId xmlns:a16="http://schemas.microsoft.com/office/drawing/2014/main" val="1711870494"/>
                    </a:ext>
                  </a:extLst>
                </a:gridCol>
                <a:gridCol w="1790672">
                  <a:extLst>
                    <a:ext uri="{9D8B030D-6E8A-4147-A177-3AD203B41FA5}">
                      <a16:colId xmlns:a16="http://schemas.microsoft.com/office/drawing/2014/main" val="3368796299"/>
                    </a:ext>
                  </a:extLst>
                </a:gridCol>
                <a:gridCol w="1857698">
                  <a:extLst>
                    <a:ext uri="{9D8B030D-6E8A-4147-A177-3AD203B41FA5}">
                      <a16:colId xmlns:a16="http://schemas.microsoft.com/office/drawing/2014/main" val="1078110989"/>
                    </a:ext>
                  </a:extLst>
                </a:gridCol>
                <a:gridCol w="1843240">
                  <a:extLst>
                    <a:ext uri="{9D8B030D-6E8A-4147-A177-3AD203B41FA5}">
                      <a16:colId xmlns:a16="http://schemas.microsoft.com/office/drawing/2014/main" val="2233156983"/>
                    </a:ext>
                  </a:extLst>
                </a:gridCol>
              </a:tblGrid>
              <a:tr h="187656">
                <a:tc gridSpan="5">
                  <a:txBody>
                    <a:bodyPr/>
                    <a:lstStyle/>
                    <a:p>
                      <a:pPr marL="0" marR="0" lvl="0" indent="0" algn="ctr" defTabSz="195517" rtl="0" eaLnBrk="1" fontAlgn="auto" latinLnBrk="0" hangingPunct="1">
                        <a:lnSpc>
                          <a:spcPct val="100000"/>
                        </a:lnSpc>
                        <a:spcBef>
                          <a:spcPts val="0"/>
                        </a:spcBef>
                        <a:spcAft>
                          <a:spcPts val="0"/>
                        </a:spcAft>
                        <a:buClrTx/>
                        <a:buSzTx/>
                        <a:buFontTx/>
                        <a:buNone/>
                        <a:tabLst/>
                        <a:defRPr/>
                      </a:pPr>
                      <a:r>
                        <a:rPr lang="en-US" sz="900" b="1" kern="1200" dirty="0">
                          <a:solidFill>
                            <a:schemeClr val="tx1"/>
                          </a:solidFill>
                          <a:latin typeface="+mn-lt"/>
                          <a:ea typeface="+mn-ea"/>
                          <a:cs typeface="+mn-cs"/>
                        </a:rPr>
                        <a:t>Most Recent Oracle Executive Engagements (within the last 24 months)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381816085"/>
                  </a:ext>
                </a:extLst>
              </a:tr>
              <a:tr h="229653">
                <a:tc gridSpan="2">
                  <a:txBody>
                    <a:bodyPr/>
                    <a:lstStyle/>
                    <a:p>
                      <a:pPr algn="ctr"/>
                      <a:r>
                        <a:rPr lang="en-US" sz="900" b="1" dirty="0">
                          <a:solidFill>
                            <a:srgbClr val="2C5967"/>
                          </a:solidFill>
                        </a:rPr>
                        <a:t>Engagement Type</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solidFill>
                            <a:srgbClr val="2C5967"/>
                          </a:solidFill>
                        </a:rPr>
                        <a:t>Engagement Date/Location</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Oracle Executive Attendee</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Customer Attendee(s)</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738558021"/>
                  </a:ext>
                </a:extLst>
              </a:tr>
              <a:tr h="189866">
                <a:tc gridSpan="2">
                  <a:txBody>
                    <a:bodyPr/>
                    <a:lstStyle/>
                    <a:p>
                      <a:r>
                        <a:t>1:1 Executive Briefing</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r>
                        <a:t>October 15, 2025 / Virtual</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Sarah Mitchell</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James Wilson, Lisa Chang</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4021392085"/>
                  </a:ext>
                </a:extLst>
              </a:tr>
              <a:tr h="184150">
                <a:tc gridSpan="2">
                  <a:txBody>
                    <a:bodyPr/>
                    <a:lstStyle/>
                    <a:p>
                      <a:r>
                        <a:t>Oracle OpenWorld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r>
                        <a:t>September 2025 / Las Vegas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Thomas Anderson, SVP</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Robert Hayes, Amanda Foster</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3030098202"/>
                  </a:ext>
                </a:extLst>
              </a:tr>
              <a:tr h="196850">
                <a:tc gridSpan="2">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1477610"/>
                  </a:ext>
                </a:extLst>
              </a:tr>
              <a:tr h="189752">
                <a:tc gridSpan="5">
                  <a:txBody>
                    <a:bodyPr/>
                    <a:lstStyle/>
                    <a:p>
                      <a:pPr algn="ctr"/>
                      <a:r>
                        <a:rPr lang="en-US" sz="900" b="1" dirty="0">
                          <a:solidFill>
                            <a:schemeClr val="tx1"/>
                          </a:solidFill>
                        </a:rPr>
                        <a:t>Account Team</a:t>
                      </a:r>
                    </a:p>
                  </a:txBody>
                  <a:tcPr marL="45720" marR="45720" marT="0"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hMerge="1">
                  <a:txBody>
                    <a:bodyPr/>
                    <a:lstStyle/>
                    <a:p>
                      <a:endParaRPr lang="en-US"/>
                    </a:p>
                  </a:txBody>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61076206"/>
                  </a:ext>
                </a:extLst>
              </a:tr>
              <a:tr h="229653">
                <a:tc>
                  <a:txBody>
                    <a:bodyPr/>
                    <a:lstStyle/>
                    <a:p>
                      <a:pPr algn="l"/>
                      <a:r>
                        <a:rPr lang="en-US" sz="900" b="1" dirty="0">
                          <a:solidFill>
                            <a:srgbClr val="2C5967"/>
                          </a:solidFill>
                        </a:rPr>
                        <a:t>SCD / LAM</a:t>
                      </a:r>
                    </a:p>
                    <a:p>
                      <a:pPr algn="l"/>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Sarah Mitchell, Sr. Account Executive, sarah.mitchell@oracle.com, (512) 555-1234</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85386381"/>
                  </a:ext>
                </a:extLst>
              </a:tr>
              <a:tr h="229653">
                <a:tc>
                  <a:txBody>
                    <a:bodyPr/>
                    <a:lstStyle/>
                    <a:p>
                      <a:pPr algn="l"/>
                      <a:r>
                        <a:rPr lang="en-US" sz="900" b="1" dirty="0">
                          <a:solidFill>
                            <a:srgbClr val="2C5967"/>
                          </a:solidFill>
                        </a:rPr>
                        <a:t>Other Account Manager(s)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Kevin O'Brien, Strategic Account Manager, kevin.obrien@oracle.com, (512) 555-5678</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885292419"/>
                  </a:ext>
                </a:extLst>
              </a:tr>
              <a:tr h="229653">
                <a:tc>
                  <a:txBody>
                    <a:bodyPr/>
                    <a:lstStyle/>
                    <a:p>
                      <a:pPr algn="l"/>
                      <a:r>
                        <a:rPr lang="en-US" sz="900" b="1" dirty="0">
                          <a:solidFill>
                            <a:srgbClr val="2C5967"/>
                          </a:solidFill>
                        </a:rPr>
                        <a:t>CSE / CSM</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Rachel Torres, Customer Success Manager, rachel.torres@oracle.com, (512) 555-9012</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extLst>
                  <a:ext uri="{0D108BD9-81ED-4DB2-BD59-A6C34878D82A}">
                    <a16:rowId xmlns:a16="http://schemas.microsoft.com/office/drawing/2014/main" val="189300571"/>
                  </a:ext>
                </a:extLst>
              </a:tr>
              <a:tr h="229653">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Executive Sponsor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r>
                        <a:t>Thomas Anderson, SVP North America Sales, thomas.anderson@oracle.com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62320209"/>
                  </a:ext>
                </a:extLst>
              </a:tr>
              <a:tr h="304910">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Implementation Partner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(Partner name and relevant info)</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r>
                        <a:t>Deloitte - Manufacturing Practice (Primary), Infosys (Secondary for integrations)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05904968"/>
                  </a:ext>
                </a:extLst>
              </a:tr>
            </a:tbl>
          </a:graphicData>
        </a:graphic>
      </p:graphicFrame>
      <p:graphicFrame>
        <p:nvGraphicFramePr>
          <p:cNvPr id="4" name="Table 3">
            <a:extLst>
              <a:ext uri="{FF2B5EF4-FFF2-40B4-BE49-F238E27FC236}">
                <a16:creationId xmlns:a16="http://schemas.microsoft.com/office/drawing/2014/main" id="{128D44B6-3897-02DF-B6AF-7FA0950E93B9}"/>
              </a:ext>
            </a:extLst>
          </p:cNvPr>
          <p:cNvGraphicFramePr>
            <a:graphicFrameLocks noGrp="1"/>
          </p:cNvGraphicFramePr>
          <p:nvPr>
            <p:extLst>
              <p:ext uri="{D42A27DB-BD31-4B8C-83A1-F6EECF244321}">
                <p14:modId xmlns:p14="http://schemas.microsoft.com/office/powerpoint/2010/main" val="992411780"/>
              </p:ext>
            </p:extLst>
          </p:nvPr>
        </p:nvGraphicFramePr>
        <p:xfrm>
          <a:off x="163793" y="5967930"/>
          <a:ext cx="7311601" cy="1012893"/>
        </p:xfrm>
        <a:graphic>
          <a:graphicData uri="http://schemas.openxmlformats.org/drawingml/2006/table">
            <a:tbl>
              <a:tblPr firstRow="1" bandRow="1">
                <a:tableStyleId>{2D5ABB26-0587-4C30-8999-92F81FD0307C}</a:tableStyleId>
              </a:tblPr>
              <a:tblGrid>
                <a:gridCol w="1218600">
                  <a:extLst>
                    <a:ext uri="{9D8B030D-6E8A-4147-A177-3AD203B41FA5}">
                      <a16:colId xmlns:a16="http://schemas.microsoft.com/office/drawing/2014/main" val="1865643287"/>
                    </a:ext>
                  </a:extLst>
                </a:gridCol>
                <a:gridCol w="1493450">
                  <a:extLst>
                    <a:ext uri="{9D8B030D-6E8A-4147-A177-3AD203B41FA5}">
                      <a16:colId xmlns:a16="http://schemas.microsoft.com/office/drawing/2014/main" val="3872007410"/>
                    </a:ext>
                  </a:extLst>
                </a:gridCol>
                <a:gridCol w="1666615">
                  <a:extLst>
                    <a:ext uri="{9D8B030D-6E8A-4147-A177-3AD203B41FA5}">
                      <a16:colId xmlns:a16="http://schemas.microsoft.com/office/drawing/2014/main" val="2966371849"/>
                    </a:ext>
                  </a:extLst>
                </a:gridCol>
                <a:gridCol w="1714336">
                  <a:extLst>
                    <a:ext uri="{9D8B030D-6E8A-4147-A177-3AD203B41FA5}">
                      <a16:colId xmlns:a16="http://schemas.microsoft.com/office/drawing/2014/main" val="1743445744"/>
                    </a:ext>
                  </a:extLst>
                </a:gridCol>
                <a:gridCol w="1218600">
                  <a:extLst>
                    <a:ext uri="{9D8B030D-6E8A-4147-A177-3AD203B41FA5}">
                      <a16:colId xmlns:a16="http://schemas.microsoft.com/office/drawing/2014/main" val="3111226398"/>
                    </a:ext>
                  </a:extLst>
                </a:gridCol>
              </a:tblGrid>
              <a:tr h="318309">
                <a:tc>
                  <a:txBody>
                    <a:bodyPr/>
                    <a:lstStyle/>
                    <a:p>
                      <a:pPr algn="ctr"/>
                      <a:r>
                        <a:rPr lang="en-US" sz="900" b="1" dirty="0">
                          <a:ln>
                            <a:noFill/>
                          </a:ln>
                        </a:rPr>
                        <a:t>Last Audit Date</a:t>
                      </a:r>
                    </a:p>
                  </a:txBody>
                  <a:tcPr marL="0" marR="0" marT="0" marB="0" anchor="ctr">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Audit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Is </a:t>
                      </a:r>
                      <a:r>
                        <a:rPr lang="en-US" sz="900" b="1" dirty="0">
                          <a:ln>
                            <a:noFill/>
                          </a:ln>
                          <a:hlinkClick r:id="rId3"/>
                        </a:rPr>
                        <a:t>LMS Legal </a:t>
                      </a:r>
                      <a:r>
                        <a:rPr lang="en-US" sz="900" b="1" dirty="0">
                          <a:ln>
                            <a:noFill/>
                          </a:ln>
                        </a:rPr>
                        <a:t>Involved?</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ln>
                            <a:noFill/>
                          </a:ln>
                          <a:solidFill>
                            <a:schemeClr val="tx1"/>
                          </a:solidFill>
                          <a:latin typeface="+mn-lt"/>
                          <a:ea typeface="+mn-ea"/>
                          <a:cs typeface="+mn-cs"/>
                        </a:rPr>
                        <a:t>ULA Certification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LMS Contact</a:t>
                      </a:r>
                    </a:p>
                  </a:txBody>
                  <a:tcPr marL="0" marR="0" marT="0" marB="0" anchor="ctr">
                    <a:lnL w="12700" cap="flat" cmpd="sng" algn="ctr">
                      <a:solidFill>
                        <a:schemeClr val="bg2"/>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839229030"/>
                  </a:ext>
                </a:extLst>
              </a:tr>
              <a:tr h="213888">
                <a:tc>
                  <a:txBody>
                    <a:bodyPr/>
                    <a:lstStyle/>
                    <a:p>
                      <a:r>
                        <a:t>March 2024</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Yes - Expires Dec 2026</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John Smith, LMS Specialist</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912910007"/>
                  </a:ext>
                </a:extLst>
              </a:tr>
              <a:tr h="240348">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ln>
                            <a:noFill/>
                          </a:ln>
                          <a:solidFill>
                            <a:schemeClr val="tx1"/>
                          </a:solidFill>
                          <a:latin typeface="+mn-lt"/>
                          <a:ea typeface="+mn-ea"/>
                          <a:cs typeface="+mn-cs"/>
                          <a:hlinkClick r:id="rId4"/>
                        </a:rPr>
                        <a:t>Software Investment Advisor</a:t>
                      </a:r>
                      <a:r>
                        <a:rPr lang="en-US" sz="900" b="1" kern="1200" dirty="0">
                          <a:ln>
                            <a:noFill/>
                          </a:ln>
                          <a:solidFill>
                            <a:schemeClr val="tx1"/>
                          </a:solidFill>
                          <a:latin typeface="+mn-lt"/>
                          <a:ea typeface="+mn-ea"/>
                          <a:cs typeface="+mn-cs"/>
                        </a:rPr>
                        <a:t> (SIA) Engaged</a:t>
                      </a:r>
                    </a:p>
                  </a:txBody>
                  <a:tcPr marT="0" marB="0" anchor="ctr">
                    <a:lnR w="12700" cap="flat" cmpd="sng" algn="ctr">
                      <a:solidFill>
                        <a:schemeClr val="bg2"/>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sz="10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sz="1000" dirty="0"/>
                    </a:p>
                  </a:txBody>
                  <a:tcPr marT="0" marB="0" anchor="ctr">
                    <a:lnL w="12700" cap="flat" cmpd="sng" algn="ctr">
                      <a:solidFill>
                        <a:schemeClr val="bg2"/>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a:txBody>
                    <a:bodyPr/>
                    <a:lstStyle/>
                    <a:p>
                      <a:pPr marL="0" algn="ctr" defTabSz="195517" rtl="0" eaLnBrk="1" latinLnBrk="0" hangingPunct="1"/>
                      <a:r>
                        <a:rPr lang="en-US" sz="900" b="1" kern="1200" dirty="0">
                          <a:ln>
                            <a:noFill/>
                          </a:ln>
                          <a:solidFill>
                            <a:schemeClr val="tx1"/>
                          </a:solidFill>
                          <a:latin typeface="+mn-lt"/>
                          <a:ea typeface="+mn-ea"/>
                          <a:cs typeface="+mn-cs"/>
                        </a:rPr>
                        <a:t>SIA Contact</a:t>
                      </a:r>
                    </a:p>
                  </a:txBody>
                  <a:tcPr marT="0" marB="0" anchor="ct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024768492"/>
                  </a:ext>
                </a:extLst>
              </a:tr>
              <a:tr h="240348">
                <a:tc gridSpan="4">
                  <a:txBody>
                    <a:bodyPr/>
                    <a:lstStyle/>
                    <a:p>
                      <a:r>
                        <a:t>Yes</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9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sz="900" dirty="0"/>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a:txBody>
                    <a:bodyPr/>
                    <a:lstStyle/>
                    <a:p>
                      <a:r>
                        <a:t>Maria Garcia, SIA Manager</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8495261"/>
                  </a:ext>
                </a:extLst>
              </a:tr>
            </a:tbl>
          </a:graphicData>
        </a:graphic>
      </p:graphicFrame>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EF274413-8361-3A83-5E67-963DD8B4A72E}"/>
                  </a:ext>
                </a:extLst>
              </p14:cNvPr>
              <p14:cNvContentPartPr/>
              <p14:nvPr/>
            </p14:nvContentPartPr>
            <p14:xfrm>
              <a:off x="283821" y="866301"/>
              <a:ext cx="360" cy="360"/>
            </p14:xfrm>
          </p:contentPart>
        </mc:Choice>
        <mc:Fallback xmlns="">
          <p:pic>
            <p:nvPicPr>
              <p:cNvPr id="5" name="Ink 4">
                <a:extLst>
                  <a:ext uri="{FF2B5EF4-FFF2-40B4-BE49-F238E27FC236}">
                    <a16:creationId xmlns:a16="http://schemas.microsoft.com/office/drawing/2014/main" id="{EF274413-8361-3A83-5E67-963DD8B4A72E}"/>
                  </a:ext>
                </a:extLst>
              </p:cNvPr>
              <p:cNvPicPr/>
              <p:nvPr/>
            </p:nvPicPr>
            <p:blipFill>
              <a:blip r:embed="rId6"/>
              <a:stretch>
                <a:fillRect/>
              </a:stretch>
            </p:blipFill>
            <p:spPr>
              <a:xfrm>
                <a:off x="279501" y="861981"/>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9941224A-9B37-D514-4413-28344FEC0053}"/>
                  </a:ext>
                </a:extLst>
              </p14:cNvPr>
              <p14:cNvContentPartPr/>
              <p14:nvPr/>
            </p14:nvContentPartPr>
            <p14:xfrm>
              <a:off x="307941" y="858381"/>
              <a:ext cx="3600" cy="360"/>
            </p14:xfrm>
          </p:contentPart>
        </mc:Choice>
        <mc:Fallback xmlns="">
          <p:pic>
            <p:nvPicPr>
              <p:cNvPr id="6" name="Ink 5">
                <a:extLst>
                  <a:ext uri="{FF2B5EF4-FFF2-40B4-BE49-F238E27FC236}">
                    <a16:creationId xmlns:a16="http://schemas.microsoft.com/office/drawing/2014/main" id="{9941224A-9B37-D514-4413-28344FEC0053}"/>
                  </a:ext>
                </a:extLst>
              </p:cNvPr>
              <p:cNvPicPr/>
              <p:nvPr/>
            </p:nvPicPr>
            <p:blipFill>
              <a:blip r:embed="rId6"/>
              <a:stretch>
                <a:fillRect/>
              </a:stretch>
            </p:blipFill>
            <p:spPr>
              <a:xfrm>
                <a:off x="303621" y="854061"/>
                <a:ext cx="12240" cy="9000"/>
              </a:xfrm>
              <a:prstGeom prst="rect">
                <a:avLst/>
              </a:prstGeom>
            </p:spPr>
          </p:pic>
        </mc:Fallback>
      </mc:AlternateContent>
      <p:graphicFrame>
        <p:nvGraphicFramePr>
          <p:cNvPr id="7" name="Table 6">
            <a:extLst>
              <a:ext uri="{FF2B5EF4-FFF2-40B4-BE49-F238E27FC236}">
                <a16:creationId xmlns:a16="http://schemas.microsoft.com/office/drawing/2014/main" id="{C4990E67-9C3E-FD00-7895-E2EFB5B3B9D2}"/>
              </a:ext>
            </a:extLst>
          </p:cNvPr>
          <p:cNvGraphicFramePr>
            <a:graphicFrameLocks noGrp="1"/>
          </p:cNvGraphicFramePr>
          <p:nvPr>
            <p:extLst>
              <p:ext uri="{D42A27DB-BD31-4B8C-83A1-F6EECF244321}">
                <p14:modId xmlns:p14="http://schemas.microsoft.com/office/powerpoint/2010/main" val="2399448383"/>
              </p:ext>
            </p:extLst>
          </p:nvPr>
        </p:nvGraphicFramePr>
        <p:xfrm>
          <a:off x="163793" y="839114"/>
          <a:ext cx="7278998" cy="4937760"/>
        </p:xfrm>
        <a:graphic>
          <a:graphicData uri="http://schemas.openxmlformats.org/drawingml/2006/table">
            <a:tbl>
              <a:tblPr firstRow="1" bandRow="1">
                <a:tableStyleId>{2D5ABB26-0587-4C30-8999-92F81FD0307C}</a:tableStyleId>
              </a:tblPr>
              <a:tblGrid>
                <a:gridCol w="1198663">
                  <a:extLst>
                    <a:ext uri="{9D8B030D-6E8A-4147-A177-3AD203B41FA5}">
                      <a16:colId xmlns:a16="http://schemas.microsoft.com/office/drawing/2014/main" val="934969453"/>
                    </a:ext>
                  </a:extLst>
                </a:gridCol>
                <a:gridCol w="1946209">
                  <a:extLst>
                    <a:ext uri="{9D8B030D-6E8A-4147-A177-3AD203B41FA5}">
                      <a16:colId xmlns:a16="http://schemas.microsoft.com/office/drawing/2014/main" val="1382363182"/>
                    </a:ext>
                  </a:extLst>
                </a:gridCol>
                <a:gridCol w="4134126">
                  <a:extLst>
                    <a:ext uri="{9D8B030D-6E8A-4147-A177-3AD203B41FA5}">
                      <a16:colId xmlns:a16="http://schemas.microsoft.com/office/drawing/2014/main" val="3769453652"/>
                    </a:ext>
                  </a:extLst>
                </a:gridCol>
              </a:tblGrid>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Robert Hayes, CEO, robert.hayes@novatech.com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Robert Hayes, CEO, robert.hayes@novatech.com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145389527"/>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Focused on shareholder value and competitive positioning. Wants to ensure NovaTech remains supplier of choice for aerospace OEMs. Concerned about transformation risk and business disruption. Has worked with SAP at previous company.</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Focused on shareholder value and competitive positioning. Wants to ensure NovaTech remains supplier of choice for aerospace OEMs. Concerned about transformation risk and business disruption. Has worked with SAP at previous company.</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93680188"/>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30+ years in manufacturing, former COO at Precision Castparts. Stanford MBA. Board member at National Association of Manufacturers.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30+ years in manufacturing, former COO at Precision Castparts. Stanford MBA. Board member at National Association of Manufacturers.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524122"/>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Amanda Foster, CFO, amanda.foster@novatech.com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Amanda Foster, CFO, amanda.foster@novatech.com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83417940"/>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Driving cost reduction and operational efficiency. Very analytical - will want detailed TCO and ROI projections. Interested in financial close automation and real-time reporting.</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Driving cost reduction and operational efficiency. Very analytical - will want detailed TCO and ROI projections. Interested in financial close automation and real-time reporting.</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1040647383"/>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Former CFO at Collins Aerospace. CPA with 20 years finance experience. Published author on manufacturing finance transformation.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Former CFO at Collins Aerospace. CPA with 20 years finance experience. Published author on manufacturing finance transformation.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414671"/>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James Wilson, CIO, james.wilson@novatech.com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James Wilson, CIO, james.wilson@novatech.com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290201">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Oracle advocate - used Oracle successfully at previous company. Main champion for this initiative. Concerned about implementation partner quality and timeline.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Oracle advocate - used Oracle successfully at previous company. Main champion for this initiative. Concerned about implementation partner quality and timeline.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201">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Former VP of IT at Rockwell Collins. 25 years in manufacturing IT. Led successful Oracle implementation at previous employer.</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Former VP of IT at Rockwell Collins. 25 years in manufacturing IT. Led successful Oracle implementation at previous employer.</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8918100"/>
                  </a:ext>
                </a:extLst>
              </a:tr>
            </a:tbl>
          </a:graphicData>
        </a:graphic>
      </p:graphicFrame>
      <p:pic>
        <p:nvPicPr>
          <p:cNvPr id="8" name="Picture 7" descr="A picture containing text&#10;&#10;Description automatically generated">
            <a:extLst>
              <a:ext uri="{FF2B5EF4-FFF2-40B4-BE49-F238E27FC236}">
                <a16:creationId xmlns:a16="http://schemas.microsoft.com/office/drawing/2014/main" id="{40F1D101-8E72-F518-2C92-B88D1D21AF82}"/>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1187424"/>
            <a:ext cx="914400" cy="914400"/>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6C788A28-2438-E116-7642-79F36D1A0789}"/>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11580" y="2845729"/>
            <a:ext cx="914400" cy="9144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1FAFDF71-F32B-762E-7E79-A1DBDC97F03A}"/>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4528440"/>
            <a:ext cx="914400" cy="914400"/>
          </a:xfrm>
          <a:prstGeom prst="rect">
            <a:avLst/>
          </a:prstGeom>
        </p:spPr>
      </p:pic>
    </p:spTree>
    <p:extLst>
      <p:ext uri="{BB962C8B-B14F-4D97-AF65-F5344CB8AC3E}">
        <p14:creationId xmlns:p14="http://schemas.microsoft.com/office/powerpoint/2010/main" val="154051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5BE8610-820A-AC5A-88D4-B97659AA2400}"/>
              </a:ext>
            </a:extLst>
          </p:cNvPr>
          <p:cNvSpPr txBox="1"/>
          <p:nvPr/>
        </p:nvSpPr>
        <p:spPr>
          <a:xfrm>
            <a:off x="165100" y="699700"/>
            <a:ext cx="5753100" cy="276999"/>
          </a:xfrm>
          <a:prstGeom prst="rect">
            <a:avLst/>
          </a:prstGeom>
          <a:noFill/>
        </p:spPr>
        <p:txBody>
          <a:bodyPr wrap="square" lIns="0" rtlCol="0">
            <a:spAutoFit/>
          </a:bodyPr>
          <a:lstStyle/>
          <a:p>
            <a:r>
              <a:rPr lang="en-US" sz="1200" b="1" dirty="0">
                <a:solidFill>
                  <a:srgbClr val="2C5967"/>
                </a:solidFill>
              </a:rPr>
              <a:t>Customer References </a:t>
            </a:r>
            <a:r>
              <a:rPr lang="en-US" sz="1200" i="1" dirty="0"/>
              <a:t>&lt;Delete / Add as needed&gt;</a:t>
            </a:r>
          </a:p>
        </p:txBody>
      </p:sp>
      <p:graphicFrame>
        <p:nvGraphicFramePr>
          <p:cNvPr id="12" name="Table 11">
            <a:extLst>
              <a:ext uri="{FF2B5EF4-FFF2-40B4-BE49-F238E27FC236}">
                <a16:creationId xmlns:a16="http://schemas.microsoft.com/office/drawing/2014/main" id="{39A809CB-3909-41C5-DD19-0FE95177DB66}"/>
              </a:ext>
            </a:extLst>
          </p:cNvPr>
          <p:cNvGraphicFramePr>
            <a:graphicFrameLocks noGrp="1"/>
          </p:cNvGraphicFramePr>
          <p:nvPr>
            <p:extLst>
              <p:ext uri="{D42A27DB-BD31-4B8C-83A1-F6EECF244321}">
                <p14:modId xmlns:p14="http://schemas.microsoft.com/office/powerpoint/2010/main" val="898793170"/>
              </p:ext>
            </p:extLst>
          </p:nvPr>
        </p:nvGraphicFramePr>
        <p:xfrm>
          <a:off x="165100" y="1028291"/>
          <a:ext cx="7391400"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4">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Honeywell Aerospace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Aerospace &amp; Defense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www.honeywell.com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Cloud ERP, Oracle SCM Cloud, Oracle Manufacturing Cloud</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Consolidated 5 legacy ERP systems to Oracle Cloud, achieving 40% reduction in close time and $15M annual savings in IT costs. Full AS9100 compliance maintained throughout transformation.</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3" name="Table 12">
            <a:extLst>
              <a:ext uri="{FF2B5EF4-FFF2-40B4-BE49-F238E27FC236}">
                <a16:creationId xmlns:a16="http://schemas.microsoft.com/office/drawing/2014/main" id="{8FE09F1B-A6F4-9A2D-14A8-E18C921A3E02}"/>
              </a:ext>
            </a:extLst>
          </p:cNvPr>
          <p:cNvGraphicFramePr>
            <a:graphicFrameLocks noGrp="1"/>
          </p:cNvGraphicFramePr>
          <p:nvPr>
            <p:extLst>
              <p:ext uri="{D42A27DB-BD31-4B8C-83A1-F6EECF244321}">
                <p14:modId xmlns:p14="http://schemas.microsoft.com/office/powerpoint/2010/main" val="1597344447"/>
              </p:ext>
            </p:extLst>
          </p:nvPr>
        </p:nvGraphicFramePr>
        <p:xfrm>
          <a:off x="165100" y="4038318"/>
          <a:ext cx="7391399" cy="2641228"/>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Spirit AeroSystems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Aerospace Manufacturing</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www.spiritaero.com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Cloud ERP, Oracle EPM Cloud</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6">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Implemented Oracle for financial planning and manufacturing operations. Achieved real-time visibility across 10 facilities and reduced inventory carrying costs by 25%.</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5" name="Table 14">
            <a:extLst>
              <a:ext uri="{FF2B5EF4-FFF2-40B4-BE49-F238E27FC236}">
                <a16:creationId xmlns:a16="http://schemas.microsoft.com/office/drawing/2014/main" id="{A61126C0-4ED0-BDDB-DA6B-2B848987F6A6}"/>
              </a:ext>
            </a:extLst>
          </p:cNvPr>
          <p:cNvGraphicFramePr>
            <a:graphicFrameLocks noGrp="1"/>
          </p:cNvGraphicFramePr>
          <p:nvPr>
            <p:extLst>
              <p:ext uri="{D42A27DB-BD31-4B8C-83A1-F6EECF244321}">
                <p14:modId xmlns:p14="http://schemas.microsoft.com/office/powerpoint/2010/main" val="2011324976"/>
              </p:ext>
            </p:extLst>
          </p:nvPr>
        </p:nvGraphicFramePr>
        <p:xfrm>
          <a:off x="165100" y="7027084"/>
          <a:ext cx="7391399"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Textron Aviation</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Aerospace Manufacturing</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www.txtav.com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Cloud ERP, Oracle IoT Cloud</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Implemented Oracle Cloud for manufacturing operations across 5 plants. Achieved 35% improvement in production planning accuracy and real-time visibility into shop floor operations.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spTree>
    <p:extLst>
      <p:ext uri="{BB962C8B-B14F-4D97-AF65-F5344CB8AC3E}">
        <p14:creationId xmlns:p14="http://schemas.microsoft.com/office/powerpoint/2010/main" val="40448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FFDD695-A70C-C68B-AE05-B2F31B58D7E6}"/>
              </a:ext>
            </a:extLst>
          </p:cNvPr>
          <p:cNvGraphicFramePr>
            <a:graphicFrameLocks noGrp="1"/>
          </p:cNvGraphicFramePr>
          <p:nvPr>
            <p:extLst>
              <p:ext uri="{D42A27DB-BD31-4B8C-83A1-F6EECF244321}">
                <p14:modId xmlns:p14="http://schemas.microsoft.com/office/powerpoint/2010/main" val="3647879473"/>
              </p:ext>
            </p:extLst>
          </p:nvPr>
        </p:nvGraphicFramePr>
        <p:xfrm>
          <a:off x="228599" y="988622"/>
          <a:ext cx="7315201" cy="5701099"/>
        </p:xfrm>
        <a:graphic>
          <a:graphicData uri="http://schemas.openxmlformats.org/drawingml/2006/table">
            <a:tbl>
              <a:tblPr firstRow="1" bandRow="1">
                <a:tableStyleId>{2D5ABB26-0587-4C30-8999-92F81FD0307C}</a:tableStyleId>
              </a:tblPr>
              <a:tblGrid>
                <a:gridCol w="862422">
                  <a:extLst>
                    <a:ext uri="{9D8B030D-6E8A-4147-A177-3AD203B41FA5}">
                      <a16:colId xmlns:a16="http://schemas.microsoft.com/office/drawing/2014/main" val="1823716183"/>
                    </a:ext>
                  </a:extLst>
                </a:gridCol>
                <a:gridCol w="222078">
                  <a:extLst>
                    <a:ext uri="{9D8B030D-6E8A-4147-A177-3AD203B41FA5}">
                      <a16:colId xmlns:a16="http://schemas.microsoft.com/office/drawing/2014/main" val="2807854026"/>
                    </a:ext>
                  </a:extLst>
                </a:gridCol>
                <a:gridCol w="1003618">
                  <a:extLst>
                    <a:ext uri="{9D8B030D-6E8A-4147-A177-3AD203B41FA5}">
                      <a16:colId xmlns:a16="http://schemas.microsoft.com/office/drawing/2014/main" val="1088514063"/>
                    </a:ext>
                  </a:extLst>
                </a:gridCol>
                <a:gridCol w="420143">
                  <a:extLst>
                    <a:ext uri="{9D8B030D-6E8A-4147-A177-3AD203B41FA5}">
                      <a16:colId xmlns:a16="http://schemas.microsoft.com/office/drawing/2014/main" val="97867412"/>
                    </a:ext>
                  </a:extLst>
                </a:gridCol>
                <a:gridCol w="1106002">
                  <a:extLst>
                    <a:ext uri="{9D8B030D-6E8A-4147-A177-3AD203B41FA5}">
                      <a16:colId xmlns:a16="http://schemas.microsoft.com/office/drawing/2014/main" val="3345351580"/>
                    </a:ext>
                  </a:extLst>
                </a:gridCol>
                <a:gridCol w="134172">
                  <a:extLst>
                    <a:ext uri="{9D8B030D-6E8A-4147-A177-3AD203B41FA5}">
                      <a16:colId xmlns:a16="http://schemas.microsoft.com/office/drawing/2014/main" val="1078110989"/>
                    </a:ext>
                  </a:extLst>
                </a:gridCol>
                <a:gridCol w="1274666">
                  <a:extLst>
                    <a:ext uri="{9D8B030D-6E8A-4147-A177-3AD203B41FA5}">
                      <a16:colId xmlns:a16="http://schemas.microsoft.com/office/drawing/2014/main" val="3620614086"/>
                    </a:ext>
                  </a:extLst>
                </a:gridCol>
                <a:gridCol w="448860">
                  <a:extLst>
                    <a:ext uri="{9D8B030D-6E8A-4147-A177-3AD203B41FA5}">
                      <a16:colId xmlns:a16="http://schemas.microsoft.com/office/drawing/2014/main" val="3990942346"/>
                    </a:ext>
                  </a:extLst>
                </a:gridCol>
                <a:gridCol w="1104810">
                  <a:extLst>
                    <a:ext uri="{9D8B030D-6E8A-4147-A177-3AD203B41FA5}">
                      <a16:colId xmlns:a16="http://schemas.microsoft.com/office/drawing/2014/main" val="2233156983"/>
                    </a:ext>
                  </a:extLst>
                </a:gridCol>
                <a:gridCol w="738430">
                  <a:extLst>
                    <a:ext uri="{9D8B030D-6E8A-4147-A177-3AD203B41FA5}">
                      <a16:colId xmlns:a16="http://schemas.microsoft.com/office/drawing/2014/main" val="3363955813"/>
                    </a:ext>
                  </a:extLst>
                </a:gridCol>
              </a:tblGrid>
              <a:tr h="187453">
                <a:tc gridSpan="10">
                  <a:txBody>
                    <a:bodyPr/>
                    <a:lstStyle/>
                    <a:p>
                      <a:pPr algn="ctr"/>
                      <a:r>
                        <a:rPr lang="en-US" sz="900" b="1" dirty="0"/>
                        <a:t>Open Opportunities 12-18 Months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pPr algn="ctr"/>
                      <a:endParaRPr lang="en-US" sz="900" b="1" dirty="0"/>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pPr algn="ctr"/>
                      <a:endParaRPr lang="en-US" sz="900" b="1"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a:endParaRPr lang="en-US" sz="900" b="1" dirty="0"/>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2483486"/>
                  </a:ext>
                </a:extLst>
              </a:tr>
              <a:tr h="150243">
                <a:tc rowSpan="2" gridSpan="2">
                  <a:txBody>
                    <a:bodyPr/>
                    <a:lstStyle/>
                    <a:p>
                      <a:pPr algn="ctr"/>
                      <a:r>
                        <a:rPr lang="en-US" sz="900" b="1" dirty="0">
                          <a:solidFill>
                            <a:srgbClr val="2C5967"/>
                          </a:solidFill>
                        </a:rPr>
                        <a:t>Product Pillar</a:t>
                      </a:r>
                    </a:p>
                  </a:txBody>
                  <a:tcPr marL="0" marR="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gridSpan="2">
                  <a:txBody>
                    <a:bodyPr/>
                    <a:lstStyle/>
                    <a:p>
                      <a:pPr algn="ctr"/>
                      <a:r>
                        <a:rPr lang="en-US" sz="900" b="1" dirty="0">
                          <a:solidFill>
                            <a:srgbClr val="2C5967"/>
                          </a:solidFill>
                        </a:rPr>
                        <a:t>Product Line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a:txBody>
                    <a:bodyPr/>
                    <a:lstStyle/>
                    <a:p>
                      <a:pPr algn="ctr"/>
                      <a:r>
                        <a:rPr lang="en-US" sz="900" b="1" dirty="0">
                          <a:solidFill>
                            <a:srgbClr val="2C5967"/>
                          </a:solidFill>
                        </a:rPr>
                        <a:t>Top Open Opportunities (40% &amp; Above)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bg1"/>
                      </a:solidFill>
                      <a:prstDash val="solid"/>
                      <a:round/>
                      <a:headEnd type="none" w="med" len="med"/>
                      <a:tailEnd type="none" w="med" len="med"/>
                    </a:lnL>
                  </a:tcPr>
                </a:tc>
                <a:tc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solidFill>
                      <a:schemeClr val="tx1">
                        <a:lumMod val="10000"/>
                        <a:lumOff val="90000"/>
                      </a:schemeClr>
                    </a:solidFill>
                  </a:tcPr>
                </a:tc>
                <a:tc rowSpan="2" gridSpan="3">
                  <a:txBody>
                    <a:bodyPr/>
                    <a:lstStyle/>
                    <a:p>
                      <a:pPr algn="ctr"/>
                      <a:r>
                        <a:rPr lang="en-US" sz="900" b="1" dirty="0">
                          <a:solidFill>
                            <a:srgbClr val="2C5967"/>
                          </a:solidFill>
                        </a:rPr>
                        <a:t>Recent Wins ($M</a:t>
                      </a:r>
                      <a:r>
                        <a:rPr lang="en-US" sz="900" b="1" baseline="0" dirty="0">
                          <a:solidFill>
                            <a:srgbClr val="2C5967"/>
                          </a:solidFill>
                        </a:rPr>
                        <a:t> USD)</a:t>
                      </a: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3282156939"/>
                  </a:ext>
                </a:extLst>
              </a:tr>
              <a:tr h="150243">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800" b="0" dirty="0">
                          <a:solidFill>
                            <a:schemeClr val="tx1"/>
                          </a:solidFill>
                        </a:rPr>
                        <a:t>Deal Size ($M USD)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3666276628"/>
                  </a:ext>
                </a:extLst>
              </a:tr>
              <a:tr h="150243">
                <a:tc gridSpan="2">
                  <a:txBody>
                    <a:bodyPr/>
                    <a:lstStyle/>
                    <a:p>
                      <a:pPr algn="l"/>
                      <a:r>
                        <a:rPr lang="en-US" sz="900" b="1" dirty="0">
                          <a:solidFill>
                            <a:schemeClr val="tx1"/>
                          </a:solidFill>
                        </a:rPr>
                        <a:t>On Premise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49900936"/>
                  </a:ext>
                </a:extLst>
              </a:tr>
              <a:tr h="150243">
                <a:tc gridSpan="2">
                  <a:txBody>
                    <a:bodyPr/>
                    <a:lstStyle/>
                    <a:p>
                      <a:pPr algn="l"/>
                      <a:r>
                        <a:rPr lang="en-US" sz="900" b="1" dirty="0">
                          <a:solidFill>
                            <a:srgbClr val="67605B"/>
                          </a:solidFill>
                        </a:rPr>
                        <a:t>Applications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9839696"/>
                  </a:ext>
                </a:extLst>
              </a:tr>
              <a:tr h="150243">
                <a:tc gridSpan="2">
                  <a:txBody>
                    <a:bodyPr/>
                    <a:lstStyle/>
                    <a:p>
                      <a:pPr algn="l"/>
                      <a:r>
                        <a:rPr lang="en-US" sz="900" b="1" dirty="0">
                          <a:solidFill>
                            <a:srgbClr val="67605B"/>
                          </a:solidFill>
                        </a:rPr>
                        <a:t>Database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98146532"/>
                  </a:ext>
                </a:extLst>
              </a:tr>
              <a:tr h="150243">
                <a:tc gridSpan="2">
                  <a:txBody>
                    <a:bodyPr/>
                    <a:lstStyle/>
                    <a:p>
                      <a:pPr algn="l"/>
                      <a:r>
                        <a:rPr lang="en-US" sz="900" b="1" dirty="0">
                          <a:solidFill>
                            <a:srgbClr val="67605B"/>
                          </a:solidFill>
                        </a:rPr>
                        <a:t>Middleware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53108882"/>
                  </a:ext>
                </a:extLst>
              </a:tr>
              <a:tr h="150243">
                <a:tc gridSpan="2">
                  <a:txBody>
                    <a:bodyPr/>
                    <a:lstStyle/>
                    <a:p>
                      <a:pPr algn="l"/>
                      <a:r>
                        <a:rPr lang="en-US" sz="900" b="1" dirty="0">
                          <a:solidFill>
                            <a:schemeClr val="tx1"/>
                          </a:solidFill>
                        </a:rPr>
                        <a:t>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1835710"/>
                  </a:ext>
                </a:extLst>
              </a:tr>
              <a:tr h="150243">
                <a:tc gridSpan="2">
                  <a:txBody>
                    <a:bodyPr/>
                    <a:lstStyle/>
                    <a:p>
                      <a:pPr algn="l"/>
                      <a:r>
                        <a:rPr lang="en-US" sz="900" b="1" dirty="0">
                          <a:solidFill>
                            <a:srgbClr val="67605B"/>
                          </a:solidFill>
                        </a:rPr>
                        <a:t>SaaS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r>
                        <a:t>$4.2M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r>
                        <a:t>65%</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48939904"/>
                  </a:ext>
                </a:extLst>
              </a:tr>
              <a:tr h="150243">
                <a:tc gridSpan="2">
                  <a:txBody>
                    <a:bodyPr/>
                    <a:lstStyle/>
                    <a:p>
                      <a:pPr algn="l"/>
                      <a:r>
                        <a:rPr lang="en-US" sz="900" b="1" dirty="0">
                          <a:solidFill>
                            <a:srgbClr val="67605B"/>
                          </a:solidFill>
                        </a:rPr>
                        <a:t>PaaS/IaaS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r>
                        <a:t>$2.8M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r>
                        <a:t>55%</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71210498"/>
                  </a:ext>
                </a:extLst>
              </a:tr>
              <a:tr h="150243">
                <a:tc gridSpan="2">
                  <a:txBody>
                    <a:bodyPr/>
                    <a:lstStyle/>
                    <a:p>
                      <a:pPr algn="l"/>
                      <a:r>
                        <a:rPr lang="en-US" sz="900" b="1" dirty="0">
                          <a:solidFill>
                            <a:srgbClr val="67605B"/>
                          </a:solidFill>
                        </a:rPr>
                        <a:t>Other</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8274853"/>
                  </a:ext>
                </a:extLst>
              </a:tr>
              <a:tr h="150243">
                <a:tc gridSpan="2">
                  <a:txBody>
                    <a:bodyPr/>
                    <a:lstStyle/>
                    <a:p>
                      <a:pPr algn="l"/>
                      <a:r>
                        <a:rPr lang="en-US" sz="900" b="1" dirty="0">
                          <a:solidFill>
                            <a:schemeClr val="tx1"/>
                          </a:solidFill>
                        </a:rPr>
                        <a:t>GBU</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0505797"/>
                  </a:ext>
                </a:extLst>
              </a:tr>
              <a:tr h="150243">
                <a:tc gridSpan="2">
                  <a:txBody>
                    <a:bodyPr/>
                    <a:lstStyle/>
                    <a:p>
                      <a:pPr algn="l"/>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7692486"/>
                  </a:ext>
                </a:extLst>
              </a:tr>
              <a:tr h="150243">
                <a:tc gridSpan="2">
                  <a:txBody>
                    <a:bodyPr/>
                    <a:lstStyle/>
                    <a:p>
                      <a:pPr algn="l"/>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2">
                  <a:txBody>
                    <a:bodyPr/>
                    <a:lstStyle/>
                    <a:p>
                      <a:r>
                        <a:t>$1.5M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r>
                        <a:t>70%</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87955604"/>
                  </a:ext>
                </a:extLst>
              </a:tr>
              <a:tr h="258934">
                <a:tc gridSpan="4">
                  <a:txBody>
                    <a:bodyPr/>
                    <a:lstStyle/>
                    <a:p>
                      <a:pPr algn="l"/>
                      <a:r>
                        <a:rPr lang="en-US" sz="900" b="1" dirty="0">
                          <a:solidFill>
                            <a:schemeClr val="tx1"/>
                          </a:solidFill>
                        </a:rPr>
                        <a:t>Total Deals Size (License &amp; Cloud TCV)</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$8.5M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Customer Segment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r>
                        <a:t>Enterprise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125458006"/>
                  </a:ext>
                </a:extLst>
              </a:tr>
              <a:tr h="150243">
                <a:tc gridSpan="4">
                  <a:txBody>
                    <a:bodyPr/>
                    <a:lstStyle/>
                    <a:p>
                      <a:pPr algn="l"/>
                      <a:r>
                        <a:rPr lang="en-US" sz="900" b="1" dirty="0">
                          <a:solidFill>
                            <a:schemeClr val="tx1"/>
                          </a:solidFill>
                        </a:rPr>
                        <a:t>Total Addressable Market (TAM)</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$45M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Avg Annual Oracle Spend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r>
                        <a:t>$2.1M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569600413"/>
                  </a:ext>
                </a:extLst>
              </a:tr>
              <a:tr h="150243">
                <a:tc gridSpan="4">
                  <a:txBody>
                    <a:bodyPr/>
                    <a:lstStyle/>
                    <a:p>
                      <a:pPr algn="l"/>
                      <a:r>
                        <a:rPr lang="en-US" sz="900" b="1" dirty="0">
                          <a:solidFill>
                            <a:schemeClr val="tx1"/>
                          </a:solidFill>
                        </a:rPr>
                        <a:t>Annual Company Revenue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gridSpan="3">
                  <a:txBody>
                    <a:bodyPr/>
                    <a:lstStyle/>
                    <a:p>
                      <a:r>
                        <a:t>$2.8B</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gridSpan="2">
                  <a:txBody>
                    <a:bodyPr/>
                    <a:lstStyle/>
                    <a:p>
                      <a:pPr algn="l"/>
                      <a:r>
                        <a:rPr lang="en-US" sz="900" b="1" dirty="0">
                          <a:solidFill>
                            <a:schemeClr val="tx1"/>
                          </a:solidFill>
                        </a:rPr>
                        <a:t>Share of Wallet (SOW) %</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a:txBody>
                    <a:bodyPr/>
                    <a:lstStyle/>
                    <a:p>
                      <a:r>
                        <a:t>4.7%</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extLst>
                  <a:ext uri="{0D108BD9-81ED-4DB2-BD59-A6C34878D82A}">
                    <a16:rowId xmlns:a16="http://schemas.microsoft.com/office/drawing/2014/main" val="951474957"/>
                  </a:ext>
                </a:extLst>
              </a:tr>
              <a:tr h="183583">
                <a:tc gridSpan="10">
                  <a:txBody>
                    <a:bodyPr/>
                    <a:lstStyle/>
                    <a:p>
                      <a:pPr algn="ctr"/>
                      <a:r>
                        <a:rPr lang="en-US" sz="900" b="1" dirty="0">
                          <a:solidFill>
                            <a:schemeClr val="tx1"/>
                          </a:solidFill>
                        </a:rPr>
                        <a:t>Product Footprint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l"/>
                      <a:endParaRPr lang="en-US" sz="900" b="1" dirty="0">
                        <a:solidFill>
                          <a:schemeClr val="tx1"/>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T w="12700" cap="flat" cmpd="sng" algn="ctr">
                      <a:solidFill>
                        <a:srgbClr val="2C5967"/>
                      </a:solidFill>
                      <a:prstDash val="solid"/>
                      <a:round/>
                      <a:headEnd type="none" w="med" len="med"/>
                      <a:tailEnd type="none" w="med" len="med"/>
                    </a:lnT>
                  </a:tcPr>
                </a:tc>
                <a:tc hMerge="1">
                  <a:txBody>
                    <a:bodyPr/>
                    <a:lstStyle/>
                    <a:p>
                      <a:pPr algn="ctr"/>
                      <a:endParaRPr lang="en-US" sz="900" dirty="0">
                        <a:solidFill>
                          <a:srgbClr val="67605B"/>
                        </a:solidFill>
                      </a:endParaRP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62027050"/>
                  </a:ext>
                </a:extLst>
              </a:tr>
              <a:tr h="291301">
                <a:tc gridSpan="3">
                  <a:txBody>
                    <a:bodyPr/>
                    <a:lstStyle/>
                    <a:p>
                      <a:pPr algn="ctr"/>
                      <a:r>
                        <a:rPr lang="en-US" sz="900" b="1" dirty="0">
                          <a:solidFill>
                            <a:srgbClr val="2C5967"/>
                          </a:solidFill>
                        </a:rPr>
                        <a:t>Product Pillar</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endParaRPr lang="en-US"/>
                    </a:p>
                  </a:txBody>
                  <a:tcPr>
                    <a:lnL w="12700" cap="flat" cmpd="sng" algn="ctr">
                      <a:solidFill>
                        <a:schemeClr val="bg1"/>
                      </a:solidFill>
                      <a:prstDash val="solid"/>
                      <a:round/>
                      <a:headEnd type="none" w="med" len="med"/>
                      <a:tailEnd type="none" w="med" len="med"/>
                    </a:lnL>
                  </a:tcPr>
                </a:tc>
                <a:tc gridSpan="2">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tc gridSpan="3">
                  <a:txBody>
                    <a:bodyPr/>
                    <a:lstStyle/>
                    <a:p>
                      <a:pPr algn="ctr"/>
                      <a:r>
                        <a:rPr lang="en-US" sz="900" b="1" dirty="0">
                          <a:solidFill>
                            <a:srgbClr val="2C5967"/>
                          </a:solidFill>
                        </a:rPr>
                        <a:t>Existing Footprint</a:t>
                      </a:r>
                      <a:br>
                        <a:rPr lang="en-US" sz="900" b="1" dirty="0">
                          <a:solidFill>
                            <a:srgbClr val="2C5967"/>
                          </a:solidFill>
                        </a:rPr>
                      </a:br>
                      <a:r>
                        <a:rPr lang="en-US" sz="900" b="1" dirty="0">
                          <a:solidFill>
                            <a:srgbClr val="2C5967"/>
                          </a:solidFill>
                        </a:rPr>
                        <a:t>(Product)</a:t>
                      </a:r>
                      <a:endParaRPr lang="en-US" sz="10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r>
                        <a:rPr lang="en-US" sz="900" b="1">
                          <a:solidFill>
                            <a:srgbClr val="2C5967"/>
                          </a:solidFill>
                        </a:rPr>
                        <a:t>Existing Footprint (Product)</a:t>
                      </a: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lumMod val="10000"/>
                        <a:lumOff val="90000"/>
                      </a:schemeClr>
                    </a:solidFill>
                  </a:tcPr>
                </a:tc>
                <a:tc gridSpan="2">
                  <a:txBody>
                    <a:bodyPr/>
                    <a:lstStyle/>
                    <a:p>
                      <a:pPr algn="ctr"/>
                      <a:r>
                        <a:rPr lang="en-US" sz="900" b="1" dirty="0">
                          <a:solidFill>
                            <a:srgbClr val="2C5967"/>
                          </a:solidFill>
                        </a:rPr>
                        <a:t>Competitors</a:t>
                      </a:r>
                      <a:br>
                        <a:rPr lang="en-US" sz="900" b="1" dirty="0">
                          <a:solidFill>
                            <a:srgbClr val="2C5967"/>
                          </a:solidFill>
                        </a:rPr>
                      </a:br>
                      <a:r>
                        <a:rPr lang="en-US" sz="900" b="1" dirty="0">
                          <a:solidFill>
                            <a:srgbClr val="2C5967"/>
                          </a:solidFill>
                        </a:rPr>
                        <a:t>(Product)</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Competitors (</a:t>
                      </a:r>
                      <a:r>
                        <a:rPr lang="en-US" sz="900" b="1" dirty="0" err="1">
                          <a:solidFill>
                            <a:srgbClr val="2C5967"/>
                          </a:solidFill>
                        </a:rPr>
                        <a:t>Productr</a:t>
                      </a:r>
                      <a:r>
                        <a:rPr lang="en-US" sz="900" b="1" dirty="0">
                          <a:solidFill>
                            <a:srgbClr val="2C5967"/>
                          </a:solidFill>
                        </a:rPr>
                        <a: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02860817"/>
                  </a:ext>
                </a:extLst>
              </a:tr>
              <a:tr h="229653">
                <a:tc rowSpan="5">
                  <a:txBody>
                    <a:bodyPr/>
                    <a:lstStyle/>
                    <a:p>
                      <a:pPr algn="ctr"/>
                      <a:r>
                        <a:rPr lang="en-US" sz="900" b="1" dirty="0">
                          <a:solidFill>
                            <a:schemeClr val="tx1"/>
                          </a:solidFill>
                        </a:rPr>
                        <a:t>Software &amp; 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Applications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noFill/>
                  </a:tcPr>
                </a:tc>
                <a:tc gridSpan="2">
                  <a:txBody>
                    <a:bodyPr/>
                    <a:lstStyle/>
                    <a:p>
                      <a:r>
                        <a:t>$0.8M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JD Edwards (legacy)</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SAP S/4HANA</a:t>
                      </a:r>
                    </a:p>
                  </a:txBody>
                  <a:tcPr>
                    <a:lnL w="12700" cap="flat" cmpd="sng" algn="ctr">
                      <a:solidFill>
                        <a:schemeClr val="tx1">
                          <a:lumMod val="10000"/>
                          <a:lumOff val="90000"/>
                        </a:schemeClr>
                      </a:solidFill>
                      <a:prstDash val="solid"/>
                      <a:round/>
                      <a:headEnd type="none" w="med" len="med"/>
                      <a:tailEnd type="none" w="med" len="med"/>
                    </a:lnL>
                    <a:lnT>
                      <a:noFill/>
                    </a:lnT>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a:noFill/>
                    </a:lnT>
                  </a:tcPr>
                </a:tc>
                <a:extLst>
                  <a:ext uri="{0D108BD9-81ED-4DB2-BD59-A6C34878D82A}">
                    <a16:rowId xmlns:a16="http://schemas.microsoft.com/office/drawing/2014/main" val="924429248"/>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Database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r>
                        <a:t>$1.2M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Oracle Database 19c</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Microsoft SQL Server</a:t>
                      </a:r>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35319978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Middleware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r>
                        <a:t>$0.1M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WebLogic</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IBM MQ</a:t>
                      </a:r>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24432615"/>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814629311"/>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PaaS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dirty="0"/>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860978898"/>
                  </a:ext>
                </a:extLst>
              </a:tr>
              <a:tr h="229653">
                <a:tc gridSpan="3">
                  <a:txBody>
                    <a:bodyPr/>
                    <a:lstStyle/>
                    <a:p>
                      <a:pPr algn="r"/>
                      <a:r>
                        <a:rPr lang="en-US" sz="900" b="1" dirty="0">
                          <a:solidFill>
                            <a:schemeClr val="tx1"/>
                          </a:solidFill>
                        </a:rPr>
                        <a:t>IaaS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7218750"/>
                  </a:ext>
                </a:extLst>
              </a:tr>
              <a:tr h="229653">
                <a:tc rowSpan="3">
                  <a:txBody>
                    <a:bodyPr/>
                    <a:lstStyle/>
                    <a:p>
                      <a:pPr algn="ctr"/>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Engineered Systems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1640764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Servers – Exclude ES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061991599"/>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Storage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612838464"/>
                  </a:ext>
                </a:extLst>
              </a:tr>
              <a:tr h="229653">
                <a:tc gridSpan="3">
                  <a:txBody>
                    <a:bodyPr/>
                    <a:lstStyle/>
                    <a:p>
                      <a:pPr algn="r"/>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17550448"/>
                  </a:ext>
                </a:extLst>
              </a:tr>
              <a:tr h="229653">
                <a:tc gridSpan="3">
                  <a:txBody>
                    <a:bodyPr/>
                    <a:lstStyle/>
                    <a:p>
                      <a:pPr algn="r"/>
                      <a:r>
                        <a:rPr lang="en-US" sz="900" b="1" dirty="0">
                          <a:solidFill>
                            <a:schemeClr val="tx1"/>
                          </a:solidFill>
                        </a:rPr>
                        <a:t>Other</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530364602"/>
                  </a:ext>
                </a:extLst>
              </a:tr>
            </a:tbl>
          </a:graphicData>
        </a:graphic>
      </p:graphicFrame>
      <p:sp>
        <p:nvSpPr>
          <p:cNvPr id="2" name="TextBox 1">
            <a:extLst>
              <a:ext uri="{FF2B5EF4-FFF2-40B4-BE49-F238E27FC236}">
                <a16:creationId xmlns:a16="http://schemas.microsoft.com/office/drawing/2014/main" id="{88067B93-6AB8-723F-6ED4-82078C4B168C}"/>
              </a:ext>
            </a:extLst>
          </p:cNvPr>
          <p:cNvSpPr txBox="1"/>
          <p:nvPr/>
        </p:nvSpPr>
        <p:spPr>
          <a:xfrm>
            <a:off x="4978400" y="0"/>
            <a:ext cx="2794000" cy="369332"/>
          </a:xfrm>
          <a:prstGeom prst="rect">
            <a:avLst/>
          </a:prstGeom>
          <a:solidFill>
            <a:schemeClr val="accent2">
              <a:lumMod val="40000"/>
              <a:lumOff val="60000"/>
            </a:schemeClr>
          </a:solidFill>
        </p:spPr>
        <p:txBody>
          <a:bodyPr wrap="square" rtlCol="0">
            <a:spAutoFit/>
          </a:bodyPr>
          <a:lstStyle/>
          <a:p>
            <a:pPr algn="r"/>
            <a:r>
              <a:rPr lang="en-US" sz="900" b="1" i="1" dirty="0"/>
              <a:t>NOTE: Financials are planned to be available via a Customer Profile / Exec Dashboard in FY24</a:t>
            </a:r>
          </a:p>
        </p:txBody>
      </p:sp>
    </p:spTree>
    <p:extLst>
      <p:ext uri="{BB962C8B-B14F-4D97-AF65-F5344CB8AC3E}">
        <p14:creationId xmlns:p14="http://schemas.microsoft.com/office/powerpoint/2010/main" val="11348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Redwood_stripped">
  <a:themeElements>
    <a:clrScheme name="Redwood">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Lst>
  <a:extLst>
    <a:ext uri="{05A4C25C-085E-4340-85A3-A5531E510DB2}">
      <thm15:themeFamily xmlns:thm15="http://schemas.microsoft.com/office/thememl/2012/main" name="Executive Briefing Document Template" id="{AF9E81D2-4060-5849-94C1-99B370E0B450}" vid="{6B0EACC5-4AF0-7547-89FC-E147119284B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29476</TotalTime>
  <Words>3118</Words>
  <Application>Microsoft Macintosh PowerPoint</Application>
  <PresentationFormat>Custom</PresentationFormat>
  <Paragraphs>277</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Oracle Sans</vt:lpstr>
      <vt:lpstr>Oracle Sans Tab</vt:lpstr>
      <vt:lpstr>System Font Regular</vt:lpstr>
      <vt:lpstr>1_Redwood_stripped</vt:lpstr>
      <vt:lpstr>PowerPoint Presentation</vt:lpstr>
      <vt:lpstr>PowerPoint Presentation</vt:lpstr>
      <vt:lpstr>PowerPoint Presentation</vt:lpstr>
      <vt:lpstr>PowerPoint Presentation</vt:lpstr>
      <vt:lpstr>PowerPoint Presentation</vt:lpstr>
    </vt:vector>
  </TitlesOfParts>
  <Company>Oracle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Brittany Schmigel</dc:creator>
  <cp:lastModifiedBy>Lisa Kalfayan</cp:lastModifiedBy>
  <cp:revision>130</cp:revision>
  <dcterms:created xsi:type="dcterms:W3CDTF">2020-07-31T18:38:26Z</dcterms:created>
  <dcterms:modified xsi:type="dcterms:W3CDTF">2023-06-13T22:47:40Z</dcterms:modified>
</cp:coreProperties>
</file>