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ink/ink1.xml" ContentType="application/inkml+xml"/>
  <Override PartName="/ppt/ink/ink2.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7"/>
  </p:notesMasterIdLst>
  <p:sldIdLst>
    <p:sldId id="262" r:id="rId2"/>
    <p:sldId id="266" r:id="rId3"/>
    <p:sldId id="263" r:id="rId4"/>
    <p:sldId id="264" r:id="rId5"/>
    <p:sldId id="265" r:id="rId6"/>
  </p:sldIdLst>
  <p:sldSz cx="7772400" cy="100584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AE8"/>
    <a:srgbClr val="5678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649" autoAdjust="0"/>
    <p:restoredTop sz="93792" autoAdjust="0"/>
  </p:normalViewPr>
  <p:slideViewPr>
    <p:cSldViewPr snapToGrid="0">
      <p:cViewPr varScale="1">
        <p:scale>
          <a:sx n="84" d="100"/>
          <a:sy n="84" d="100"/>
        </p:scale>
        <p:origin x="3752" y="200"/>
      </p:cViewPr>
      <p:guideLst/>
    </p:cSldViewPr>
  </p:slideViewPr>
  <p:notesTextViewPr>
    <p:cViewPr>
      <p:scale>
        <a:sx n="1" d="1"/>
        <a:sy n="1" d="1"/>
      </p:scale>
      <p:origin x="0" y="0"/>
    </p:cViewPr>
  </p:notesTextViewPr>
  <p:notesViewPr>
    <p:cSldViewPr snapToGrid="0" showGuides="1">
      <p:cViewPr varScale="1">
        <p:scale>
          <a:sx n="97" d="100"/>
          <a:sy n="97" d="100"/>
        </p:scale>
        <p:origin x="4328" y="20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4-25T15:18:03.786"/>
    </inkml:context>
    <inkml:brush xml:id="br0">
      <inkml:brushProperty name="width" value="0.025" units="cm"/>
      <inkml:brushProperty name="height" value="0.025" units="cm"/>
      <inkml:brushProperty name="color" value="#006666"/>
      <inkml:brushProperty name="ignorePressure" value="1"/>
    </inkml:brush>
  </inkml:definitions>
  <inkml:trace contextRef="#ctx0" brushRef="#br0">0 1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4-25T15:18:03.788"/>
    </inkml:context>
    <inkml:brush xml:id="br0">
      <inkml:brushProperty name="width" value="0.025" units="cm"/>
      <inkml:brushProperty name="height" value="0.025" units="cm"/>
      <inkml:brushProperty name="color" value="#006666"/>
      <inkml:brushProperty name="ignorePressure" value="1"/>
    </inkml:brush>
  </inkml:definitions>
  <inkml:trace contextRef="#ctx0" brushRef="#br0">0 1,'4'0,"1"0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A81B0A-E192-416E-A90F-59D34D9F0B49}" type="datetimeFigureOut">
              <a:rPr lang="en-US" smtClean="0"/>
              <a:t>6/13/23</a:t>
            </a:fld>
            <a:endParaRPr lang="en-US" dirty="0"/>
          </a:p>
        </p:txBody>
      </p:sp>
      <p:sp>
        <p:nvSpPr>
          <p:cNvPr id="4" name="Slide Image Placeholder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08E823-96DC-4430-91CE-09AFABFC50B8}" type="slidenum">
              <a:rPr lang="en-US" smtClean="0"/>
              <a:t>‹#›</a:t>
            </a:fld>
            <a:endParaRPr lang="en-US" dirty="0"/>
          </a:p>
        </p:txBody>
      </p:sp>
    </p:spTree>
    <p:extLst>
      <p:ext uri="{BB962C8B-B14F-4D97-AF65-F5344CB8AC3E}">
        <p14:creationId xmlns:p14="http://schemas.microsoft.com/office/powerpoint/2010/main" val="1109597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 Id="rId3" Type="http://schemas.openxmlformats.org/officeDocument/2006/relationships/hyperlink" Target="https://my.oracle.com/site/fin/gfo/GlobalProcesses/LMS/index.htm" TargetMode="External"/><Relationship Id="rId4" Type="http://schemas.openxmlformats.org/officeDocument/2006/relationships/hyperlink" Target="https://my.oracle.com/site/fin/gfo/SIA/index.html"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 Id="rId3" Type="http://schemas.openxmlformats.org/officeDocument/2006/relationships/hyperlink" Target="https://my.oracle.com/site/fin/gfo/GlobalProcesses/LMS/index.htm" TargetMode="External"/><Relationship Id="rId4" Type="http://schemas.openxmlformats.org/officeDocument/2006/relationships/hyperlink" Target="https://my.oracle.com/site/fin/gfo/SIA/index.html"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 Id="rId3" Type="http://schemas.openxmlformats.org/officeDocument/2006/relationships/hyperlink" Target="https://my.oracle.com/site/fin/gfo/GlobalProcesses/LMS/index.htm" TargetMode="External"/><Relationship Id="rId4" Type="http://schemas.openxmlformats.org/officeDocument/2006/relationships/hyperlink" Target="https://my.oracle.com/site/fin/gfo/SIA/index.html"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 Id="rId3" Type="http://schemas.openxmlformats.org/officeDocument/2006/relationships/hyperlink" Target="https://my.oracle.com/site/fin/gfo/GlobalProcesses/LMS/index.htm" TargetMode="External"/><Relationship Id="rId4" Type="http://schemas.openxmlformats.org/officeDocument/2006/relationships/hyperlink" Target="https://my.oracle.com/site/fin/gfo/SIA/index.html"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 Id="rId3" Type="http://schemas.openxmlformats.org/officeDocument/2006/relationships/hyperlink" Target="https://my.oracle.com/site/fin/gfo/GlobalProcesses/LMS/index.htm" TargetMode="External"/><Relationship Id="rId4" Type="http://schemas.openxmlformats.org/officeDocument/2006/relationships/hyperlink" Target="https://my.oracle.com/site/fin/gfo/SIA/index.html"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Instructions and hints for template use:</a:t>
            </a:r>
          </a:p>
          <a:p>
            <a:pPr marL="171450" indent="-171450">
              <a:buFont typeface="Arial" panose="020B0604020202020204" pitchFamily="34" charset="0"/>
              <a:buChar char="•"/>
            </a:pPr>
            <a:r>
              <a:rPr lang="en-US" dirty="0"/>
              <a:t>Replace Oracle logo with logo for company. Delete the logo that is currently there. Go to insert menu, click on picture, and then navigate to where the logo is saved on your hard drive. Resize so it fits in the spot allocated on the template. Make it no wider than 1.1 (you can resize if you double click on the logo so that the picture format tab opens, and then navigate where its says “size” and change the width to 1.1 or 1.12.</a:t>
            </a:r>
          </a:p>
          <a:p>
            <a:pPr marL="171450" indent="-171450">
              <a:buFont typeface="Arial" panose="020B0604020202020204" pitchFamily="34" charset="0"/>
              <a:buChar char="•"/>
            </a:pPr>
            <a:r>
              <a:rPr lang="en-US" dirty="0"/>
              <a:t>Replace customer images with photos of the customer you will be meeting with. Delete the photo that is there. Go to the insert ribbon on the top and click on picture. Navigate to where the picture is saved on your hard drive. Insert the picture onto the page. Double click on the picture which will open up the picture ribbon. You will want the picture to be square. If it is not:</a:t>
            </a:r>
          </a:p>
          <a:p>
            <a:pPr marL="628650" lvl="1" indent="-171450">
              <a:buFont typeface="Arial" panose="020B0604020202020204" pitchFamily="34" charset="0"/>
              <a:buChar char="•"/>
            </a:pPr>
            <a:r>
              <a:rPr lang="en-US" dirty="0"/>
              <a:t>Move to the crop tool. An arrow will appear underneath it. Click on that arrow. Click on “Aspect Ratio” and then “1:1”. This will make your image a perfect square. Then move to size, and make sure that the width and height are sized at .95. Move the new image into position.</a:t>
            </a:r>
          </a:p>
          <a:p>
            <a:pPr marL="171450" lvl="0" indent="-171450">
              <a:buFont typeface="Arial" panose="020B0604020202020204" pitchFamily="34" charset="0"/>
              <a:buChar char="•"/>
            </a:pPr>
            <a:r>
              <a:rPr lang="en-US" dirty="0"/>
              <a:t>If you do not need any of the additional spaces for your customer meeting, then delete any of the items you do not need.</a:t>
            </a:r>
          </a:p>
          <a:p>
            <a:pPr marL="171450" lvl="0" indent="-171450">
              <a:buFont typeface="Arial" panose="020B0604020202020204" pitchFamily="34" charset="0"/>
              <a:buChar char="•"/>
            </a:pPr>
            <a:r>
              <a:rPr lang="en-US" dirty="0"/>
              <a:t>When pasting text in – right click on the field that you would like to paste the text into. Choose the option that is all the way on the right under paste – “Keep Text Only”. That will allow you to insert the text and keep the formatting in the table.</a:t>
            </a:r>
          </a:p>
          <a:p>
            <a:pPr marL="171450" lvl="0" indent="-171450">
              <a:buFont typeface="Arial" panose="020B0604020202020204" pitchFamily="34" charset="0"/>
              <a:buChar char="•"/>
            </a:pPr>
            <a:r>
              <a:rPr lang="en-US" dirty="0"/>
              <a:t>The font type should be Oracle Sans throughout.</a:t>
            </a:r>
          </a:p>
          <a:p>
            <a:pPr marL="171450" lvl="0" indent="-171450">
              <a:buFont typeface="Arial" panose="020B0604020202020204" pitchFamily="34" charset="0"/>
              <a:buChar char="•"/>
            </a:pPr>
            <a:endParaRPr lang="en-US" dirty="0"/>
          </a:p>
          <a:p>
            <a:r>
              <a:rPr lang="en-US" b="1" dirty="0"/>
              <a:t>Additional information:</a:t>
            </a:r>
          </a:p>
          <a:p>
            <a:pPr marL="171450" indent="-171450">
              <a:buFont typeface="Arial" panose="020B0604020202020204" pitchFamily="34" charset="0"/>
              <a:buChar char="•"/>
            </a:pPr>
            <a:r>
              <a:rPr lang="en-US" dirty="0"/>
              <a:t>License Management Services Homepage: </a:t>
            </a:r>
            <a:r>
              <a:rPr lang="en-US" dirty="0">
                <a:hlinkClick r:id="rId3"/>
              </a:rPr>
              <a:t>https://my.oracle.com/site/fin/gfo/GlobalProcesses/LMS/index.htm</a:t>
            </a:r>
            <a:endParaRPr lang="en-US" dirty="0"/>
          </a:p>
          <a:p>
            <a:pPr marL="171450" indent="-171450">
              <a:buFont typeface="Arial" panose="020B0604020202020204" pitchFamily="34" charset="0"/>
              <a:buChar char="•"/>
            </a:pPr>
            <a:r>
              <a:rPr lang="en-US" dirty="0"/>
              <a:t>Software Investment Advisor Homepage: </a:t>
            </a:r>
            <a:r>
              <a:rPr lang="en-US" dirty="0">
                <a:hlinkClick r:id="rId4"/>
              </a:rPr>
              <a:t>https://my.oracle.com/site/fin/gfo/SIA/index.html</a:t>
            </a:r>
            <a:endParaRPr lang="en-US"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08E823-96DC-4430-91CE-09AFABFC50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549702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Instructions and hints for template use:</a:t>
            </a:r>
          </a:p>
          <a:p>
            <a:pPr marL="171450" indent="-171450">
              <a:buFont typeface="Arial" panose="020B0604020202020204" pitchFamily="34" charset="0"/>
              <a:buChar char="•"/>
            </a:pPr>
            <a:r>
              <a:rPr lang="en-US" dirty="0"/>
              <a:t>Replace Oracle logo with logo for company. Delete the logo that is currently there. Go to insert menu, click on picture, and then navigate to where the logo is saved on your hard drive. Resize so it fits in the spot allocated on the template. Make it no wider than 1.1 (you can resize if you double click on the logo so that the picture format tab opens, and then navigate where its says “size” and change the width to 1.1 or 1.12.</a:t>
            </a:r>
          </a:p>
          <a:p>
            <a:pPr marL="171450" indent="-171450">
              <a:buFont typeface="Arial" panose="020B0604020202020204" pitchFamily="34" charset="0"/>
              <a:buChar char="•"/>
            </a:pPr>
            <a:r>
              <a:rPr lang="en-US" dirty="0"/>
              <a:t>Replace customer images with photos of the customer you will be meeting with. Delete the photo that is there. Go to the insert ribbon on the top and click on picture. Navigate to where the picture is saved on your hard drive. Insert the picture onto the page. Double click on the picture which will open up the picture ribbon. You will want the picture to be square. If it is not:</a:t>
            </a:r>
          </a:p>
          <a:p>
            <a:pPr marL="628650" lvl="1" indent="-171450">
              <a:buFont typeface="Arial" panose="020B0604020202020204" pitchFamily="34" charset="0"/>
              <a:buChar char="•"/>
            </a:pPr>
            <a:r>
              <a:rPr lang="en-US" dirty="0"/>
              <a:t>Move to the crop tool. An arrow will appear underneath it. Click on that arrow. Click on “Aspect Ratio” and then “1:1”. This will make your image a perfect square. Then move to size, and make sure that the width and height are sized at .95. Move the new image into position.</a:t>
            </a:r>
          </a:p>
          <a:p>
            <a:pPr marL="171450" lvl="0" indent="-171450">
              <a:buFont typeface="Arial" panose="020B0604020202020204" pitchFamily="34" charset="0"/>
              <a:buChar char="•"/>
            </a:pPr>
            <a:r>
              <a:rPr lang="en-US" dirty="0"/>
              <a:t>If you do not need any of the additional spaces for your customer meeting, then delete any of the items you do not need.</a:t>
            </a:r>
          </a:p>
          <a:p>
            <a:pPr marL="171450" lvl="0" indent="-171450">
              <a:buFont typeface="Arial" panose="020B0604020202020204" pitchFamily="34" charset="0"/>
              <a:buChar char="•"/>
            </a:pPr>
            <a:r>
              <a:rPr lang="en-US" dirty="0"/>
              <a:t>When pasting text in – right click on the field that you would like to paste the text into. Choose the option that is all the way on the right under paste – “Keep Text Only”. That will allow you to insert the text and keep the formatting in the table.</a:t>
            </a:r>
          </a:p>
          <a:p>
            <a:pPr marL="171450" lvl="0" indent="-171450">
              <a:buFont typeface="Arial" panose="020B0604020202020204" pitchFamily="34" charset="0"/>
              <a:buChar char="•"/>
            </a:pPr>
            <a:r>
              <a:rPr lang="en-US" dirty="0"/>
              <a:t>The font type should be Oracle Sans throughout.</a:t>
            </a:r>
          </a:p>
          <a:p>
            <a:pPr marL="171450" lvl="0" indent="-171450">
              <a:buFont typeface="Arial" panose="020B0604020202020204" pitchFamily="34" charset="0"/>
              <a:buChar char="•"/>
            </a:pPr>
            <a:endParaRPr lang="en-US" dirty="0"/>
          </a:p>
          <a:p>
            <a:r>
              <a:rPr lang="en-US" b="1" dirty="0"/>
              <a:t>Additional information:</a:t>
            </a:r>
          </a:p>
          <a:p>
            <a:pPr marL="171450" indent="-171450">
              <a:buFont typeface="Arial" panose="020B0604020202020204" pitchFamily="34" charset="0"/>
              <a:buChar char="•"/>
            </a:pPr>
            <a:r>
              <a:rPr lang="en-US" dirty="0"/>
              <a:t>License Management Services Homepage: </a:t>
            </a:r>
            <a:r>
              <a:rPr lang="en-US" dirty="0">
                <a:hlinkClick r:id="rId3"/>
              </a:rPr>
              <a:t>https://my.oracle.com/site/fin/gfo/GlobalProcesses/LMS/index.htm</a:t>
            </a:r>
            <a:endParaRPr lang="en-US" dirty="0"/>
          </a:p>
          <a:p>
            <a:pPr marL="171450" indent="-171450">
              <a:buFont typeface="Arial" panose="020B0604020202020204" pitchFamily="34" charset="0"/>
              <a:buChar char="•"/>
            </a:pPr>
            <a:r>
              <a:rPr lang="en-US" dirty="0"/>
              <a:t>Software Investment Advisor Homepage: </a:t>
            </a:r>
            <a:r>
              <a:rPr lang="en-US" dirty="0">
                <a:hlinkClick r:id="rId4"/>
              </a:rPr>
              <a:t>https://my.oracle.com/site/fin/gfo/SIA/index.html</a:t>
            </a:r>
            <a:endParaRPr lang="en-US"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08E823-96DC-4430-91CE-09AFABFC50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27524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Instructions and hints for template use:</a:t>
            </a:r>
          </a:p>
          <a:p>
            <a:pPr marL="171450" indent="-171450">
              <a:buFont typeface="Arial" panose="020B0604020202020204" pitchFamily="34" charset="0"/>
              <a:buChar char="•"/>
            </a:pPr>
            <a:r>
              <a:rPr lang="en-US" dirty="0"/>
              <a:t>Replace Oracle logo with logo for company. Delete the logo that is currently there. Go to insert menu, click on picture, and then navigate to where the logo is saved on your hard drive. Resize so it fits in the spot allocated on the template. Make it no wider than 1.1 (you can resize if you double click on the logo so that the picture format tab opens, and then navigate where its says “size” and change the width to 1.1 or 1.12.</a:t>
            </a:r>
          </a:p>
          <a:p>
            <a:pPr marL="171450" indent="-171450">
              <a:buFont typeface="Arial" panose="020B0604020202020204" pitchFamily="34" charset="0"/>
              <a:buChar char="•"/>
            </a:pPr>
            <a:r>
              <a:rPr lang="en-US" dirty="0"/>
              <a:t>Replace customer images with photos of the customer you will be meeting with. Delete the photo that is there. Go to the insert ribbon on the top and click on picture. Navigate to where the picture is saved on your hard drive. Insert the picture onto the page. Double click on the picture which will open up the picture ribbon. You will want the picture to be square. If it is not:</a:t>
            </a:r>
          </a:p>
          <a:p>
            <a:pPr marL="628650" lvl="1" indent="-171450">
              <a:buFont typeface="Arial" panose="020B0604020202020204" pitchFamily="34" charset="0"/>
              <a:buChar char="•"/>
            </a:pPr>
            <a:r>
              <a:rPr lang="en-US" dirty="0"/>
              <a:t>Move to the crop tool. An arrow will appear underneath it. Click on that arrow. Click on “Aspect Ratio” and then “1:1”. This will make your image a perfect square. Then move to size, and make sure that the width and height are sized at .95. Move the new image into position.</a:t>
            </a:r>
          </a:p>
          <a:p>
            <a:pPr marL="171450" lvl="0" indent="-171450">
              <a:buFont typeface="Arial" panose="020B0604020202020204" pitchFamily="34" charset="0"/>
              <a:buChar char="•"/>
            </a:pPr>
            <a:r>
              <a:rPr lang="en-US" dirty="0"/>
              <a:t>If you do not need any of the additional spaces for your customer meeting, then delete any of the items you do not need.</a:t>
            </a:r>
          </a:p>
          <a:p>
            <a:pPr marL="171450" lvl="0" indent="-171450">
              <a:buFont typeface="Arial" panose="020B0604020202020204" pitchFamily="34" charset="0"/>
              <a:buChar char="•"/>
            </a:pPr>
            <a:r>
              <a:rPr lang="en-US" dirty="0"/>
              <a:t>When pasting text in – right click on the field that you would like to paste the text into. Choose the option that is all the way on the right under paste – “Keep Text Only”. That will allow you to insert the text and keep the formatting in the table.</a:t>
            </a:r>
          </a:p>
          <a:p>
            <a:pPr marL="171450" lvl="0" indent="-171450">
              <a:buFont typeface="Arial" panose="020B0604020202020204" pitchFamily="34" charset="0"/>
              <a:buChar char="•"/>
            </a:pPr>
            <a:r>
              <a:rPr lang="en-US" dirty="0"/>
              <a:t>The font type should be Oracle Sans throughout.</a:t>
            </a:r>
          </a:p>
          <a:p>
            <a:pPr marL="171450" lvl="0" indent="-171450">
              <a:buFont typeface="Arial" panose="020B0604020202020204" pitchFamily="34" charset="0"/>
              <a:buChar char="•"/>
            </a:pPr>
            <a:endParaRPr lang="en-US" dirty="0"/>
          </a:p>
          <a:p>
            <a:r>
              <a:rPr lang="en-US" b="1" dirty="0"/>
              <a:t>Additional information:</a:t>
            </a:r>
          </a:p>
          <a:p>
            <a:pPr marL="171450" indent="-171450">
              <a:buFont typeface="Arial" panose="020B0604020202020204" pitchFamily="34" charset="0"/>
              <a:buChar char="•"/>
            </a:pPr>
            <a:r>
              <a:rPr lang="en-US" dirty="0"/>
              <a:t>License Management Services Homepage: </a:t>
            </a:r>
            <a:r>
              <a:rPr lang="en-US" dirty="0">
                <a:hlinkClick r:id="rId3"/>
              </a:rPr>
              <a:t>https://my.oracle.com/site/fin/gfo/GlobalProcesses/LMS/index.htm</a:t>
            </a:r>
            <a:endParaRPr lang="en-US" dirty="0"/>
          </a:p>
          <a:p>
            <a:pPr marL="171450" indent="-171450">
              <a:buFont typeface="Arial" panose="020B0604020202020204" pitchFamily="34" charset="0"/>
              <a:buChar char="•"/>
            </a:pPr>
            <a:r>
              <a:rPr lang="en-US" dirty="0"/>
              <a:t>Software Investment Advisor Homepage: </a:t>
            </a:r>
            <a:r>
              <a:rPr lang="en-US" dirty="0">
                <a:hlinkClick r:id="rId4"/>
              </a:rPr>
              <a:t>https://my.oracle.com/site/fin/gfo/SIA/index.html</a:t>
            </a:r>
            <a:endParaRPr lang="en-US"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08E823-96DC-4430-91CE-09AFABFC50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1336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Instructions and hints for template use:</a:t>
            </a:r>
          </a:p>
          <a:p>
            <a:pPr marL="171450" indent="-171450">
              <a:buFont typeface="Arial" panose="020B0604020202020204" pitchFamily="34" charset="0"/>
              <a:buChar char="•"/>
            </a:pPr>
            <a:r>
              <a:rPr lang="en-US" dirty="0"/>
              <a:t>Replace Oracle logo with logo for company. Delete the logo that is currently there. Go to insert menu, click on picture, and then navigate to where the logo is saved on your hard drive. Resize so it fits in the spot allocated on the template. Make it no wider than 1.1 (you can resize if you double click on the logo so that the picture format tab opens, and then navigate where its says “size” and change the width to 1.1 or 1.12.</a:t>
            </a:r>
          </a:p>
          <a:p>
            <a:pPr marL="171450" indent="-171450">
              <a:buFont typeface="Arial" panose="020B0604020202020204" pitchFamily="34" charset="0"/>
              <a:buChar char="•"/>
            </a:pPr>
            <a:r>
              <a:rPr lang="en-US" dirty="0"/>
              <a:t>Replace customer images with photos of the customer you will be meeting with. Delete the photo that is there. Go to the insert ribbon on the top and click on picture. Navigate to where the picture is saved on your hard drive. Insert the picture onto the page. Double click on the picture which will open up the picture ribbon. You will want the picture to be square. If it is not:</a:t>
            </a:r>
          </a:p>
          <a:p>
            <a:pPr marL="628650" lvl="1" indent="-171450">
              <a:buFont typeface="Arial" panose="020B0604020202020204" pitchFamily="34" charset="0"/>
              <a:buChar char="•"/>
            </a:pPr>
            <a:r>
              <a:rPr lang="en-US" dirty="0"/>
              <a:t>Move to the crop tool. An arrow will appear underneath it. Click on that arrow. Click on “Aspect Ratio” and then “1:1”. This will make your image a perfect square. Then move to size, and make sure that the width and height are sized at .95. Move the new image into position.</a:t>
            </a:r>
          </a:p>
          <a:p>
            <a:pPr marL="171450" lvl="0" indent="-171450">
              <a:buFont typeface="Arial" panose="020B0604020202020204" pitchFamily="34" charset="0"/>
              <a:buChar char="•"/>
            </a:pPr>
            <a:r>
              <a:rPr lang="en-US" dirty="0"/>
              <a:t>If you do not need any of the additional spaces for your customer meeting, then delete any of the items you do not need.</a:t>
            </a:r>
          </a:p>
          <a:p>
            <a:pPr marL="171450" lvl="0" indent="-171450">
              <a:buFont typeface="Arial" panose="020B0604020202020204" pitchFamily="34" charset="0"/>
              <a:buChar char="•"/>
            </a:pPr>
            <a:r>
              <a:rPr lang="en-US" dirty="0"/>
              <a:t>When pasting text in – right click on the field that you would like to paste the text into. Choose the option that is all the way on the right under paste – “Keep Text Only”. That will allow you to insert the text and keep the formatting in the table.</a:t>
            </a:r>
          </a:p>
          <a:p>
            <a:pPr marL="171450" lvl="0" indent="-171450">
              <a:buFont typeface="Arial" panose="020B0604020202020204" pitchFamily="34" charset="0"/>
              <a:buChar char="•"/>
            </a:pPr>
            <a:r>
              <a:rPr lang="en-US" dirty="0"/>
              <a:t>The font type should be Oracle Sans throughout.</a:t>
            </a:r>
          </a:p>
          <a:p>
            <a:pPr marL="171450" lvl="0" indent="-171450">
              <a:buFont typeface="Arial" panose="020B0604020202020204" pitchFamily="34" charset="0"/>
              <a:buChar char="•"/>
            </a:pPr>
            <a:endParaRPr lang="en-US" dirty="0"/>
          </a:p>
          <a:p>
            <a:r>
              <a:rPr lang="en-US" b="1" dirty="0"/>
              <a:t>Additional information:</a:t>
            </a:r>
          </a:p>
          <a:p>
            <a:pPr marL="171450" indent="-171450">
              <a:buFont typeface="Arial" panose="020B0604020202020204" pitchFamily="34" charset="0"/>
              <a:buChar char="•"/>
            </a:pPr>
            <a:r>
              <a:rPr lang="en-US" dirty="0"/>
              <a:t>License Management Services Homepage: </a:t>
            </a:r>
            <a:r>
              <a:rPr lang="en-US" dirty="0">
                <a:hlinkClick r:id="rId3"/>
              </a:rPr>
              <a:t>https://my.oracle.com/site/fin/gfo/GlobalProcesses/LMS/index.htm</a:t>
            </a:r>
            <a:endParaRPr lang="en-US" dirty="0"/>
          </a:p>
          <a:p>
            <a:pPr marL="171450" indent="-171450">
              <a:buFont typeface="Arial" panose="020B0604020202020204" pitchFamily="34" charset="0"/>
              <a:buChar char="•"/>
            </a:pPr>
            <a:r>
              <a:rPr lang="en-US" dirty="0"/>
              <a:t>Software Investment Advisor Homepage: </a:t>
            </a:r>
            <a:r>
              <a:rPr lang="en-US" dirty="0">
                <a:hlinkClick r:id="rId4"/>
              </a:rPr>
              <a:t>https://my.oracle.com/site/fin/gfo/SIA/index.html</a:t>
            </a:r>
            <a:endParaRPr lang="en-US"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08E823-96DC-4430-91CE-09AFABFC50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93693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Instructions and hints for template use:</a:t>
            </a:r>
          </a:p>
          <a:p>
            <a:pPr marL="171450" indent="-171450">
              <a:buFont typeface="Arial" panose="020B0604020202020204" pitchFamily="34" charset="0"/>
              <a:buChar char="•"/>
            </a:pPr>
            <a:r>
              <a:rPr lang="en-US" dirty="0"/>
              <a:t>Replace Oracle logo with logo for company. Delete the logo that is currently there. Go to insert menu, click on picture, and then navigate to where the logo is saved on your hard drive. Resize so it fits in the spot allocated on the template. Make it no wider than 1.1 (you can resize if you double click on the logo so that the picture format tab opens, and then navigate where its says “size” and change the width to 1.1 or 1.12.</a:t>
            </a:r>
          </a:p>
          <a:p>
            <a:pPr marL="171450" indent="-171450">
              <a:buFont typeface="Arial" panose="020B0604020202020204" pitchFamily="34" charset="0"/>
              <a:buChar char="•"/>
            </a:pPr>
            <a:r>
              <a:rPr lang="en-US" dirty="0"/>
              <a:t>Replace customer images with photos of the customer you will be meeting with. Delete the photo that is there. Go to the insert ribbon on the top and click on picture. Navigate to where the picture is saved on your hard drive. Insert the picture onto the page. Double click on the picture which will open up the picture ribbon. You will want the picture to be square. If it is not:</a:t>
            </a:r>
          </a:p>
          <a:p>
            <a:pPr marL="628650" lvl="1" indent="-171450">
              <a:buFont typeface="Arial" panose="020B0604020202020204" pitchFamily="34" charset="0"/>
              <a:buChar char="•"/>
            </a:pPr>
            <a:r>
              <a:rPr lang="en-US" dirty="0"/>
              <a:t>Move to the crop tool. An arrow will appear underneath it. Click on that arrow. Click on “Aspect Ratio” and then “1:1”. This will make your image a perfect square. Then move to size, and make sure that the width and height are sized at .95. Move the new image into position.</a:t>
            </a:r>
          </a:p>
          <a:p>
            <a:pPr marL="171450" lvl="0" indent="-171450">
              <a:buFont typeface="Arial" panose="020B0604020202020204" pitchFamily="34" charset="0"/>
              <a:buChar char="•"/>
            </a:pPr>
            <a:r>
              <a:rPr lang="en-US" dirty="0"/>
              <a:t>If you do not need any of the additional spaces for your customer meeting, then delete any of the items you do not need.</a:t>
            </a:r>
          </a:p>
          <a:p>
            <a:pPr marL="171450" lvl="0" indent="-171450">
              <a:buFont typeface="Arial" panose="020B0604020202020204" pitchFamily="34" charset="0"/>
              <a:buChar char="•"/>
            </a:pPr>
            <a:r>
              <a:rPr lang="en-US" dirty="0"/>
              <a:t>When pasting text in – right click on the field that you would like to paste the text into. Choose the option that is all the way on the right under paste – “Keep Text Only”. That will allow you to insert the text and keep the formatting in the table.</a:t>
            </a:r>
          </a:p>
          <a:p>
            <a:pPr marL="171450" lvl="0" indent="-171450">
              <a:buFont typeface="Arial" panose="020B0604020202020204" pitchFamily="34" charset="0"/>
              <a:buChar char="•"/>
            </a:pPr>
            <a:r>
              <a:rPr lang="en-US" dirty="0"/>
              <a:t>The font type should be Oracle Sans throughout.</a:t>
            </a:r>
          </a:p>
          <a:p>
            <a:pPr marL="171450" lvl="0" indent="-171450">
              <a:buFont typeface="Arial" panose="020B0604020202020204" pitchFamily="34" charset="0"/>
              <a:buChar char="•"/>
            </a:pPr>
            <a:endParaRPr lang="en-US" dirty="0"/>
          </a:p>
          <a:p>
            <a:r>
              <a:rPr lang="en-US" b="1" dirty="0"/>
              <a:t>Additional information:</a:t>
            </a:r>
          </a:p>
          <a:p>
            <a:pPr marL="171450" indent="-171450">
              <a:buFont typeface="Arial" panose="020B0604020202020204" pitchFamily="34" charset="0"/>
              <a:buChar char="•"/>
            </a:pPr>
            <a:r>
              <a:rPr lang="en-US" dirty="0"/>
              <a:t>License Management Services Homepage: </a:t>
            </a:r>
            <a:r>
              <a:rPr lang="en-US" dirty="0">
                <a:hlinkClick r:id="rId3"/>
              </a:rPr>
              <a:t>https://my.oracle.com/site/fin/gfo/GlobalProcesses/LMS/index.htm</a:t>
            </a:r>
            <a:endParaRPr lang="en-US" dirty="0"/>
          </a:p>
          <a:p>
            <a:pPr marL="171450" indent="-171450">
              <a:buFont typeface="Arial" panose="020B0604020202020204" pitchFamily="34" charset="0"/>
              <a:buChar char="•"/>
            </a:pPr>
            <a:r>
              <a:rPr lang="en-US" dirty="0"/>
              <a:t>Software Investment Advisor Homepage: </a:t>
            </a:r>
            <a:r>
              <a:rPr lang="en-US" dirty="0">
                <a:hlinkClick r:id="rId4"/>
              </a:rPr>
              <a:t>https://my.oracle.com/site/fin/gfo/SIA/index.html</a:t>
            </a:r>
            <a:endParaRPr lang="en-US"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08E823-96DC-4430-91CE-09AFABFC50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26610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my.oracle.com/site/fin/gfo/GlobalProcesses/LMS/index.htm" TargetMode="External"/><Relationship Id="rId3" Type="http://schemas.openxmlformats.org/officeDocument/2006/relationships/hyperlink" Target="https://my.oracle.com/site/fin/gfo/SIA/index.html" TargetMode="Externa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How to Use this Template">
    <p:bg>
      <p:bgPr>
        <a:solidFill>
          <a:schemeClr val="bg2"/>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059F47F-6DEF-B917-1507-E5FFAD84B913}"/>
              </a:ext>
            </a:extLst>
          </p:cNvPr>
          <p:cNvSpPr txBox="1"/>
          <p:nvPr userDrawn="1"/>
        </p:nvSpPr>
        <p:spPr>
          <a:xfrm>
            <a:off x="190501" y="1021424"/>
            <a:ext cx="7391398" cy="276999"/>
          </a:xfrm>
          <a:prstGeom prst="rect">
            <a:avLst/>
          </a:prstGeom>
          <a:noFill/>
        </p:spPr>
        <p:txBody>
          <a:bodyPr wrap="square" lIns="0" tIns="0" rIns="0" bIns="0" rtlCol="0">
            <a:spAutoFit/>
          </a:bodyPr>
          <a:lstStyle/>
          <a:p>
            <a:r>
              <a:rPr lang="en-US" b="1" dirty="0">
                <a:solidFill>
                  <a:srgbClr val="2C5967"/>
                </a:solidFill>
                <a:latin typeface="Oracle Sans Tab" panose="020B0503020204020204" pitchFamily="34" charset="0"/>
                <a:cs typeface="Oracle Sans Tab" panose="020B0503020204020204" pitchFamily="34" charset="0"/>
              </a:rPr>
              <a:t>Best Practices</a:t>
            </a:r>
          </a:p>
        </p:txBody>
      </p:sp>
      <p:sp>
        <p:nvSpPr>
          <p:cNvPr id="6" name="TextBox 5">
            <a:extLst>
              <a:ext uri="{FF2B5EF4-FFF2-40B4-BE49-F238E27FC236}">
                <a16:creationId xmlns:a16="http://schemas.microsoft.com/office/drawing/2014/main" id="{B441DECE-FA24-F40C-5172-4D877DF27D7B}"/>
              </a:ext>
            </a:extLst>
          </p:cNvPr>
          <p:cNvSpPr txBox="1"/>
          <p:nvPr userDrawn="1"/>
        </p:nvSpPr>
        <p:spPr>
          <a:xfrm>
            <a:off x="190500" y="1487374"/>
            <a:ext cx="7391399" cy="7699544"/>
          </a:xfrm>
          <a:prstGeom prst="rect">
            <a:avLst/>
          </a:prstGeom>
          <a:noFill/>
        </p:spPr>
        <p:txBody>
          <a:bodyPr wrap="square" lIns="0" rIns="0" rtlCol="0">
            <a:spAutoFit/>
          </a:bodyPr>
          <a:lstStyle/>
          <a:p>
            <a:pPr>
              <a:spcAft>
                <a:spcPts val="1000"/>
              </a:spcAft>
            </a:pPr>
            <a:r>
              <a:rPr lang="en-US" sz="1200" dirty="0">
                <a:latin typeface="Oracle Sans Tab" panose="020B0503020204020204" pitchFamily="34" charset="0"/>
                <a:cs typeface="Oracle Sans Tab" panose="020B0503020204020204" pitchFamily="34" charset="0"/>
              </a:rPr>
              <a:t>The Executive Briefing Document is required to qualify a meeting request both by the Oracle executive management teams and the CVC. This document provides pertinent and valuable insights detailing meeting objectives, current business condition, and strategy, along with any challenges. Providing complete and accurate information will create an effective and targeted meeting, fully addressing the Customer’s meeting objectives</a:t>
            </a:r>
            <a:endParaRPr lang="en-US" sz="1600" dirty="0">
              <a:latin typeface="Oracle Sans Tab" panose="020B0503020204020204" pitchFamily="34" charset="0"/>
              <a:cs typeface="Oracle Sans Tab" panose="020B0503020204020204" pitchFamily="34" charset="0"/>
            </a:endParaRPr>
          </a:p>
          <a:p>
            <a:pPr>
              <a:spcAft>
                <a:spcPts val="1000"/>
              </a:spcAft>
            </a:pPr>
            <a:endParaRPr lang="en-US" sz="1200" b="1" dirty="0">
              <a:latin typeface="Oracle Sans Tab" panose="020B0503020204020204" pitchFamily="34" charset="0"/>
              <a:cs typeface="Oracle Sans Tab" panose="020B0503020204020204" pitchFamily="34" charset="0"/>
            </a:endParaRPr>
          </a:p>
          <a:p>
            <a:pPr>
              <a:spcAft>
                <a:spcPts val="1000"/>
              </a:spcAft>
            </a:pPr>
            <a:r>
              <a:rPr lang="en-US" sz="1200" b="1" dirty="0">
                <a:latin typeface="Oracle Sans Tab" panose="020B0503020204020204" pitchFamily="34" charset="0"/>
                <a:cs typeface="Oracle Sans Tab" panose="020B0503020204020204" pitchFamily="34" charset="0"/>
              </a:rPr>
              <a:t>Best Practices:  Filling out the Document</a:t>
            </a:r>
          </a:p>
          <a:p>
            <a:pPr marL="176213" indent="-168275">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Please delete this page prior to submitting.</a:t>
            </a:r>
          </a:p>
          <a:p>
            <a:pPr marL="176213" indent="-168275">
              <a:spcAft>
                <a:spcPts val="1000"/>
              </a:spcAft>
              <a:buFont typeface="Arial" panose="020B0604020202020204" pitchFamily="34" charset="0"/>
              <a:buChar char="•"/>
            </a:pPr>
            <a:r>
              <a:rPr lang="en-US" sz="1200" b="1" dirty="0">
                <a:latin typeface="Oracle Sans Tab" panose="020B0503020204020204" pitchFamily="34" charset="0"/>
                <a:cs typeface="Oracle Sans Tab" panose="020B0503020204020204" pitchFamily="34" charset="0"/>
              </a:rPr>
              <a:t>Please submit this completed document with your engagement request. This document is required for all executive engagements.</a:t>
            </a:r>
          </a:p>
          <a:p>
            <a:pPr marL="176213" indent="-168275">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Make sure meeting objectives, business challenges, topics of interest, etc.  are concise.</a:t>
            </a:r>
          </a:p>
          <a:p>
            <a:pPr marL="176213" indent="-168275">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Provide the most up-to-date opportunity and product footprint info.</a:t>
            </a:r>
          </a:p>
          <a:p>
            <a:pPr marL="176213" indent="-168275">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Include customer reference proof points that are relevant to the customer’s transformation and industry.</a:t>
            </a:r>
          </a:p>
          <a:p>
            <a:pPr marL="7938">
              <a:spcAft>
                <a:spcPts val="1000"/>
              </a:spcAft>
            </a:pPr>
            <a:endParaRPr lang="en-US" sz="1200" b="1" dirty="0">
              <a:latin typeface="Oracle Sans Tab" panose="020B0503020204020204" pitchFamily="34" charset="0"/>
              <a:cs typeface="Oracle Sans Tab" panose="020B0503020204020204" pitchFamily="34" charset="0"/>
            </a:endParaRPr>
          </a:p>
          <a:p>
            <a:pPr marL="7938">
              <a:spcAft>
                <a:spcPts val="1000"/>
              </a:spcAft>
            </a:pPr>
            <a:r>
              <a:rPr lang="en-US" sz="1200" b="1" dirty="0">
                <a:latin typeface="Oracle Sans Tab" panose="020B0503020204020204" pitchFamily="34" charset="0"/>
                <a:cs typeface="Oracle Sans Tab" panose="020B0503020204020204" pitchFamily="34" charset="0"/>
              </a:rPr>
              <a:t>Best Practices:  Formatting the Document</a:t>
            </a:r>
            <a:endParaRPr lang="en-US" sz="1200" dirty="0">
              <a:latin typeface="Oracle Sans Tab" panose="020B0503020204020204" pitchFamily="34" charset="0"/>
              <a:cs typeface="Oracle Sans Tab" panose="020B0503020204020204" pitchFamily="34" charset="0"/>
            </a:endParaRPr>
          </a:p>
          <a:p>
            <a:pPr marL="171450" lvl="0"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If you do not need any of the additional spaces for your customer meeting, then delete any of the items you do not need.</a:t>
            </a:r>
          </a:p>
          <a:p>
            <a:pPr marL="171450" lvl="0"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Pasting text:</a:t>
            </a:r>
          </a:p>
          <a:p>
            <a:pPr marL="628650" lvl="1"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Right click on the field that you would like to paste text into. </a:t>
            </a:r>
          </a:p>
          <a:p>
            <a:pPr marL="628650" lvl="1"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Choose the option all the way on the right under paste – “Keep Text Only”. </a:t>
            </a:r>
          </a:p>
          <a:p>
            <a:pPr lvl="1">
              <a:spcAft>
                <a:spcPts val="1000"/>
              </a:spcAft>
            </a:pPr>
            <a:r>
              <a:rPr lang="en-US" sz="1200" dirty="0">
                <a:latin typeface="Oracle Sans Tab" panose="020B0503020204020204" pitchFamily="34" charset="0"/>
                <a:cs typeface="Oracle Sans Tab" panose="020B0503020204020204" pitchFamily="34" charset="0"/>
              </a:rPr>
              <a:t>    This will allow you to insert the text and keep the formatting in the table.</a:t>
            </a:r>
          </a:p>
          <a:p>
            <a:pPr marL="171450" lvl="0" indent="-171450">
              <a:spcAft>
                <a:spcPts val="1000"/>
              </a:spcAft>
              <a:buFont typeface="Arial" panose="020B0604020202020204" pitchFamily="34" charset="0"/>
              <a:buChar char="•"/>
            </a:pPr>
            <a:r>
              <a:rPr lang="en-US" sz="1200" b="1" dirty="0">
                <a:latin typeface="Oracle Sans Tab" panose="020B0503020204020204" pitchFamily="34" charset="0"/>
                <a:cs typeface="Oracle Sans Tab" panose="020B0503020204020204" pitchFamily="34" charset="0"/>
              </a:rPr>
              <a:t>The font type should be Oracle Sans throughout.</a:t>
            </a:r>
          </a:p>
          <a:p>
            <a:pPr lvl="0">
              <a:spcAft>
                <a:spcPts val="1000"/>
              </a:spcAft>
            </a:pPr>
            <a:endParaRPr lang="en-US" sz="1200" dirty="0">
              <a:latin typeface="Oracle Sans Tab" panose="020B0503020204020204" pitchFamily="34" charset="0"/>
              <a:cs typeface="Oracle Sans Tab" panose="020B0503020204020204" pitchFamily="34" charset="0"/>
            </a:endParaRPr>
          </a:p>
          <a:p>
            <a:pPr>
              <a:spcAft>
                <a:spcPts val="1000"/>
              </a:spcAft>
            </a:pPr>
            <a:r>
              <a:rPr lang="en-US" sz="1200" b="1" dirty="0">
                <a:latin typeface="Oracle Sans Tab" panose="020B0503020204020204" pitchFamily="34" charset="0"/>
                <a:cs typeface="Oracle Sans Tab" panose="020B0503020204020204" pitchFamily="34" charset="0"/>
              </a:rPr>
              <a:t>Additional information:</a:t>
            </a:r>
          </a:p>
          <a:p>
            <a:pPr marL="171450"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License Management Services Homepage: </a:t>
            </a:r>
            <a:r>
              <a:rPr lang="en-US" sz="1200" dirty="0">
                <a:latin typeface="Oracle Sans Tab" panose="020B0503020204020204" pitchFamily="34" charset="0"/>
                <a:cs typeface="Oracle Sans Tab" panose="020B0503020204020204" pitchFamily="34" charset="0"/>
                <a:hlinkClick r:id="rId2"/>
              </a:rPr>
              <a:t>https://my.oracle.com/site/fin/gfo/GlobalProcesses/LMS/index.htm</a:t>
            </a:r>
            <a:endParaRPr lang="en-US" sz="1200" dirty="0">
              <a:latin typeface="Oracle Sans Tab" panose="020B0503020204020204" pitchFamily="34" charset="0"/>
              <a:cs typeface="Oracle Sans Tab" panose="020B0503020204020204" pitchFamily="34" charset="0"/>
            </a:endParaRPr>
          </a:p>
          <a:p>
            <a:pPr marL="171450"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Software Investment Advisor Homepage: </a:t>
            </a:r>
            <a:r>
              <a:rPr lang="en-US" sz="1200" dirty="0">
                <a:latin typeface="Oracle Sans Tab" panose="020B0503020204020204" pitchFamily="34" charset="0"/>
                <a:cs typeface="Oracle Sans Tab" panose="020B0503020204020204" pitchFamily="34" charset="0"/>
                <a:hlinkClick r:id="rId3"/>
              </a:rPr>
              <a:t>https://my.oracle.com/site/fin/gfo/SIA/index.html</a:t>
            </a:r>
            <a:endParaRPr lang="en-US" sz="1200" dirty="0">
              <a:latin typeface="Oracle Sans Tab" panose="020B0503020204020204" pitchFamily="34" charset="0"/>
              <a:cs typeface="Oracle Sans Tab" panose="020B0503020204020204" pitchFamily="34" charset="0"/>
            </a:endParaRPr>
          </a:p>
        </p:txBody>
      </p:sp>
    </p:spTree>
    <p:extLst>
      <p:ext uri="{BB962C8B-B14F-4D97-AF65-F5344CB8AC3E}">
        <p14:creationId xmlns:p14="http://schemas.microsoft.com/office/powerpoint/2010/main" val="3099060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 Blank">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1113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E230FEE-C563-4D59-AC5A-2772635D4915}"/>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7206728" y="9674318"/>
            <a:ext cx="384082" cy="384082"/>
          </a:xfrm>
          <a:prstGeom prst="rect">
            <a:avLst/>
          </a:prstGeom>
        </p:spPr>
      </p:pic>
      <p:pic>
        <p:nvPicPr>
          <p:cNvPr id="8" name="Picture 7">
            <a:extLst>
              <a:ext uri="{FF2B5EF4-FFF2-40B4-BE49-F238E27FC236}">
                <a16:creationId xmlns:a16="http://schemas.microsoft.com/office/drawing/2014/main" id="{B3C71360-1220-3AAC-BF2E-BD55DF1DA28A}"/>
              </a:ext>
            </a:extLst>
          </p:cNvPr>
          <p:cNvPicPr>
            <a:picLocks noChangeAspect="1"/>
          </p:cNvPicPr>
          <p:nvPr userDrawn="1"/>
        </p:nvPicPr>
        <p:blipFill rotWithShape="1">
          <a:blip r:embed="rId5" cstate="email">
            <a:extLst>
              <a:ext uri="{28A0092B-C50C-407E-A947-70E740481C1C}">
                <a14:useLocalDpi xmlns:a14="http://schemas.microsoft.com/office/drawing/2010/main"/>
              </a:ext>
            </a:extLst>
          </a:blip>
          <a:srcRect/>
          <a:stretch/>
        </p:blipFill>
        <p:spPr>
          <a:xfrm>
            <a:off x="0" y="-1"/>
            <a:ext cx="7772400" cy="207193"/>
          </a:xfrm>
          <a:prstGeom prst="rect">
            <a:avLst/>
          </a:prstGeom>
        </p:spPr>
      </p:pic>
      <p:sp>
        <p:nvSpPr>
          <p:cNvPr id="4" name="TextBox 3">
            <a:extLst>
              <a:ext uri="{FF2B5EF4-FFF2-40B4-BE49-F238E27FC236}">
                <a16:creationId xmlns:a16="http://schemas.microsoft.com/office/drawing/2014/main" id="{F2E08B6F-149E-5F07-CF1D-93DCAB8C04E4}"/>
              </a:ext>
            </a:extLst>
          </p:cNvPr>
          <p:cNvSpPr txBox="1"/>
          <p:nvPr userDrawn="1"/>
        </p:nvSpPr>
        <p:spPr>
          <a:xfrm>
            <a:off x="179389" y="9674317"/>
            <a:ext cx="3758184" cy="169164"/>
          </a:xfrm>
          <a:prstGeom prst="rect">
            <a:avLst/>
          </a:prstGeom>
        </p:spPr>
        <p:txBody>
          <a:bodyPr vert="horz" lIns="0" tIns="0" rIns="0" bIns="0" rtlCol="0" anchor="b"/>
          <a:lstStyle>
            <a:defPPr>
              <a:defRPr lang="en-US"/>
            </a:defPPr>
            <a:lvl1pPr>
              <a:defRPr sz="900">
                <a:solidFill>
                  <a:srgbClr val="8B8580"/>
                </a:solidFill>
              </a:defRPr>
            </a:lvl1pPr>
          </a:lstStyle>
          <a:p>
            <a:pPr lvl="0"/>
            <a:r>
              <a:rPr lang="en-US" dirty="0"/>
              <a:t>Copyright © 2023, Oracle and/or its affiliates  |  Confidential: Restricted</a:t>
            </a:r>
          </a:p>
        </p:txBody>
      </p:sp>
      <p:sp>
        <p:nvSpPr>
          <p:cNvPr id="10" name="TextBox 9">
            <a:extLst>
              <a:ext uri="{FF2B5EF4-FFF2-40B4-BE49-F238E27FC236}">
                <a16:creationId xmlns:a16="http://schemas.microsoft.com/office/drawing/2014/main" id="{38071B4B-6207-75E4-E82D-26827A33F24D}"/>
              </a:ext>
            </a:extLst>
          </p:cNvPr>
          <p:cNvSpPr txBox="1"/>
          <p:nvPr userDrawn="1"/>
        </p:nvSpPr>
        <p:spPr>
          <a:xfrm>
            <a:off x="4084086" y="9674318"/>
            <a:ext cx="2502924" cy="169164"/>
          </a:xfrm>
          <a:prstGeom prst="rect">
            <a:avLst/>
          </a:prstGeom>
        </p:spPr>
        <p:txBody>
          <a:bodyPr vert="horz" lIns="0" tIns="0" rIns="0" bIns="0" rtlCol="0" anchor="b"/>
          <a:lstStyle>
            <a:defPPr>
              <a:defRPr lang="en-US"/>
            </a:defPPr>
            <a:lvl1pPr>
              <a:defRPr sz="900">
                <a:solidFill>
                  <a:srgbClr val="8B8580"/>
                </a:solidFill>
              </a:defRPr>
            </a:lvl1pPr>
          </a:lstStyle>
          <a:p>
            <a:pPr lvl="0"/>
            <a:fld id="{409578D9-D361-A046-B7E4-191350565D45}" type="datetime8">
              <a:rPr lang="en-US" smtClean="0"/>
              <a:t>6/13/23 3:47 PM</a:t>
            </a:fld>
            <a:endParaRPr lang="en-US" dirty="0"/>
          </a:p>
        </p:txBody>
      </p:sp>
      <p:sp>
        <p:nvSpPr>
          <p:cNvPr id="11" name="TextBox 10">
            <a:extLst>
              <a:ext uri="{FF2B5EF4-FFF2-40B4-BE49-F238E27FC236}">
                <a16:creationId xmlns:a16="http://schemas.microsoft.com/office/drawing/2014/main" id="{48732693-C342-472B-843E-82C1C4AE94D3}"/>
              </a:ext>
            </a:extLst>
          </p:cNvPr>
          <p:cNvSpPr txBox="1"/>
          <p:nvPr userDrawn="1"/>
        </p:nvSpPr>
        <p:spPr>
          <a:xfrm>
            <a:off x="179389" y="420034"/>
            <a:ext cx="5990406" cy="307777"/>
          </a:xfrm>
          <a:prstGeom prst="rect">
            <a:avLst/>
          </a:prstGeom>
          <a:noFill/>
        </p:spPr>
        <p:txBody>
          <a:bodyPr wrap="square" lIns="0" tIns="0" rIns="0" bIns="0" rtlCol="0">
            <a:spAutoFit/>
          </a:bodyPr>
          <a:lstStyle/>
          <a:p>
            <a:r>
              <a:rPr lang="en-US" sz="2000" i="1" dirty="0">
                <a:solidFill>
                  <a:srgbClr val="2C5967"/>
                </a:solidFill>
                <a:latin typeface="Oracle Sans" panose="020B0503020204020204" pitchFamily="34" charset="0"/>
                <a:cs typeface="Oracle Sans" panose="020B0503020204020204" pitchFamily="34" charset="0"/>
              </a:rPr>
              <a:t>Executive Briefing Document</a:t>
            </a:r>
          </a:p>
        </p:txBody>
      </p:sp>
      <p:pic>
        <p:nvPicPr>
          <p:cNvPr id="13" name="Picture 12">
            <a:extLst>
              <a:ext uri="{FF2B5EF4-FFF2-40B4-BE49-F238E27FC236}">
                <a16:creationId xmlns:a16="http://schemas.microsoft.com/office/drawing/2014/main" id="{1D1FE7FF-B443-2D54-49B0-FFADA3A41F17}"/>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6380503" y="421171"/>
            <a:ext cx="1210307" cy="338328"/>
          </a:xfrm>
          <a:prstGeom prst="rect">
            <a:avLst/>
          </a:prstGeom>
        </p:spPr>
      </p:pic>
    </p:spTree>
    <p:extLst>
      <p:ext uri="{BB962C8B-B14F-4D97-AF65-F5344CB8AC3E}">
        <p14:creationId xmlns:p14="http://schemas.microsoft.com/office/powerpoint/2010/main" val="2968834506"/>
      </p:ext>
    </p:extLst>
  </p:cSld>
  <p:clrMap bg1="lt1" tx1="dk1" bg2="lt2" tx2="dk2" accent1="accent1" accent2="accent2" accent3="accent3" accent4="accent4" accent5="accent5" accent6="accent6" hlink="hlink" folHlink="folHlink"/>
  <p:sldLayoutIdLst>
    <p:sldLayoutId id="2147483664" r:id="rId1"/>
    <p:sldLayoutId id="2147483665" r:id="rId2"/>
  </p:sldLayoutIdLst>
  <p:hf sldNum="0" hdr="0"/>
  <p:txStyles>
    <p:titleStyle>
      <a:lvl1pPr algn="l" defTabSz="195517" rtl="0" eaLnBrk="1" latinLnBrk="0" hangingPunct="1">
        <a:lnSpc>
          <a:spcPct val="95000"/>
        </a:lnSpc>
        <a:spcBef>
          <a:spcPct val="0"/>
        </a:spcBef>
        <a:buNone/>
        <a:defRPr sz="1642" kern="1200">
          <a:solidFill>
            <a:schemeClr val="tx1"/>
          </a:solidFill>
          <a:latin typeface="+mj-lt"/>
          <a:ea typeface="+mj-ea"/>
          <a:cs typeface="+mj-cs"/>
        </a:defRPr>
      </a:lvl1pPr>
    </p:titleStyle>
    <p:bodyStyle>
      <a:lvl1pPr marL="0" marR="0" indent="0" algn="l" defTabSz="195517" rtl="0" eaLnBrk="1" fontAlgn="auto" latinLnBrk="0" hangingPunct="1">
        <a:lnSpc>
          <a:spcPct val="95000"/>
        </a:lnSpc>
        <a:spcBef>
          <a:spcPts val="127"/>
        </a:spcBef>
        <a:spcAft>
          <a:spcPts val="0"/>
        </a:spcAft>
        <a:buClrTx/>
        <a:buSzTx/>
        <a:buFont typeface="System Font Regular"/>
        <a:buNone/>
        <a:tabLst/>
        <a:defRPr sz="821" b="0" i="0" kern="1200">
          <a:solidFill>
            <a:schemeClr val="tx1"/>
          </a:solidFill>
          <a:latin typeface="Oracle Sans" panose="020B0503020204020204" pitchFamily="34" charset="0"/>
          <a:ea typeface="+mn-ea"/>
          <a:cs typeface="Oracle Sans" panose="020B0503020204020204" pitchFamily="34" charset="0"/>
        </a:defRPr>
      </a:lvl1pPr>
      <a:lvl2pPr marL="78206" marR="0" indent="-39104" algn="l" defTabSz="195517" rtl="0" eaLnBrk="1" fontAlgn="auto" latinLnBrk="0" hangingPunct="1">
        <a:lnSpc>
          <a:spcPct val="95000"/>
        </a:lnSpc>
        <a:spcBef>
          <a:spcPts val="127"/>
        </a:spcBef>
        <a:spcAft>
          <a:spcPts val="0"/>
        </a:spcAft>
        <a:buClrTx/>
        <a:buSzPct val="100000"/>
        <a:buFont typeface="Arial" panose="020B0604020202020204" pitchFamily="34" charset="0"/>
        <a:buChar char="•"/>
        <a:tabLst/>
        <a:defRPr sz="821" b="0" i="0" kern="1200">
          <a:solidFill>
            <a:schemeClr val="tx1"/>
          </a:solidFill>
          <a:latin typeface="Oracle Sans" panose="020B0503020204020204" pitchFamily="34" charset="0"/>
          <a:ea typeface="+mn-ea"/>
          <a:cs typeface="Oracle Sans" panose="020B0503020204020204" pitchFamily="34" charset="0"/>
        </a:defRPr>
      </a:lvl2pPr>
      <a:lvl3pPr marL="156413" marR="0" indent="-39104" algn="l" defTabSz="195517" rtl="0" eaLnBrk="1" fontAlgn="auto" latinLnBrk="0" hangingPunct="1">
        <a:lnSpc>
          <a:spcPct val="95000"/>
        </a:lnSpc>
        <a:spcBef>
          <a:spcPts val="86"/>
        </a:spcBef>
        <a:spcAft>
          <a:spcPts val="0"/>
        </a:spcAft>
        <a:buClrTx/>
        <a:buSzPct val="120000"/>
        <a:buFont typeface="System Font Regular"/>
        <a:buChar char="-"/>
        <a:tabLst/>
        <a:defRPr sz="821" kern="1200">
          <a:solidFill>
            <a:schemeClr val="tx1"/>
          </a:solidFill>
          <a:latin typeface="Oracle Sans" panose="020B0503020204020204" pitchFamily="34" charset="0"/>
          <a:ea typeface="+mn-ea"/>
          <a:cs typeface="Oracle Sans" panose="020B0503020204020204" pitchFamily="34" charset="0"/>
        </a:defRPr>
      </a:lvl3pPr>
      <a:lvl4pPr marL="234621" marR="0" indent="-39104" algn="l" defTabSz="195517" rtl="0" eaLnBrk="1" fontAlgn="auto" latinLnBrk="0" hangingPunct="1">
        <a:lnSpc>
          <a:spcPct val="95000"/>
        </a:lnSpc>
        <a:spcBef>
          <a:spcPts val="86"/>
        </a:spcBef>
        <a:spcAft>
          <a:spcPts val="0"/>
        </a:spcAft>
        <a:buClrTx/>
        <a:buSzPct val="100000"/>
        <a:buFont typeface="System Font Regular"/>
        <a:buChar char="◦"/>
        <a:tabLst/>
        <a:defRPr sz="720" kern="1200">
          <a:solidFill>
            <a:schemeClr val="tx1"/>
          </a:solidFill>
          <a:latin typeface="Oracle Sans" panose="020B0503020204020204" pitchFamily="34" charset="0"/>
          <a:ea typeface="+mn-ea"/>
          <a:cs typeface="Oracle Sans" panose="020B0503020204020204" pitchFamily="34" charset="0"/>
        </a:defRPr>
      </a:lvl4pPr>
      <a:lvl5pPr marL="312828" marR="0" indent="-39104" algn="l" defTabSz="195517" rtl="0" eaLnBrk="1" fontAlgn="auto" latinLnBrk="0" hangingPunct="1">
        <a:lnSpc>
          <a:spcPct val="95000"/>
        </a:lnSpc>
        <a:spcBef>
          <a:spcPts val="86"/>
        </a:spcBef>
        <a:spcAft>
          <a:spcPts val="0"/>
        </a:spcAft>
        <a:buClrTx/>
        <a:buSzTx/>
        <a:buFont typeface="System Font Regular"/>
        <a:buChar char="•"/>
        <a:tabLst/>
        <a:defRPr sz="615" kern="1200">
          <a:solidFill>
            <a:schemeClr val="tx1"/>
          </a:solidFill>
          <a:latin typeface="Oracle Sans" panose="020B0503020204020204" pitchFamily="34" charset="0"/>
          <a:ea typeface="+mn-ea"/>
          <a:cs typeface="Oracle Sans" panose="020B0503020204020204" pitchFamily="34" charset="0"/>
        </a:defRPr>
      </a:lvl5pPr>
      <a:lvl6pPr marL="391034" indent="-39104" algn="l" defTabSz="195517" rtl="0" eaLnBrk="1" latinLnBrk="0" hangingPunct="1">
        <a:lnSpc>
          <a:spcPct val="95000"/>
        </a:lnSpc>
        <a:spcBef>
          <a:spcPts val="86"/>
        </a:spcBef>
        <a:spcAft>
          <a:spcPts val="0"/>
        </a:spcAft>
        <a:buSzPct val="120000"/>
        <a:buFont typeface="System Font Regular"/>
        <a:buChar char="-"/>
        <a:defRPr sz="615" b="0" i="0" kern="1200">
          <a:solidFill>
            <a:schemeClr val="tx1"/>
          </a:solidFill>
          <a:latin typeface="Oracle Sans" panose="020B0503020204020204" pitchFamily="34" charset="0"/>
          <a:ea typeface="+mn-ea"/>
          <a:cs typeface="Oracle Sans" panose="020B0503020204020204" pitchFamily="34" charset="0"/>
        </a:defRPr>
      </a:lvl6pPr>
      <a:lvl7pPr marL="469242" indent="-39104" algn="l" defTabSz="195517" rtl="0" eaLnBrk="1" latinLnBrk="0" hangingPunct="1">
        <a:lnSpc>
          <a:spcPct val="95000"/>
        </a:lnSpc>
        <a:spcBef>
          <a:spcPts val="86"/>
        </a:spcBef>
        <a:spcAft>
          <a:spcPts val="0"/>
        </a:spcAft>
        <a:buFont typeface="System Font Regular"/>
        <a:buChar char="◦"/>
        <a:defRPr sz="615" b="0" i="0" kern="1200">
          <a:solidFill>
            <a:schemeClr val="tx1"/>
          </a:solidFill>
          <a:latin typeface="Oracle Sans" panose="020B0503020204020204" pitchFamily="34" charset="0"/>
          <a:ea typeface="+mn-ea"/>
          <a:cs typeface="Oracle Sans" panose="020B0503020204020204" pitchFamily="34" charset="0"/>
        </a:defRPr>
      </a:lvl7pPr>
      <a:lvl8pPr marL="733189" indent="-48878" algn="l" defTabSz="195517" rtl="0" eaLnBrk="1" latinLnBrk="0" hangingPunct="1">
        <a:lnSpc>
          <a:spcPct val="90000"/>
        </a:lnSpc>
        <a:spcBef>
          <a:spcPts val="106"/>
        </a:spcBef>
        <a:buFont typeface="Arial" panose="020B0604020202020204" pitchFamily="34" charset="0"/>
        <a:buChar char="•"/>
        <a:defRPr sz="386" kern="1200">
          <a:solidFill>
            <a:schemeClr val="tx1"/>
          </a:solidFill>
          <a:latin typeface="+mn-lt"/>
          <a:ea typeface="+mn-ea"/>
          <a:cs typeface="+mn-cs"/>
        </a:defRPr>
      </a:lvl8pPr>
      <a:lvl9pPr marL="830950" indent="-48878" algn="l" defTabSz="195517" rtl="0" eaLnBrk="1" latinLnBrk="0" hangingPunct="1">
        <a:lnSpc>
          <a:spcPct val="90000"/>
        </a:lnSpc>
        <a:spcBef>
          <a:spcPts val="106"/>
        </a:spcBef>
        <a:buFont typeface="Arial" panose="020B0604020202020204" pitchFamily="34" charset="0"/>
        <a:buChar char="•"/>
        <a:defRPr sz="386" kern="1200">
          <a:solidFill>
            <a:schemeClr val="tx1"/>
          </a:solidFill>
          <a:latin typeface="+mn-lt"/>
          <a:ea typeface="+mn-ea"/>
          <a:cs typeface="+mn-cs"/>
        </a:defRPr>
      </a:lvl9pPr>
    </p:bodyStyle>
    <p:otherStyle>
      <a:defPPr>
        <a:defRPr lang="en-US"/>
      </a:defPPr>
      <a:lvl1pPr marL="0" algn="l" defTabSz="195517" rtl="0" eaLnBrk="1" latinLnBrk="0" hangingPunct="1">
        <a:defRPr sz="386" kern="1200">
          <a:solidFill>
            <a:schemeClr val="tx1"/>
          </a:solidFill>
          <a:latin typeface="+mn-lt"/>
          <a:ea typeface="+mn-ea"/>
          <a:cs typeface="+mn-cs"/>
        </a:defRPr>
      </a:lvl1pPr>
      <a:lvl2pPr marL="97760" algn="l" defTabSz="195517" rtl="0" eaLnBrk="1" latinLnBrk="0" hangingPunct="1">
        <a:defRPr sz="386" kern="1200">
          <a:solidFill>
            <a:schemeClr val="tx1"/>
          </a:solidFill>
          <a:latin typeface="+mn-lt"/>
          <a:ea typeface="+mn-ea"/>
          <a:cs typeface="+mn-cs"/>
        </a:defRPr>
      </a:lvl2pPr>
      <a:lvl3pPr marL="195517" algn="l" defTabSz="195517" rtl="0" eaLnBrk="1" latinLnBrk="0" hangingPunct="1">
        <a:defRPr sz="386" kern="1200">
          <a:solidFill>
            <a:schemeClr val="tx1"/>
          </a:solidFill>
          <a:latin typeface="+mn-lt"/>
          <a:ea typeface="+mn-ea"/>
          <a:cs typeface="+mn-cs"/>
        </a:defRPr>
      </a:lvl3pPr>
      <a:lvl4pPr marL="293276" algn="l" defTabSz="195517" rtl="0" eaLnBrk="1" latinLnBrk="0" hangingPunct="1">
        <a:defRPr sz="386" kern="1200">
          <a:solidFill>
            <a:schemeClr val="tx1"/>
          </a:solidFill>
          <a:latin typeface="+mn-lt"/>
          <a:ea typeface="+mn-ea"/>
          <a:cs typeface="+mn-cs"/>
        </a:defRPr>
      </a:lvl4pPr>
      <a:lvl5pPr marL="391034" algn="l" defTabSz="195517" rtl="0" eaLnBrk="1" latinLnBrk="0" hangingPunct="1">
        <a:defRPr sz="386" kern="1200">
          <a:solidFill>
            <a:schemeClr val="tx1"/>
          </a:solidFill>
          <a:latin typeface="+mn-lt"/>
          <a:ea typeface="+mn-ea"/>
          <a:cs typeface="+mn-cs"/>
        </a:defRPr>
      </a:lvl5pPr>
      <a:lvl6pPr marL="488794" algn="l" defTabSz="195517" rtl="0" eaLnBrk="1" latinLnBrk="0" hangingPunct="1">
        <a:defRPr sz="386" kern="1200">
          <a:solidFill>
            <a:schemeClr val="tx1"/>
          </a:solidFill>
          <a:latin typeface="+mn-lt"/>
          <a:ea typeface="+mn-ea"/>
          <a:cs typeface="+mn-cs"/>
        </a:defRPr>
      </a:lvl6pPr>
      <a:lvl7pPr marL="586551" algn="l" defTabSz="195517" rtl="0" eaLnBrk="1" latinLnBrk="0" hangingPunct="1">
        <a:defRPr sz="386" kern="1200">
          <a:solidFill>
            <a:schemeClr val="tx1"/>
          </a:solidFill>
          <a:latin typeface="+mn-lt"/>
          <a:ea typeface="+mn-ea"/>
          <a:cs typeface="+mn-cs"/>
        </a:defRPr>
      </a:lvl7pPr>
      <a:lvl8pPr marL="684312" algn="l" defTabSz="195517" rtl="0" eaLnBrk="1" latinLnBrk="0" hangingPunct="1">
        <a:defRPr sz="386" kern="1200">
          <a:solidFill>
            <a:schemeClr val="tx1"/>
          </a:solidFill>
          <a:latin typeface="+mn-lt"/>
          <a:ea typeface="+mn-ea"/>
          <a:cs typeface="+mn-cs"/>
        </a:defRPr>
      </a:lvl8pPr>
      <a:lvl9pPr marL="782070" algn="l" defTabSz="195517" rtl="0" eaLnBrk="1" latinLnBrk="0" hangingPunct="1">
        <a:defRPr sz="386"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20">
          <p15:clr>
            <a:srgbClr val="F26B43"/>
          </p15:clr>
        </p15:guide>
        <p15:guide id="2" orient="horz" pos="6192">
          <p15:clr>
            <a:srgbClr val="F26B43"/>
          </p15:clr>
        </p15:guide>
        <p15:guide id="3" pos="4776">
          <p15:clr>
            <a:srgbClr val="F26B43"/>
          </p15:clr>
        </p15:guide>
        <p15:guide id="4" orient="horz" pos="115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hyperlink" Target="https://mysites.oracle.com/cvc-global/" TargetMode="External"/><Relationship Id="rId4" Type="http://schemas.openxmlformats.org/officeDocument/2006/relationships/hyperlink" Target="https://oradocs-prodapp.cec.ocp.oraclecloud.com/documents/link/LDCC9DE792D6004DAD456BD977D95D9E3232DD4D0809/fileview/D03EB05CA79A7B4EB2C5ADFA783F488ACA8DD28E0700/_Designing_the_Interaction_Capture_Process_Manual_Lite_v1.0_(Lite_Beta).pdf" TargetMode="External"/><Relationship Id="rId5" Type="http://schemas.openxmlformats.org/officeDocument/2006/relationships/hyperlink" Target="https://mysites.oracle.com/license-compliance/" TargetMode="External"/><Relationship Id="rId6" Type="http://schemas.openxmlformats.org/officeDocument/2006/relationships/hyperlink" Target="https://mysites.oracle.com/SIA-Companywide/"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mysites.oracle.com/license-compliance/" TargetMode="External"/><Relationship Id="rId4" Type="http://schemas.openxmlformats.org/officeDocument/2006/relationships/hyperlink" Target="https://mysites.oracle.com/SIA-Companywide/" TargetMode="External"/><Relationship Id="rId5" Type="http://schemas.openxmlformats.org/officeDocument/2006/relationships/customXml" Target="../ink/ink1.xml"/><Relationship Id="rId6" Type="http://schemas.openxmlformats.org/officeDocument/2006/relationships/image" Target="../media/image5.png"/><Relationship Id="rId7" Type="http://schemas.openxmlformats.org/officeDocument/2006/relationships/customXml" Target="../ink/ink2.xml"/><Relationship Id="rId8"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14CCB44F-7E3E-2F3E-1EF4-1BEC0ECB3A5C}"/>
              </a:ext>
            </a:extLst>
          </p:cNvPr>
          <p:cNvSpPr txBox="1"/>
          <p:nvPr/>
        </p:nvSpPr>
        <p:spPr>
          <a:xfrm>
            <a:off x="268925" y="959370"/>
            <a:ext cx="7255571" cy="6668492"/>
          </a:xfrm>
          <a:prstGeom prst="rect">
            <a:avLst/>
          </a:prstGeom>
          <a:noFill/>
        </p:spPr>
        <p:txBody>
          <a:bodyPr wrap="square" rtlCol="0">
            <a:spAutoFit/>
          </a:bodyPr>
          <a:lstStyle/>
          <a:p>
            <a:r>
              <a:rPr lang="en-US" sz="1400" i="1" dirty="0">
                <a:cs typeface="Oracle Sans" panose="020B0503020204020204" pitchFamily="34" charset="0"/>
              </a:rPr>
              <a:t>Best Practices</a:t>
            </a:r>
          </a:p>
          <a:p>
            <a:endParaRPr lang="en-US" sz="1000" dirty="0">
              <a:cs typeface="Oracle Sans" panose="020B0503020204020204" pitchFamily="34" charset="0"/>
            </a:endParaRPr>
          </a:p>
          <a:p>
            <a:r>
              <a:rPr lang="en-US" sz="1000" dirty="0">
                <a:cs typeface="Oracle Sans" panose="020B0503020204020204" pitchFamily="34" charset="0"/>
              </a:rPr>
              <a:t>The Executive Briefing Document (EBD) is required to qualify a meeting request both by the Oracle executive management teams and the </a:t>
            </a:r>
            <a:r>
              <a:rPr lang="en-US" sz="1000" dirty="0">
                <a:cs typeface="Oracle Sans" panose="020B0503020204020204" pitchFamily="34" charset="0"/>
                <a:hlinkClick r:id="rId3"/>
              </a:rPr>
              <a:t>Executive Briefing Center</a:t>
            </a:r>
            <a:r>
              <a:rPr lang="en-US" sz="1000" dirty="0">
                <a:cs typeface="Oracle Sans" panose="020B0503020204020204" pitchFamily="34" charset="0"/>
              </a:rPr>
              <a:t> (EBC). This document provides pertinent and valuable insights detailing meeting objectives and desired outcomes, current business condition, and strategy, along with any challenges. Providing complete and accurate information will create an effective and targeted meeting, fully addressing the customer’s meeting objectives.</a:t>
            </a:r>
            <a:endParaRPr lang="en-US" sz="1000" dirty="0"/>
          </a:p>
          <a:p>
            <a:endParaRPr lang="en-US" sz="1000" dirty="0"/>
          </a:p>
          <a:p>
            <a:r>
              <a:rPr lang="en-US" sz="1000" b="1" dirty="0"/>
              <a:t>Best practices prior to, during, and post-EBD submission:</a:t>
            </a:r>
          </a:p>
          <a:p>
            <a:pPr marL="171450" indent="-171450">
              <a:buFont typeface="Arial" panose="020B0604020202020204" pitchFamily="34" charset="0"/>
              <a:buChar char="•"/>
            </a:pPr>
            <a:r>
              <a:rPr lang="en-US" sz="1000" dirty="0"/>
              <a:t>Delete this page prior to submitting</a:t>
            </a:r>
          </a:p>
          <a:p>
            <a:pPr marL="171450" indent="-171450">
              <a:buFont typeface="Arial" panose="020B0604020202020204" pitchFamily="34" charset="0"/>
              <a:buChar char="•"/>
            </a:pPr>
            <a:r>
              <a:rPr lang="en-US" sz="1000" dirty="0"/>
              <a:t>Please submit this completed document with your engagement request; this document is required for all executive engagements</a:t>
            </a:r>
          </a:p>
          <a:p>
            <a:pPr marL="171450" indent="-171450">
              <a:buFont typeface="Arial" panose="020B0604020202020204" pitchFamily="34" charset="0"/>
              <a:buChar char="•"/>
            </a:pPr>
            <a:r>
              <a:rPr lang="en-US" sz="1000" dirty="0"/>
              <a:t>Be sure to get the client’s perspective on their objectives for the engagement and their key talking points for discussion </a:t>
            </a:r>
          </a:p>
          <a:p>
            <a:pPr marL="171450" lvl="0" indent="-171450">
              <a:buSzPts val="900"/>
              <a:buFont typeface="Arial" panose="020B0604020202020204" pitchFamily="34" charset="0"/>
              <a:buChar char="•"/>
            </a:pPr>
            <a:r>
              <a:rPr lang="en-GB" sz="1000" dirty="0"/>
              <a:t>Host a 30-minute briefing call for the Oracle participants who will be attending the client engagement</a:t>
            </a:r>
          </a:p>
          <a:p>
            <a:pPr marL="171450" lvl="0" indent="-171450">
              <a:buSzPts val="900"/>
              <a:buFont typeface="Arial" panose="020B0604020202020204" pitchFamily="34" charset="0"/>
              <a:buChar char="•"/>
            </a:pPr>
            <a:r>
              <a:rPr lang="en-GB" sz="1000" dirty="0"/>
              <a:t>If Oracle is hosting the virtual meeting, please review the “Zoom checklist” below</a:t>
            </a:r>
          </a:p>
          <a:p>
            <a:pPr marL="171450" lvl="0" indent="-171450">
              <a:buSzPts val="900"/>
              <a:buFont typeface="Arial" panose="020B0604020202020204" pitchFamily="34" charset="0"/>
              <a:buChar char="•"/>
            </a:pPr>
            <a:r>
              <a:rPr lang="en-GB" sz="1000" dirty="0"/>
              <a:t>After the engagement, host a 15-minute call for Oracle participants and executive(s) to reflect on the engagement and the agreed-upon actions </a:t>
            </a:r>
          </a:p>
          <a:p>
            <a:pPr marL="171450" lvl="0" indent="-171450">
              <a:buSzPts val="900"/>
              <a:buFont typeface="Arial" panose="020B0604020202020204" pitchFamily="34" charset="0"/>
              <a:buChar char="•"/>
            </a:pPr>
            <a:r>
              <a:rPr lang="en-GB" sz="1000" dirty="0"/>
              <a:t>Follow up with your client with a thank you email recapping takeaways and next steps; deliver on the agreed upon actions</a:t>
            </a:r>
          </a:p>
          <a:p>
            <a:pPr lvl="0">
              <a:buSzPts val="900"/>
            </a:pPr>
            <a:endParaRPr lang="en-GB" sz="1000" dirty="0">
              <a:solidFill>
                <a:srgbClr val="312D2A"/>
              </a:solidFill>
              <a:latin typeface="Oracle Sans" panose="020B0503020204020204" pitchFamily="34" charset="0"/>
              <a:ea typeface="Times New Roman" panose="02020603050405020304" pitchFamily="18" charset="0"/>
              <a:cs typeface="Oracle Sans" panose="020B0503020204020204" pitchFamily="34" charset="0"/>
            </a:endParaRPr>
          </a:p>
          <a:p>
            <a:pPr marL="171450" lvl="0" indent="-171450">
              <a:spcAft>
                <a:spcPts val="400"/>
              </a:spcAft>
              <a:buSzPts val="900"/>
              <a:buFont typeface="Arial" panose="020B0604020202020204" pitchFamily="34" charset="0"/>
              <a:buChar char="•"/>
            </a:pPr>
            <a:r>
              <a:rPr lang="en-GB" sz="1000" dirty="0">
                <a:solidFill>
                  <a:srgbClr val="312D2A"/>
                </a:solidFill>
                <a:effectLst/>
                <a:latin typeface="Oracle Sans" panose="020B0503020204020204" pitchFamily="34" charset="0"/>
                <a:ea typeface="Oracle Sans" panose="020B0503020204020204" pitchFamily="34" charset="0"/>
                <a:cs typeface="Oracle Sans" panose="020B0503020204020204" pitchFamily="34" charset="0"/>
              </a:rPr>
              <a:t>Use the </a:t>
            </a:r>
            <a:r>
              <a:rPr lang="en-GB" sz="1000" dirty="0">
                <a:solidFill>
                  <a:srgbClr val="312D2A"/>
                </a:solidFill>
                <a:latin typeface="Oracle Sans" panose="020B0503020204020204" pitchFamily="34" charset="0"/>
                <a:ea typeface="Oracle Sans" panose="020B0503020204020204" pitchFamily="34" charset="0"/>
                <a:cs typeface="Oracle Sans" panose="020B0503020204020204" pitchFamily="34" charset="0"/>
                <a:hlinkClick r:id="rId4"/>
              </a:rPr>
              <a:t>Designing the Interaction</a:t>
            </a:r>
            <a:r>
              <a:rPr lang="en-GB" sz="1000" dirty="0">
                <a:solidFill>
                  <a:srgbClr val="312D2A"/>
                </a:solidFill>
                <a:latin typeface="Oracle Sans" panose="020B0503020204020204" pitchFamily="34" charset="0"/>
                <a:ea typeface="Oracle Sans" panose="020B0503020204020204" pitchFamily="34" charset="0"/>
                <a:cs typeface="Oracle Sans" panose="020B0503020204020204" pitchFamily="34" charset="0"/>
              </a:rPr>
              <a:t> </a:t>
            </a:r>
            <a:r>
              <a:rPr lang="en-GB" sz="1000" dirty="0">
                <a:solidFill>
                  <a:srgbClr val="312D2A"/>
                </a:solidFill>
                <a:effectLst/>
                <a:latin typeface="Oracle Sans" panose="020B0503020204020204" pitchFamily="34" charset="0"/>
                <a:ea typeface="Oracle Sans" panose="020B0503020204020204" pitchFamily="34" charset="0"/>
                <a:cs typeface="Oracle Sans" panose="020B0503020204020204" pitchFamily="34" charset="0"/>
              </a:rPr>
              <a:t>self-paced guide to support you in completing the </a:t>
            </a:r>
            <a:r>
              <a:rPr lang="en-GB" sz="1000" dirty="0">
                <a:solidFill>
                  <a:srgbClr val="312D2A"/>
                </a:solidFill>
                <a:latin typeface="Oracle Sans" panose="020B0503020204020204" pitchFamily="34" charset="0"/>
                <a:ea typeface="Oracle Sans" panose="020B0503020204020204" pitchFamily="34" charset="0"/>
                <a:cs typeface="Oracle Sans" panose="020B0503020204020204" pitchFamily="34" charset="0"/>
              </a:rPr>
              <a:t>EBD</a:t>
            </a:r>
            <a:endParaRPr lang="en-GB" sz="1000" dirty="0">
              <a:effectLst/>
              <a:latin typeface="Oracle Sans" panose="020B0503020204020204" pitchFamily="34" charset="0"/>
              <a:ea typeface="Times New Roman" panose="02020603050405020304" pitchFamily="18" charset="0"/>
              <a:cs typeface="Oracle Sans" panose="020B0503020204020204" pitchFamily="34" charset="0"/>
            </a:endParaRPr>
          </a:p>
          <a:p>
            <a:pPr>
              <a:spcBef>
                <a:spcPts val="1200"/>
              </a:spcBef>
            </a:pPr>
            <a:r>
              <a:rPr lang="en-GB" sz="1000" b="1" kern="0" dirty="0">
                <a:effectLst/>
                <a:latin typeface="Oracle Sans" panose="020B0503020204020204" pitchFamily="34" charset="0"/>
                <a:cs typeface="Oracle Sans" panose="020B0503020204020204" pitchFamily="34" charset="0"/>
              </a:rPr>
              <a:t>Zoom checklist: </a:t>
            </a:r>
          </a:p>
          <a:p>
            <a:pPr marL="171450" lvl="0" indent="-171450">
              <a:buFont typeface="Arial" panose="020B0604020202020204" pitchFamily="34" charset="0"/>
              <a:buChar char="•"/>
            </a:pPr>
            <a:r>
              <a:rPr lang="en-GB" sz="1000" dirty="0"/>
              <a:t>Share agenda with assigned speakers</a:t>
            </a:r>
          </a:p>
          <a:p>
            <a:pPr marL="171450" lvl="0" indent="-171450">
              <a:buFont typeface="Arial" panose="020B0604020202020204" pitchFamily="34" charset="0"/>
              <a:buChar char="•"/>
            </a:pPr>
            <a:r>
              <a:rPr lang="en-GB" sz="1000" dirty="0"/>
              <a:t>Nominate a backup meeting facilitator</a:t>
            </a:r>
          </a:p>
          <a:p>
            <a:pPr marL="171450" lvl="0" indent="-171450">
              <a:buFont typeface="Arial" panose="020B0604020202020204" pitchFamily="34" charset="0"/>
              <a:buChar char="•"/>
            </a:pPr>
            <a:r>
              <a:rPr lang="en-GB" sz="1000" dirty="0"/>
              <a:t>Share slides in advance with backup facilitator</a:t>
            </a:r>
          </a:p>
          <a:p>
            <a:pPr marL="171450" lvl="0" indent="-171450">
              <a:buFont typeface="Arial" panose="020B0604020202020204" pitchFamily="34" charset="0"/>
              <a:buChar char="•"/>
            </a:pPr>
            <a:r>
              <a:rPr lang="en-GB" sz="1000" dirty="0"/>
              <a:t>Share slides in advance or pre-read with customer, if appropriate</a:t>
            </a:r>
          </a:p>
          <a:p>
            <a:pPr marL="171450" lvl="0" indent="-171450">
              <a:buFont typeface="Arial" panose="020B0604020202020204" pitchFamily="34" charset="0"/>
              <a:buChar char="•"/>
            </a:pPr>
            <a:r>
              <a:rPr lang="en-GB" sz="1000" dirty="0"/>
              <a:t>Enable “Waiting Room” functionality</a:t>
            </a:r>
          </a:p>
          <a:p>
            <a:pPr marL="171450" lvl="0" indent="-171450">
              <a:buFont typeface="Arial" panose="020B0604020202020204" pitchFamily="34" charset="0"/>
              <a:buChar char="•"/>
            </a:pPr>
            <a:r>
              <a:rPr lang="en-GB" sz="1000" dirty="0"/>
              <a:t>Have Zoom application available on your mobile device, as a backup</a:t>
            </a:r>
          </a:p>
          <a:p>
            <a:pPr marL="7938"/>
            <a:endParaRPr lang="en-US" sz="1000" dirty="0"/>
          </a:p>
          <a:p>
            <a:pPr marL="0" indent="0">
              <a:buFont typeface="Arial" panose="020B0604020202020204" pitchFamily="34" charset="0"/>
              <a:buNone/>
            </a:pPr>
            <a:r>
              <a:rPr lang="en-US" sz="1000" b="1" dirty="0"/>
              <a:t>Instructions and tips for template use:</a:t>
            </a:r>
          </a:p>
          <a:p>
            <a:pPr marL="171450" indent="-171450">
              <a:buFont typeface="Arial" panose="020B0604020202020204" pitchFamily="34" charset="0"/>
              <a:buChar char="•"/>
            </a:pPr>
            <a:r>
              <a:rPr lang="en-US" sz="1000" dirty="0"/>
              <a:t>To insert the logo for the company, pick the logo shape that best fits their logo (delete the one that does not) and then right click on the image, select “change picture,” then select “from a file,” and choose the customer’s logo that you have saved on your computer</a:t>
            </a:r>
          </a:p>
          <a:p>
            <a:pPr marL="171450" indent="-171450">
              <a:buFont typeface="Arial" panose="020B0604020202020204" pitchFamily="34" charset="0"/>
              <a:buChar char="•"/>
            </a:pPr>
            <a:r>
              <a:rPr lang="en-US" sz="1000" dirty="0"/>
              <a:t>Replace customer images with photos of the customer attendees who will be in the meeting; follow the same process as above, right clicking on the image, clicking “change picture,” and selecting from a file on your computer</a:t>
            </a:r>
          </a:p>
          <a:p>
            <a:pPr marL="171450" indent="-171450">
              <a:buFont typeface="Arial" panose="020B0604020202020204" pitchFamily="34" charset="0"/>
              <a:buChar char="•"/>
            </a:pPr>
            <a:r>
              <a:rPr lang="en-US" sz="1000" dirty="0"/>
              <a:t>When pasting in text, right click on the field that you would like to paste the text into; choose “keep text only” to keep the formatting of the table</a:t>
            </a:r>
          </a:p>
          <a:p>
            <a:pPr marL="171450" indent="-171450">
              <a:buFont typeface="Arial" panose="020B0604020202020204" pitchFamily="34" charset="0"/>
              <a:buChar char="•"/>
            </a:pPr>
            <a:r>
              <a:rPr lang="en-US" sz="1000" dirty="0"/>
              <a:t>Ensure Oracle Sans font is used throughout the document</a:t>
            </a:r>
          </a:p>
          <a:p>
            <a:endParaRPr lang="en-US" sz="1000" dirty="0"/>
          </a:p>
          <a:p>
            <a:r>
              <a:rPr lang="en-US" sz="1000" b="1" dirty="0"/>
              <a:t>Additional information:</a:t>
            </a:r>
          </a:p>
          <a:p>
            <a:pPr marL="171450" indent="-171450">
              <a:buFont typeface="Arial" panose="020B0604020202020204" pitchFamily="34" charset="0"/>
              <a:buChar char="•"/>
            </a:pPr>
            <a:r>
              <a:rPr lang="en-US" sz="1000" dirty="0"/>
              <a:t>License Management Services (LMS) Homepage: </a:t>
            </a:r>
            <a:r>
              <a:rPr lang="en-US" sz="1000" dirty="0">
                <a:hlinkClick r:id="rId5"/>
              </a:rPr>
              <a:t>https://mysites.oracle.com/license-compliance/</a:t>
            </a:r>
            <a:endParaRPr lang="en-US" sz="1000" dirty="0"/>
          </a:p>
          <a:p>
            <a:pPr marL="171450" indent="-171450">
              <a:buFont typeface="Arial" panose="020B0604020202020204" pitchFamily="34" charset="0"/>
              <a:buChar char="•"/>
            </a:pPr>
            <a:r>
              <a:rPr lang="en-US" sz="1000" dirty="0"/>
              <a:t>Software Investment Advisor (SIA) Homepage: </a:t>
            </a:r>
            <a:r>
              <a:rPr lang="en-US" sz="1000" dirty="0">
                <a:hlinkClick r:id="rId6"/>
              </a:rPr>
              <a:t>https://mysites.oracle.com/SIA-Companywide/</a:t>
            </a:r>
            <a:r>
              <a:rPr lang="en-US" sz="1000" dirty="0"/>
              <a:t> </a:t>
            </a:r>
          </a:p>
        </p:txBody>
      </p:sp>
    </p:spTree>
    <p:extLst>
      <p:ext uri="{BB962C8B-B14F-4D97-AF65-F5344CB8AC3E}">
        <p14:creationId xmlns:p14="http://schemas.microsoft.com/office/powerpoint/2010/main" val="1928897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Table 19">
            <a:extLst>
              <a:ext uri="{FF2B5EF4-FFF2-40B4-BE49-F238E27FC236}">
                <a16:creationId xmlns:a16="http://schemas.microsoft.com/office/drawing/2014/main" id="{BC585F01-6A6E-82E2-6550-17314EBCD64A}"/>
              </a:ext>
            </a:extLst>
          </p:cNvPr>
          <p:cNvGraphicFramePr>
            <a:graphicFrameLocks noGrp="1"/>
          </p:cNvGraphicFramePr>
          <p:nvPr>
            <p:extLst>
              <p:ext uri="{D42A27DB-BD31-4B8C-83A1-F6EECF244321}">
                <p14:modId xmlns:p14="http://schemas.microsoft.com/office/powerpoint/2010/main" val="2126370258"/>
              </p:ext>
            </p:extLst>
          </p:nvPr>
        </p:nvGraphicFramePr>
        <p:xfrm>
          <a:off x="111653" y="814360"/>
          <a:ext cx="7549094" cy="8429680"/>
        </p:xfrm>
        <a:graphic>
          <a:graphicData uri="http://schemas.openxmlformats.org/drawingml/2006/table">
            <a:tbl>
              <a:tblPr firstRow="1" bandRow="1">
                <a:tableStyleId>{2D5ABB26-0587-4C30-8999-92F81FD0307C}</a:tableStyleId>
              </a:tblPr>
              <a:tblGrid>
                <a:gridCol w="1774091">
                  <a:extLst>
                    <a:ext uri="{9D8B030D-6E8A-4147-A177-3AD203B41FA5}">
                      <a16:colId xmlns:a16="http://schemas.microsoft.com/office/drawing/2014/main" val="291925485"/>
                    </a:ext>
                  </a:extLst>
                </a:gridCol>
                <a:gridCol w="923942">
                  <a:extLst>
                    <a:ext uri="{9D8B030D-6E8A-4147-A177-3AD203B41FA5}">
                      <a16:colId xmlns:a16="http://schemas.microsoft.com/office/drawing/2014/main" val="4243254253"/>
                    </a:ext>
                  </a:extLst>
                </a:gridCol>
                <a:gridCol w="1957667">
                  <a:extLst>
                    <a:ext uri="{9D8B030D-6E8A-4147-A177-3AD203B41FA5}">
                      <a16:colId xmlns:a16="http://schemas.microsoft.com/office/drawing/2014/main" val="869386441"/>
                    </a:ext>
                  </a:extLst>
                </a:gridCol>
                <a:gridCol w="2893394">
                  <a:extLst>
                    <a:ext uri="{9D8B030D-6E8A-4147-A177-3AD203B41FA5}">
                      <a16:colId xmlns:a16="http://schemas.microsoft.com/office/drawing/2014/main" val="3713650747"/>
                    </a:ext>
                  </a:extLst>
                </a:gridCol>
              </a:tblGrid>
              <a:tr h="859369">
                <a:tc gridSpan="2">
                  <a:txBody>
                    <a:bodyPr/>
                    <a:lstStyle/>
                    <a:p>
                      <a:r>
                        <a:t>Apple</a:t>
                      </a:r>
                    </a:p>
                  </a:txBody>
                  <a:tcPr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gridSpan="2">
                  <a:txBody>
                    <a:bodyPr/>
                    <a:lstStyle/>
                    <a:p>
                      <a:r>
                        <a:t>Not For Profit</a:t>
                      </a:r>
                    </a:p>
                  </a:txBody>
                  <a:tcPr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sz="900" dirty="0">
                        <a:solidFill>
                          <a:schemeClr val="tx1"/>
                        </a:solidFill>
                        <a:latin typeface="+mn-lt"/>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86691244"/>
                  </a:ext>
                </a:extLst>
              </a:tr>
              <a:tr h="274320">
                <a:tc rowSpan="3" gridSpan="2">
                  <a:txBody>
                    <a:bodyPr/>
                    <a:lstStyle/>
                    <a:p>
                      <a:r>
                        <a:t>One Apple Park Way, Cupertino, CA 95014</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hMerge="1">
                  <a:txBody>
                    <a:bodyPr/>
                    <a:lstStyle/>
                    <a:p>
                      <a:endParaRPr lang="en-US" sz="900" dirty="0">
                        <a:solidFill>
                          <a:schemeClr val="tx1"/>
                        </a:solidFill>
                        <a:latin typeface="+mn-lt"/>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tcPr>
                </a:tc>
                <a:tc>
                  <a:txBody>
                    <a:bodyPr/>
                    <a:lstStyle/>
                    <a:p>
                      <a:pPr algn="r"/>
                      <a:r>
                        <a:rPr lang="en-US" sz="900" b="1" dirty="0">
                          <a:solidFill>
                            <a:srgbClr val="2C5967"/>
                          </a:solidFill>
                        </a:rPr>
                        <a:t>Meeting Date/Time</a:t>
                      </a:r>
                      <a:endParaRPr lang="en-US" dirty="0"/>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January 20, 2026 | 10:00 AM - 5:00 PM PST</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6059242"/>
                  </a:ext>
                </a:extLst>
              </a:tr>
              <a:tr h="429768">
                <a:tc gridSpan="2" vMerge="1">
                  <a:txBody>
                    <a:bodyPr/>
                    <a:lstStyle/>
                    <a:p>
                      <a:endParaRPr lang="en-US" sz="900" dirty="0">
                        <a:solidFill>
                          <a:schemeClr val="tx1"/>
                        </a:solidFill>
                        <a:latin typeface="+mn-lt"/>
                      </a:endParaRPr>
                    </a:p>
                  </a:txBody>
                  <a:tcPr marL="45720" marR="45720" marT="0" marB="0" anchor="ctr">
                    <a:lnT w="12700" cap="flat" cmpd="sng" algn="ctr">
                      <a:no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vMerge="1">
                  <a:txBody>
                    <a:bodyPr/>
                    <a:lstStyle/>
                    <a:p>
                      <a:endParaRPr lang="en-US" sz="900" dirty="0">
                        <a:solidFill>
                          <a:schemeClr val="tx1"/>
                        </a:solidFill>
                        <a:latin typeface="+mn-lt"/>
                      </a:endParaRPr>
                    </a:p>
                  </a:txBody>
                  <a:tcPr marL="45720" marR="45720" marT="0" marB="0" anchor="ctr"/>
                </a:tc>
                <a:tc>
                  <a:txBody>
                    <a:bodyPr/>
                    <a:lstStyle/>
                    <a:p>
                      <a:pPr algn="r"/>
                      <a:r>
                        <a:rPr lang="en-US" sz="900" b="1" dirty="0">
                          <a:solidFill>
                            <a:srgbClr val="2C5967"/>
                          </a:solidFill>
                        </a:rPr>
                        <a:t>Meeting Location</a:t>
                      </a:r>
                      <a:endParaRPr lang="en-US" dirty="0"/>
                    </a:p>
                  </a:txBody>
                  <a:tcPr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Oracle Executive Briefing Center - Redwood City</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77019104"/>
                  </a:ext>
                </a:extLst>
              </a:tr>
              <a:tr h="467903">
                <a:tc gridSpan="2" vMerge="1">
                  <a:txBody>
                    <a:bodyPr/>
                    <a:lstStyle/>
                    <a:p>
                      <a:r>
                        <a:rPr lang="en-US" sz="900" dirty="0">
                          <a:solidFill>
                            <a:schemeClr val="tx1"/>
                          </a:solidFill>
                          <a:latin typeface="+mn-lt"/>
                        </a:rPr>
                        <a:t>&lt;Address&gt;</a:t>
                      </a:r>
                    </a:p>
                  </a:txBody>
                  <a:tcPr marL="45720" marR="4572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vMerge="1">
                  <a:txBody>
                    <a:bodyPr/>
                    <a:lstStyle/>
                    <a:p>
                      <a:endParaRPr lang="en-US" sz="900" dirty="0">
                        <a:solidFill>
                          <a:schemeClr val="tx1"/>
                        </a:solidFill>
                        <a:latin typeface="+mn-lt"/>
                      </a:endParaRPr>
                    </a:p>
                  </a:txBody>
                  <a:tcPr marL="45720" marR="45720"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r"/>
                      <a:r>
                        <a:rPr lang="en-US" sz="900" b="1" dirty="0">
                          <a:solidFill>
                            <a:srgbClr val="2C5967"/>
                          </a:solidFill>
                        </a:rPr>
                        <a:t>Engagement Type</a:t>
                      </a:r>
                    </a:p>
                    <a:p>
                      <a:pPr algn="r"/>
                      <a:r>
                        <a:rPr lang="en-US" sz="700" b="0" dirty="0">
                          <a:solidFill>
                            <a:srgbClr val="2C5967"/>
                          </a:solidFill>
                        </a:rPr>
                        <a:t>(1:1, CVC, Oracle Playbook)</a:t>
                      </a:r>
                      <a:endParaRPr lang="en-US" sz="200" b="0" dirty="0"/>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1:1 Executive Briefing</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28421276"/>
                  </a:ext>
                </a:extLst>
              </a:tr>
              <a:tr h="274320">
                <a:tc rowSpan="3" gridSpan="2">
                  <a:txBody>
                    <a:bodyPr/>
                    <a:lstStyle/>
                    <a:p>
                      <a:r>
                        <a:t>www.apple.com</a:t>
                      </a:r>
                    </a:p>
                  </a:txBody>
                  <a:tcPr marL="45720" marR="4572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3" hMerge="1">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chemeClr val="tx1"/>
                        </a:solidFill>
                        <a:effectLst/>
                        <a:uLnTx/>
                        <a:uFillTx/>
                        <a:latin typeface="+mn-lt"/>
                        <a:ea typeface="+mn-ea"/>
                        <a:cs typeface="Oracle Sans" panose="020B0503020204020204" pitchFamily="34" charset="0"/>
                      </a:endParaRPr>
                    </a:p>
                  </a:txBody>
                  <a:tcPr marL="45720" marR="45720"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tcPr>
                </a:tc>
                <a:tc>
                  <a:txBody>
                    <a:bodyPr/>
                    <a:lstStyle/>
                    <a:p>
                      <a:pPr algn="r"/>
                      <a:r>
                        <a:rPr lang="en-US" sz="900" b="1" dirty="0">
                          <a:solidFill>
                            <a:srgbClr val="2C5967"/>
                          </a:solidFill>
                        </a:rPr>
                        <a:t>EBD/Meeting Point of Contact</a:t>
                      </a:r>
                    </a:p>
                    <a:p>
                      <a:pPr algn="r"/>
                      <a:r>
                        <a:rPr lang="en-US" sz="700" b="0" dirty="0">
                          <a:solidFill>
                            <a:srgbClr val="2C5967"/>
                          </a:solidFill>
                        </a:rPr>
                        <a:t>(Name, title, email, phone)</a:t>
                      </a:r>
                      <a:endParaRPr lang="en-US" sz="200" b="0" dirty="0"/>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Lisa Park, Sr. Account Executive, lisa.park@oracle.com, (650) 555-1234</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6116238"/>
                  </a:ext>
                </a:extLst>
              </a:tr>
              <a:tr h="382016">
                <a:tc gridSpan="2" vMerge="1">
                  <a:txBody>
                    <a:bodyPr/>
                    <a:lstStyle/>
                    <a:p>
                      <a:endParaRPr lang="en-US" sz="900" dirty="0">
                        <a:solidFill>
                          <a:schemeClr val="tx1"/>
                        </a:solidFill>
                        <a:latin typeface="+mn-lt"/>
                      </a:endParaRPr>
                    </a:p>
                  </a:txBody>
                  <a:tcPr marL="45720" marR="4572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vMerge="1">
                  <a:txBody>
                    <a:bodyPr/>
                    <a:lstStyle/>
                    <a:p>
                      <a:endParaRPr lang="en-US" sz="900" dirty="0">
                        <a:solidFill>
                          <a:schemeClr val="tx1"/>
                        </a:solidFill>
                        <a:latin typeface="+mn-lt"/>
                      </a:endParaRPr>
                    </a:p>
                  </a:txBody>
                  <a:tcPr marL="45720" marR="45720" marT="0" marB="0" anchor="ct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900" b="1" dirty="0">
                          <a:solidFill>
                            <a:srgbClr val="2C5967"/>
                          </a:solidFill>
                        </a:rPr>
                        <a:t>Oracle Meeting Attendees</a:t>
                      </a:r>
                    </a:p>
                    <a:p>
                      <a:pPr algn="r"/>
                      <a:r>
                        <a:rPr lang="en-US" sz="700" b="0" dirty="0">
                          <a:solidFill>
                            <a:srgbClr val="2C5967"/>
                          </a:solidFill>
                        </a:rPr>
                        <a:t>(Name, title, email, phone)</a:t>
                      </a:r>
                      <a:endParaRPr lang="en-US" sz="200" b="0" dirty="0"/>
                    </a:p>
                  </a:txBody>
                  <a:tcPr marT="0" marB="0" anchor="ctr">
                    <a:lnL>
                      <a:noFill/>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Thomas Reed, VP Analytics Solutions, thomas.reed@oracle.com</a:t>
                      </a:r>
                    </a:p>
                    <a:p>
                      <a:r>
                        <a:t>Sarah Kim, Sr. Director Customer Experience, sarah.kim@oracle.com</a:t>
                      </a:r>
                    </a:p>
                    <a:p>
                      <a:r>
                        <a:t>James Liu, Principal Data Architect, james.liu@oracle.com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64143921"/>
                  </a:ext>
                </a:extLst>
              </a:tr>
              <a:tr h="392744">
                <a:tc gridSpan="2" vMerge="1">
                  <a:txBody>
                    <a:bodyPr/>
                    <a:lstStyle/>
                    <a:p>
                      <a:pPr marL="0" algn="l" defTabSz="195517" rtl="0" eaLnBrk="1" latinLnBrk="0" hangingPunct="1">
                        <a:lnSpc>
                          <a:spcPct val="90000"/>
                        </a:lnSpc>
                      </a:pPr>
                      <a:endParaRPr lang="en-US" sz="900" b="0" i="0" kern="1200" dirty="0">
                        <a:solidFill>
                          <a:schemeClr val="tx1"/>
                        </a:solidFill>
                        <a:latin typeface="+mn-lt"/>
                        <a:ea typeface="+mn-ea"/>
                        <a:cs typeface="Oracle Sans" panose="020B0503020204020204" pitchFamily="34" charset="0"/>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vMerge="1">
                  <a:txBody>
                    <a:bodyPr/>
                    <a:lstStyle/>
                    <a:p>
                      <a:endParaRPr lang="en-US" sz="900" dirty="0">
                        <a:latin typeface="+mn-lt"/>
                      </a:endParaRPr>
                    </a:p>
                  </a:txBody>
                  <a:tcPr marL="45720" marR="45720" marT="0" marB="0" anchor="ctr">
                    <a:lnT w="12700" cap="flat" cmpd="sng" algn="ctr">
                      <a:solidFill>
                        <a:schemeClr val="tx1"/>
                      </a:solidFill>
                      <a:prstDash val="solid"/>
                      <a:round/>
                      <a:headEnd type="none" w="med" len="med"/>
                      <a:tailEnd type="none" w="med" len="med"/>
                    </a:lnT>
                  </a:tcPr>
                </a:tc>
                <a:tc>
                  <a:txBody>
                    <a:bodyPr/>
                    <a:lstStyle/>
                    <a:p>
                      <a:pPr marL="0" marR="0" lvl="0" indent="0" algn="r"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Customer</a:t>
                      </a:r>
                      <a:r>
                        <a:rPr lang="en-US" sz="900" dirty="0"/>
                        <a:t> </a:t>
                      </a:r>
                      <a:r>
                        <a:rPr lang="en-US" sz="900" b="1" kern="1200" dirty="0">
                          <a:solidFill>
                            <a:srgbClr val="2C5967"/>
                          </a:solidFill>
                          <a:latin typeface="+mn-lt"/>
                          <a:ea typeface="+mn-ea"/>
                          <a:cs typeface="+mn-cs"/>
                        </a:rPr>
                        <a:t>Meeting</a:t>
                      </a:r>
                      <a:r>
                        <a:rPr lang="en-US" sz="900" dirty="0"/>
                        <a:t> </a:t>
                      </a:r>
                      <a:r>
                        <a:rPr lang="en-US" sz="900" b="1" kern="1200" dirty="0">
                          <a:solidFill>
                            <a:srgbClr val="2C5967"/>
                          </a:solidFill>
                          <a:latin typeface="+mn-lt"/>
                          <a:ea typeface="+mn-ea"/>
                          <a:cs typeface="+mn-cs"/>
                        </a:rPr>
                        <a:t>Attendees</a:t>
                      </a:r>
                    </a:p>
                    <a:p>
                      <a:pPr marL="0" marR="0" lvl="0" indent="0" algn="r" defTabSz="195517" rtl="0" eaLnBrk="1" fontAlgn="auto" latinLnBrk="0" hangingPunct="1">
                        <a:lnSpc>
                          <a:spcPct val="100000"/>
                        </a:lnSpc>
                        <a:spcBef>
                          <a:spcPts val="0"/>
                        </a:spcBef>
                        <a:spcAft>
                          <a:spcPts val="0"/>
                        </a:spcAft>
                        <a:buClrTx/>
                        <a:buSzTx/>
                        <a:buFontTx/>
                        <a:buNone/>
                        <a:tabLst/>
                        <a:defRPr/>
                      </a:pPr>
                      <a:r>
                        <a:rPr lang="en-US" sz="700" b="0" kern="1200" dirty="0">
                          <a:solidFill>
                            <a:srgbClr val="2C5967"/>
                          </a:solidFill>
                          <a:latin typeface="+mn-lt"/>
                          <a:ea typeface="+mn-ea"/>
                          <a:cs typeface="+mn-cs"/>
                        </a:rPr>
                        <a:t>(Name, title)</a:t>
                      </a:r>
                    </a:p>
                  </a:txBody>
                  <a:tcPr marT="0" marB="0" anchor="ctr">
                    <a:lnL>
                      <a:noFill/>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t>Tim Harrison, Chief Digital Officer</a:t>
                      </a:r>
                    </a:p>
                    <a:p>
                      <a:r>
                        <a:t>Michelle Torres, VP Marketing Operations</a:t>
                      </a:r>
                    </a:p>
                    <a:p>
                      <a:r>
                        <a:t>David Chen, CIO</a:t>
                      </a:r>
                    </a:p>
                    <a:p>
                      <a:r>
                        <a:t>Patricia Wong, Director of Analytics</a:t>
                      </a:r>
                    </a:p>
                    <a:p>
                      <a:r>
                        <a:t>Ryan Mitchell, Head of Customer Insights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83714262"/>
                  </a:ext>
                </a:extLst>
              </a:tr>
              <a:tr h="329455">
                <a:tc gridSpan="4">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Company Description:</a:t>
                      </a:r>
                      <a:r>
                        <a:rPr lang="en-US" sz="900" b="0" kern="1200" dirty="0">
                          <a:solidFill>
                            <a:schemeClr val="tx1"/>
                          </a:solidFill>
                          <a:latin typeface="+mn-lt"/>
                          <a:ea typeface="+mn-ea"/>
                          <a:cs typeface="+mn-cs"/>
                        </a:rPr>
                        <a:t> </a:t>
                      </a:r>
                    </a:p>
                    <a:p>
                      <a:pPr marL="0" marR="0" lvl="0" indent="0" algn="l" defTabSz="195517" rtl="0" eaLnBrk="1" fontAlgn="auto" latinLnBrk="0" hangingPunct="1">
                        <a:lnSpc>
                          <a:spcPct val="100000"/>
                        </a:lnSpc>
                        <a:spcBef>
                          <a:spcPts val="0"/>
                        </a:spcBef>
                        <a:spcAft>
                          <a:spcPts val="0"/>
                        </a:spcAft>
                        <a:buClrTx/>
                        <a:buSzTx/>
                        <a:buFontTx/>
                        <a:buNone/>
                        <a:tabLst/>
                        <a:defRPr/>
                      </a:pPr>
                      <a:endParaRPr lang="en-US" sz="900" b="0" kern="1200" dirty="0">
                        <a:solidFill>
                          <a:schemeClr val="tx1"/>
                        </a:solidFill>
                        <a:latin typeface="+mn-lt"/>
                        <a:ea typeface="+mn-ea"/>
                        <a:cs typeface="+mn-cs"/>
                      </a:endParaRPr>
                    </a:p>
                    <a:p>
                      <a:pPr marL="0" marR="0" lvl="0" indent="0" algn="l" defTabSz="195517" rtl="0" eaLnBrk="1" fontAlgn="auto" latinLnBrk="0" hangingPunct="1">
                        <a:lnSpc>
                          <a:spcPct val="100000"/>
                        </a:lnSpc>
                        <a:spcBef>
                          <a:spcPts val="0"/>
                        </a:spcBef>
                        <a:spcAft>
                          <a:spcPts val="0"/>
                        </a:spcAft>
                        <a:buClrTx/>
                        <a:buSzTx/>
                        <a:buFontTx/>
                        <a:buNone/>
                        <a:tabLst/>
                        <a:defRPr/>
                      </a:pPr>
                      <a:endParaRPr lang="en-US" sz="900" b="0" kern="1200" dirty="0">
                        <a:solidFill>
                          <a:schemeClr val="tx1"/>
                        </a:solidFill>
                        <a:latin typeface="+mn-lt"/>
                        <a:ea typeface="+mn-ea"/>
                        <a:cs typeface="+mn-cs"/>
                      </a:endParaRPr>
                    </a:p>
                    <a:p>
                      <a:pPr marL="0" marR="0" lvl="0" indent="0" algn="l" defTabSz="195517" rtl="0" eaLnBrk="1" fontAlgn="auto" latinLnBrk="0" hangingPunct="1">
                        <a:lnSpc>
                          <a:spcPct val="100000"/>
                        </a:lnSpc>
                        <a:spcBef>
                          <a:spcPts val="0"/>
                        </a:spcBef>
                        <a:spcAft>
                          <a:spcPts val="0"/>
                        </a:spcAft>
                        <a:buClrTx/>
                        <a:buSzTx/>
                        <a:buFontTx/>
                        <a:buNone/>
                        <a:tabLst/>
                        <a:defRPr/>
                      </a:pPr>
                      <a:endParaRPr lang="en-US" sz="900" b="0" kern="1200" dirty="0">
                        <a:solidFill>
                          <a:schemeClr val="tx1"/>
                        </a:solidFill>
                        <a:latin typeface="+mn-lt"/>
                        <a:ea typeface="+mn-ea"/>
                        <a:cs typeface="+mn-cs"/>
                      </a:endParaRPr>
                    </a:p>
                    <a:p>
                      <a:pPr marL="0" marR="0" lvl="0" indent="0" algn="l" defTabSz="195517" rtl="0" eaLnBrk="1" fontAlgn="auto" latinLnBrk="0" hangingPunct="1">
                        <a:lnSpc>
                          <a:spcPct val="100000"/>
                        </a:lnSpc>
                        <a:spcBef>
                          <a:spcPts val="0"/>
                        </a:spcBef>
                        <a:spcAft>
                          <a:spcPts val="0"/>
                        </a:spcAft>
                        <a:buClrTx/>
                        <a:buSzTx/>
                        <a:buFontTx/>
                        <a:buNone/>
                        <a:tabLst/>
                        <a:defRPr/>
                      </a:pPr>
                      <a:endParaRPr lang="en-US" sz="900" dirty="0">
                        <a:solidFill>
                          <a:schemeClr val="tx1"/>
                        </a:solidFill>
                        <a:latin typeface="Oracle Sans" panose="020B0503020204020204" pitchFamily="34" charset="0"/>
                        <a:cs typeface="Oracle Sans" panose="020B0503020204020204" pitchFamily="34"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r>
                        <a:t>Apple is a global technology leader known for innovation in consumer electronics, software, and services. With a focus on customer experience and data-driven decision making, Apple is exploring Oracle Analytics to enhance their marketing operations, customer insights, and service automation capabilities across their global operations.</a:t>
                      </a:r>
                    </a:p>
                  </a:txBody>
                  <a:tcPr>
                    <a:lnL w="12700" cap="flat" cmpd="sng" algn="ctr">
                      <a:solidFill>
                        <a:schemeClr val="tx1"/>
                      </a:solidFill>
                      <a:prstDash val="solid"/>
                      <a:round/>
                      <a:headEnd type="none" w="med" len="med"/>
                      <a:tailEnd type="none" w="med" len="med"/>
                    </a:lnL>
                  </a:tcPr>
                </a:tc>
                <a:tc hMerge="1">
                  <a:txBody>
                    <a:bodyPr/>
                    <a:lstStyle/>
                    <a:p>
                      <a:endParaRPr lang="en-US"/>
                    </a:p>
                  </a:txBody>
                  <a:tcPr>
                    <a:lnT w="12700" cap="flat" cmpd="sng" algn="ctr">
                      <a:solidFill>
                        <a:schemeClr val="tx1">
                          <a:lumMod val="10000"/>
                          <a:lumOff val="90000"/>
                        </a:schemeClr>
                      </a:solidFill>
                      <a:prstDash val="solid"/>
                      <a:round/>
                      <a:headEnd type="none" w="med" len="med"/>
                      <a:tailEnd type="none" w="med" len="med"/>
                    </a:lnT>
                  </a:tcPr>
                </a:tc>
                <a:tc hMerge="1">
                  <a:txBody>
                    <a:bodyPr/>
                    <a:lstStyle/>
                    <a:p>
                      <a:endParaRPr lang="en-US"/>
                    </a:p>
                  </a:txBody>
                  <a:tcPr>
                    <a:lnT w="12700" cap="flat" cmpd="sng" algn="ctr">
                      <a:solidFill>
                        <a:schemeClr val="tx1">
                          <a:lumMod val="10000"/>
                          <a:lumOff val="90000"/>
                        </a:schemeClr>
                      </a:solidFill>
                      <a:prstDash val="solid"/>
                      <a:round/>
                      <a:headEnd type="none" w="med" len="med"/>
                      <a:tailEnd type="none" w="med" len="med"/>
                    </a:lnT>
                  </a:tcPr>
                </a:tc>
                <a:extLst>
                  <a:ext uri="{0D108BD9-81ED-4DB2-BD59-A6C34878D82A}">
                    <a16:rowId xmlns:a16="http://schemas.microsoft.com/office/drawing/2014/main" val="4200647729"/>
                  </a:ext>
                </a:extLst>
              </a:tr>
              <a:tr h="662644">
                <a:tc>
                  <a:txBody>
                    <a:bodyPr/>
                    <a:lstStyle/>
                    <a:p>
                      <a:pPr algn="l"/>
                      <a:r>
                        <a:rPr lang="en-US" sz="900" b="1" kern="1200" dirty="0">
                          <a:solidFill>
                            <a:srgbClr val="2C5967"/>
                          </a:solidFill>
                          <a:latin typeface="+mn-lt"/>
                          <a:ea typeface="+mn-ea"/>
                          <a:cs typeface="+mn-cs"/>
                        </a:rPr>
                        <a:t>Meeting Objectives / </a:t>
                      </a:r>
                    </a:p>
                    <a:p>
                      <a:pPr algn="l"/>
                      <a:r>
                        <a:rPr lang="en-US" sz="900" b="1" kern="1200" dirty="0">
                          <a:solidFill>
                            <a:srgbClr val="2C5967"/>
                          </a:solidFill>
                          <a:latin typeface="+mn-lt"/>
                          <a:ea typeface="+mn-ea"/>
                          <a:cs typeface="+mn-cs"/>
                        </a:rPr>
                        <a:t>Customer Expectations</a:t>
                      </a:r>
                    </a:p>
                    <a:p>
                      <a:pPr algn="l"/>
                      <a:r>
                        <a:rPr lang="en-US" sz="700" b="0" kern="1200" dirty="0">
                          <a:solidFill>
                            <a:schemeClr val="tx1"/>
                          </a:solidFill>
                          <a:latin typeface="+mn-lt"/>
                          <a:ea typeface="+mn-ea"/>
                          <a:cs typeface="+mn-cs"/>
                        </a:rPr>
                        <a:t>(Main purpose of engagement, desired outcomes - focus on the customer perspective)</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1. Evaluate Oracle Analytics Cloud for unified customer insights across all touchpoints</a:t>
                      </a:r>
                    </a:p>
                    <a:p>
                      <a:r>
                        <a:t>2. Understand how Oracle can support Revenue Transformation through data-driven marketing</a:t>
                      </a:r>
                    </a:p>
                    <a:p>
                      <a:r>
                        <a:t>3. Explore Marketing and Sales Unification capabilities to improve campaign effectiveness</a:t>
                      </a:r>
                    </a:p>
                    <a:p>
                      <a:r>
                        <a:t>4. Assess Service Automation features for enhancing customer support operations</a:t>
                      </a:r>
                    </a:p>
                    <a:p>
                      <a:r>
                        <a:t>5. Review integration options with existing Apple data infrastructure</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hMerge="1">
                  <a:txBody>
                    <a:bodyPr/>
                    <a:lstStyle/>
                    <a:p>
                      <a:pPr algn="r"/>
                      <a:r>
                        <a:rPr lang="en-US" sz="900" kern="1200">
                          <a:solidFill>
                            <a:srgbClr val="67605B"/>
                          </a:solidFill>
                          <a:effectLst/>
                          <a:latin typeface="+mn-lt"/>
                          <a:ea typeface="+mn-ea"/>
                          <a:cs typeface="+mn-cs"/>
                        </a:rPr>
                        <a:t>&lt;e.g. ABC is evaluating ERP/HCM solutions as part of their transformation initiative, which has been narrowed down to Oracle and Workday. Discuss the benefits of Oracle and how ABC stands to benefit in the areas of architecture and integration, security, automation capabilities, and the cost-benefit related to reduced IT dependency.&gt;</a:t>
                      </a:r>
                      <a:endParaRPr lang="en-US" sz="900" b="1" kern="1200" dirty="0">
                        <a:solidFill>
                          <a:srgbClr val="2C5967"/>
                        </a:solidFill>
                        <a:latin typeface="+mn-lt"/>
                        <a:ea typeface="+mn-ea"/>
                        <a:cs typeface="+mn-cs"/>
                      </a:endParaRP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1583825254"/>
                  </a:ext>
                </a:extLst>
              </a:tr>
              <a:tr h="662644">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Top Business Challenges / Where Oracle Can Help</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kern="1200" dirty="0">
                          <a:solidFill>
                            <a:schemeClr val="tx1"/>
                          </a:solidFill>
                          <a:latin typeface="+mn-lt"/>
                          <a:ea typeface="+mn-ea"/>
                          <a:cs typeface="+mn-cs"/>
                        </a:rPr>
                        <a:t>(Customer’s challenges - how Oracle can help – both near term and long term, top 3 things to know about the customer)</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1. DATA SILOS: Customer data fragmented across 15+ systems including retail, online, support, and services - no unified view of customer journey</a:t>
                      </a:r>
                    </a:p>
                    <a:p/>
                    <a:p>
                      <a:r>
                        <a:t>2. MARKETING ATTRIBUTION: Difficulty measuring true ROI of marketing campaigns across channels; estimated $50M+ in inefficient ad spend annually</a:t>
                      </a:r>
                    </a:p>
                    <a:p/>
                    <a:p>
                      <a:r>
                        <a:t>3. SERVICE SCALABILITY: Customer support volume growing 30% YoY; need AI-driven automation to maintain quality while scaling</a:t>
                      </a:r>
                    </a:p>
                    <a:p/>
                    <a:p>
                      <a:r>
                        <a:t>4. REAL-TIME INSIGHTS: 48-hour lag in getting actionable analytics; competitors making decisions in real-time</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hMerge="1">
                  <a:txBody>
                    <a:bodyPr/>
                    <a:lstStyle/>
                    <a:p>
                      <a:pPr marL="0" marR="0" lvl="0" indent="0" algn="r" defTabSz="195517" rtl="0" eaLnBrk="1" fontAlgn="auto" latinLnBrk="0" hangingPunct="1">
                        <a:lnSpc>
                          <a:spcPct val="100000"/>
                        </a:lnSpc>
                        <a:spcBef>
                          <a:spcPts val="0"/>
                        </a:spcBef>
                        <a:spcAft>
                          <a:spcPts val="0"/>
                        </a:spcAft>
                        <a:buClrTx/>
                        <a:buSzTx/>
                        <a:buFontTx/>
                        <a:buNone/>
                        <a:tabLst/>
                        <a:defRPr/>
                      </a:pPr>
                      <a:r>
                        <a:rPr lang="en-US" sz="900">
                          <a:solidFill>
                            <a:srgbClr val="67605B"/>
                          </a:solidFill>
                          <a:latin typeface="Oracle Sans" panose="020B0503020204020204" pitchFamily="34" charset="0"/>
                          <a:cs typeface="Oracle Sans" panose="020B0503020204020204" pitchFamily="34" charset="0"/>
                        </a:rPr>
                        <a:t>&lt;e.g. transformation, mergers / acquisitions, growth strategy.</a:t>
                      </a:r>
                      <a:r>
                        <a:rPr lang="en-US" sz="900" baseline="0">
                          <a:solidFill>
                            <a:srgbClr val="67605B"/>
                          </a:solidFill>
                          <a:latin typeface="Oracle Sans" panose="020B0503020204020204" pitchFamily="34" charset="0"/>
                          <a:cs typeface="Oracle Sans" panose="020B0503020204020204" pitchFamily="34" charset="0"/>
                        </a:rPr>
                        <a:t> </a:t>
                      </a:r>
                      <a:r>
                        <a:rPr lang="en-US" sz="900">
                          <a:solidFill>
                            <a:srgbClr val="67605B"/>
                          </a:solidFill>
                          <a:latin typeface="Oracle Sans" panose="020B0503020204020204" pitchFamily="34" charset="0"/>
                          <a:cs typeface="Oracle Sans" panose="020B0503020204020204" pitchFamily="34" charset="0"/>
                        </a:rPr>
                        <a:t>Multiple ERP systems being leveraged across the company with no common data repository, which is both cumbersome and costly to manage.&gt;</a:t>
                      </a:r>
                      <a:endParaRPr lang="en-US" sz="900" b="1" kern="1200" dirty="0">
                        <a:solidFill>
                          <a:srgbClr val="2C5967"/>
                        </a:solidFill>
                        <a:latin typeface="+mn-lt"/>
                        <a:ea typeface="+mn-ea"/>
                        <a:cs typeface="+mn-cs"/>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1666727208"/>
                  </a:ext>
                </a:extLst>
              </a:tr>
              <a:tr h="605216">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Customer’s Business / </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IT Strategy</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kern="1200" dirty="0">
                          <a:solidFill>
                            <a:schemeClr val="tx1"/>
                          </a:solidFill>
                          <a:latin typeface="+mn-lt"/>
                          <a:ea typeface="+mn-ea"/>
                          <a:cs typeface="+mn-cs"/>
                        </a:rPr>
                        <a:t>(High-level CEO and IT strategy)</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CDO Vision: "Transform Apple into the world's most data-intelligent company by 2027"</a:t>
                      </a:r>
                    </a:p>
                    <a:p/>
                    <a:p>
                      <a:r>
                        <a:t>IT Strategy:</a:t>
                      </a:r>
                    </a:p>
                    <a:p>
                      <a:r>
                        <a:t>- Unified data platform for all customer touchpoints</a:t>
                      </a:r>
                    </a:p>
                    <a:p>
                      <a:r>
                        <a:t>- AI/ML-first approach to customer insights</a:t>
                      </a:r>
                    </a:p>
                    <a:p>
                      <a:r>
                        <a:t>- Real-time analytics for marketing and service decisions</a:t>
                      </a:r>
                    </a:p>
                    <a:p>
                      <a:r>
                        <a:t>- Privacy-preserving personalization at scale</a:t>
                      </a:r>
                    </a:p>
                    <a:p>
                      <a:r>
                        <a:t>- Cloud-native architecture for global scalability</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hMerge="1">
                  <a:txBody>
                    <a:bodyPr/>
                    <a:lstStyle/>
                    <a:p>
                      <a:pPr marL="0" marR="0" lvl="0" indent="0" algn="r" defTabSz="195517" rtl="0" eaLnBrk="1" fontAlgn="auto" latinLnBrk="0" hangingPunct="1">
                        <a:lnSpc>
                          <a:spcPct val="100000"/>
                        </a:lnSpc>
                        <a:spcBef>
                          <a:spcPts val="0"/>
                        </a:spcBef>
                        <a:spcAft>
                          <a:spcPts val="0"/>
                        </a:spcAft>
                        <a:buClrTx/>
                        <a:buSzTx/>
                        <a:buFontTx/>
                        <a:buNone/>
                        <a:tabLst/>
                        <a:defRPr/>
                      </a:pPr>
                      <a:r>
                        <a:rPr lang="en-US" sz="900">
                          <a:solidFill>
                            <a:srgbClr val="67605B"/>
                          </a:solidFill>
                          <a:latin typeface="Oracle Sans" panose="020B0503020204020204" pitchFamily="34" charset="0"/>
                          <a:cs typeface="Oracle Sans" panose="020B0503020204020204" pitchFamily="34" charset="0"/>
                        </a:rPr>
                        <a:t>&lt;e.g. Identify</a:t>
                      </a:r>
                      <a:r>
                        <a:rPr lang="en-US" sz="900" baseline="0">
                          <a:solidFill>
                            <a:srgbClr val="67605B"/>
                          </a:solidFill>
                          <a:latin typeface="Oracle Sans" panose="020B0503020204020204" pitchFamily="34" charset="0"/>
                          <a:cs typeface="Oracle Sans" panose="020B0503020204020204" pitchFamily="34" charset="0"/>
                        </a:rPr>
                        <a:t> an integrated ERP/HCM solution that does not require high customization and reduces IT dependency.&gt;</a:t>
                      </a:r>
                      <a:endParaRPr lang="en-US" sz="900" b="1" kern="1200" dirty="0">
                        <a:solidFill>
                          <a:srgbClr val="2C5967"/>
                        </a:solidFill>
                        <a:latin typeface="+mn-lt"/>
                        <a:ea typeface="+mn-ea"/>
                        <a:cs typeface="+mn-cs"/>
                      </a:endParaRP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264032628"/>
                  </a:ext>
                </a:extLst>
              </a:tr>
              <a:tr h="605216">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Customer Lifecycle</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kern="1200" dirty="0">
                          <a:solidFill>
                            <a:schemeClr val="tx1"/>
                          </a:solidFill>
                          <a:latin typeface="+mn-lt"/>
                          <a:ea typeface="+mn-ea"/>
                          <a:cs typeface="+mn-cs"/>
                        </a:rPr>
                        <a:t>(Where we are in sales process, where customer is in their lifecycle, why they chose Oracle, what value has been realized, recent go-lives and implementations)</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SALES STAGE: Discovery / Qualified Opportunity ($12M TCV)</a:t>
                      </a:r>
                    </a:p>
                    <a:p>
                      <a:r>
                        <a:t>- Initial exploration started Q4 2025</a:t>
                      </a:r>
                    </a:p>
                    <a:p>
                      <a:r>
                        <a:t>- Competitive evaluation with Salesforce Tableau and Microsoft Power BI</a:t>
                      </a:r>
                    </a:p>
                    <a:p>
                      <a:r>
                        <a:t>- Technical POC planned for Q1 2026</a:t>
                      </a:r>
                    </a:p>
                    <a:p>
                      <a:r>
                        <a:t>- Decision expected Q2 2026</a:t>
                      </a:r>
                    </a:p>
                    <a:p/>
                    <a:p>
                      <a:r>
                        <a:t>WHY CONSIDERING ORACLE:</a:t>
                      </a:r>
                    </a:p>
                    <a:p>
                      <a:r>
                        <a:t>- Impressed by Oracle's autonomous database capabilities</a:t>
                      </a:r>
                    </a:p>
                    <a:p>
                      <a:r>
                        <a:t>- Strong references from retail industry peers</a:t>
                      </a:r>
                    </a:p>
                    <a:p>
                      <a:r>
                        <a:t>- Integration capabilities with existing Oracle infrastructure</a:t>
                      </a:r>
                    </a:p>
                    <a:p/>
                    <a:p>
                      <a:r>
                        <a:t>RECENT IMPLEMENTATIONS:</a:t>
                      </a:r>
                    </a:p>
                    <a:p>
                      <a:r>
                        <a:t>- Oracle Autonomous Data Warehouse POC (positive results)</a:t>
                      </a:r>
                    </a:p>
                    <a:p>
                      <a:r>
                        <a:t>- Oracle Cloud Infrastructure evaluation (ongoing)</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hMerge="1">
                  <a:txBody>
                    <a:bodyPr/>
                    <a:lstStyle/>
                    <a:p>
                      <a:pPr marL="0" marR="0" lvl="0" indent="0" algn="r" defTabSz="195517" rtl="0" eaLnBrk="1" fontAlgn="auto" latinLnBrk="0" hangingPunct="1">
                        <a:lnSpc>
                          <a:spcPct val="100000"/>
                        </a:lnSpc>
                        <a:spcBef>
                          <a:spcPts val="0"/>
                        </a:spcBef>
                        <a:spcAft>
                          <a:spcPts val="0"/>
                        </a:spcAft>
                        <a:buClrTx/>
                        <a:buSzTx/>
                        <a:buFontTx/>
                        <a:buNone/>
                        <a:tabLst/>
                        <a:defRPr/>
                      </a:pPr>
                      <a:r>
                        <a:rPr lang="en-US" sz="900" dirty="0">
                          <a:solidFill>
                            <a:srgbClr val="67605B"/>
                          </a:solidFill>
                          <a:latin typeface="Oracle Sans" panose="020B0503020204020204" pitchFamily="34" charset="0"/>
                          <a:cs typeface="Oracle Sans" panose="020B0503020204020204" pitchFamily="34" charset="0"/>
                        </a:rPr>
                        <a:t>&lt;What is the overall relationship strength and customer view of Oracle?&gt;</a:t>
                      </a:r>
                      <a:endParaRPr lang="en-US" sz="900" b="1" kern="1200" dirty="0">
                        <a:solidFill>
                          <a:srgbClr val="2C5967"/>
                        </a:solidFill>
                        <a:latin typeface="+mn-lt"/>
                        <a:ea typeface="+mn-ea"/>
                        <a:cs typeface="+mn-cs"/>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690646698"/>
                  </a:ext>
                </a:extLst>
              </a:tr>
              <a:tr h="662644">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Account Status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kern="1200" dirty="0">
                          <a:solidFill>
                            <a:schemeClr val="tx1"/>
                          </a:solidFill>
                          <a:latin typeface="+mn-lt"/>
                          <a:ea typeface="+mn-ea"/>
                          <a:cs typeface="+mn-cs"/>
                        </a:rPr>
                        <a:t>(Red, yellow, green health status,  customer’s feeling towards Oracle - positive, negative, or neutral, issues to highlight and potential derailers)</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YELLOW - Opportunity with caution</a:t>
                      </a:r>
                    </a:p>
                    <a:p/>
                    <a:p>
                      <a:r>
                        <a:t>POSITIVES:</a:t>
                      </a:r>
                    </a:p>
                    <a:p>
                      <a:r>
                        <a:t>- CIO David Chen is Oracle advocate from previous role</a:t>
                      </a:r>
                    </a:p>
                    <a:p>
                      <a:r>
                        <a:t>- Strong technical interest from analytics team</a:t>
                      </a:r>
                    </a:p>
                    <a:p>
                      <a:r>
                        <a:t>- Budget approved for 2026 analytics transformation</a:t>
                      </a:r>
                    </a:p>
                    <a:p/>
                    <a:p>
                      <a:r>
                        <a:t>POTENTIAL DERAILERS:</a:t>
                      </a:r>
                    </a:p>
                    <a:p>
                      <a:r>
                        <a:t>- CDO has existing relationship with Salesforce executives</a:t>
                      </a:r>
                    </a:p>
                    <a:p>
                      <a:r>
                        <a:t>- Concerns about Oracle's consumer/retail analytics depth</a:t>
                      </a:r>
                    </a:p>
                    <a:p>
                      <a:r>
                        <a:t>- Internal preference for "best of breed" vs. platform approach</a:t>
                      </a:r>
                    </a:p>
                    <a:p>
                      <a:r>
                        <a:t>- Privacy requirements extremely stringent</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965154558"/>
                  </a:ext>
                </a:extLst>
              </a:tr>
              <a:tr h="662644">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Oracle Talking Points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kern="1200" dirty="0">
                          <a:solidFill>
                            <a:schemeClr val="tx1"/>
                          </a:solidFill>
                          <a:latin typeface="+mn-lt"/>
                          <a:ea typeface="+mn-ea"/>
                          <a:cs typeface="+mn-cs"/>
                        </a:rPr>
                        <a:t>(3 main talking points Oracle exec should cover)</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gridSpan="3">
                  <a:txBody>
                    <a:bodyPr/>
                    <a:lstStyle/>
                    <a:p>
                      <a:r>
                        <a:t>1. UNIFIED CUSTOMER 360: Showcase Oracle Analytics' ability to create unified customer views across all touchpoints - reference similar implementations at major retailers achieving 40% improvement in customer insights</a:t>
                      </a:r>
                    </a:p>
                    <a:p/>
                    <a:p>
                      <a:r>
                        <a:t>2. REVENUE TRANSFORMATION: Demonstrate how Oracle drives marketing ROI through AI-powered attribution and campaign optimization - highlight $30M+ annual savings at comparable companies</a:t>
                      </a:r>
                    </a:p>
                    <a:p/>
                    <a:p>
                      <a:r>
                        <a:t>3. SERVICE AUTOMATION: Present Oracle's AI-driven service automation capabilities that maintain quality while scaling - emphasize privacy-preserving personalization features critical for Apple</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r" defTabSz="195517" rtl="0" eaLnBrk="1" fontAlgn="auto" latinLnBrk="0" hangingPunct="1">
                        <a:lnSpc>
                          <a:spcPct val="100000"/>
                        </a:lnSpc>
                        <a:spcBef>
                          <a:spcPts val="0"/>
                        </a:spcBef>
                        <a:spcAft>
                          <a:spcPts val="0"/>
                        </a:spcAft>
                        <a:buClrTx/>
                        <a:buSzTx/>
                        <a:buFontTx/>
                        <a:buNone/>
                        <a:tabLst/>
                        <a:defRPr/>
                      </a:pPr>
                      <a:r>
                        <a:rPr lang="en-US" sz="900">
                          <a:solidFill>
                            <a:srgbClr val="67605B"/>
                          </a:solidFill>
                          <a:latin typeface="Oracle Sans" panose="020B0503020204020204" pitchFamily="34" charset="0"/>
                          <a:cs typeface="Oracle Sans" panose="020B0503020204020204" pitchFamily="34" charset="0"/>
                        </a:rPr>
                        <a:t>&lt;e.g. transformation, mergers / acquisitions, growth strategy.</a:t>
                      </a:r>
                      <a:r>
                        <a:rPr lang="en-US" sz="900" baseline="0">
                          <a:solidFill>
                            <a:srgbClr val="67605B"/>
                          </a:solidFill>
                          <a:latin typeface="Oracle Sans" panose="020B0503020204020204" pitchFamily="34" charset="0"/>
                          <a:cs typeface="Oracle Sans" panose="020B0503020204020204" pitchFamily="34" charset="0"/>
                        </a:rPr>
                        <a:t> </a:t>
                      </a:r>
                      <a:r>
                        <a:rPr lang="en-US" sz="900">
                          <a:solidFill>
                            <a:srgbClr val="67605B"/>
                          </a:solidFill>
                          <a:latin typeface="Oracle Sans" panose="020B0503020204020204" pitchFamily="34" charset="0"/>
                          <a:cs typeface="Oracle Sans" panose="020B0503020204020204" pitchFamily="34" charset="0"/>
                        </a:rPr>
                        <a:t>Multiple ERP systems being leveraged across the company with no common data repository, which is both cumbersome and costly to manage.&gt;</a:t>
                      </a:r>
                      <a:endParaRPr lang="en-US" sz="900" b="1" kern="1200" dirty="0">
                        <a:solidFill>
                          <a:srgbClr val="2C5967"/>
                        </a:solidFill>
                        <a:latin typeface="+mn-lt"/>
                        <a:ea typeface="+mn-ea"/>
                        <a:cs typeface="+mn-cs"/>
                      </a:endParaRPr>
                    </a:p>
                  </a:txBody>
                  <a:tcPr marT="0" marB="0" anchor="ctr"/>
                </a:tc>
                <a:tc hMerge="1">
                  <a:txBody>
                    <a:bodyPr/>
                    <a:lstStyle/>
                    <a:p>
                      <a:endParaRPr lang="en-US"/>
                    </a:p>
                  </a:txBody>
                  <a:tcPr/>
                </a:tc>
                <a:extLst>
                  <a:ext uri="{0D108BD9-81ED-4DB2-BD59-A6C34878D82A}">
                    <a16:rowId xmlns:a16="http://schemas.microsoft.com/office/drawing/2014/main" val="3430135698"/>
                  </a:ext>
                </a:extLst>
              </a:tr>
            </a:tbl>
          </a:graphicData>
        </a:graphic>
      </p:graphicFrame>
      <p:pic>
        <p:nvPicPr>
          <p:cNvPr id="21" name="Picture 20">
            <a:extLst>
              <a:ext uri="{FF2B5EF4-FFF2-40B4-BE49-F238E27FC236}">
                <a16:creationId xmlns:a16="http://schemas.microsoft.com/office/drawing/2014/main" id="{F1993DF2-0200-0E81-A2DC-844CC34078FC}"/>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l="23333" r="22222"/>
          <a:stretch/>
        </p:blipFill>
        <p:spPr>
          <a:xfrm>
            <a:off x="306948" y="909378"/>
            <a:ext cx="757450" cy="731520"/>
          </a:xfrm>
          <a:prstGeom prst="rect">
            <a:avLst/>
          </a:prstGeom>
        </p:spPr>
      </p:pic>
      <p:pic>
        <p:nvPicPr>
          <p:cNvPr id="22" name="Picture 21">
            <a:extLst>
              <a:ext uri="{FF2B5EF4-FFF2-40B4-BE49-F238E27FC236}">
                <a16:creationId xmlns:a16="http://schemas.microsoft.com/office/drawing/2014/main" id="{6C2806C5-B1B2-E7A3-42D8-5BE2FF39492B}"/>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l="23333" r="22222"/>
          <a:stretch/>
        </p:blipFill>
        <p:spPr>
          <a:xfrm>
            <a:off x="1259692" y="909378"/>
            <a:ext cx="1604858" cy="731520"/>
          </a:xfrm>
          <a:prstGeom prst="rect">
            <a:avLst/>
          </a:prstGeom>
        </p:spPr>
      </p:pic>
    </p:spTree>
    <p:extLst>
      <p:ext uri="{BB962C8B-B14F-4D97-AF65-F5344CB8AC3E}">
        <p14:creationId xmlns:p14="http://schemas.microsoft.com/office/powerpoint/2010/main" val="3492236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20851D5C-0391-8C3C-CFDA-9B26DD635BBC}"/>
              </a:ext>
            </a:extLst>
          </p:cNvPr>
          <p:cNvGraphicFramePr>
            <a:graphicFrameLocks noGrp="1"/>
          </p:cNvGraphicFramePr>
          <p:nvPr>
            <p:extLst>
              <p:ext uri="{D42A27DB-BD31-4B8C-83A1-F6EECF244321}">
                <p14:modId xmlns:p14="http://schemas.microsoft.com/office/powerpoint/2010/main" val="3483581123"/>
              </p:ext>
            </p:extLst>
          </p:nvPr>
        </p:nvGraphicFramePr>
        <p:xfrm>
          <a:off x="163793" y="7185907"/>
          <a:ext cx="7315201" cy="2458197"/>
        </p:xfrm>
        <a:graphic>
          <a:graphicData uri="http://schemas.openxmlformats.org/drawingml/2006/table">
            <a:tbl>
              <a:tblPr firstRow="1" bandRow="1">
                <a:tableStyleId>{2D5ABB26-0587-4C30-8999-92F81FD0307C}</a:tableStyleId>
              </a:tblPr>
              <a:tblGrid>
                <a:gridCol w="1560257">
                  <a:extLst>
                    <a:ext uri="{9D8B030D-6E8A-4147-A177-3AD203B41FA5}">
                      <a16:colId xmlns:a16="http://schemas.microsoft.com/office/drawing/2014/main" val="1823716183"/>
                    </a:ext>
                  </a:extLst>
                </a:gridCol>
                <a:gridCol w="263334">
                  <a:extLst>
                    <a:ext uri="{9D8B030D-6E8A-4147-A177-3AD203B41FA5}">
                      <a16:colId xmlns:a16="http://schemas.microsoft.com/office/drawing/2014/main" val="1711870494"/>
                    </a:ext>
                  </a:extLst>
                </a:gridCol>
                <a:gridCol w="1790672">
                  <a:extLst>
                    <a:ext uri="{9D8B030D-6E8A-4147-A177-3AD203B41FA5}">
                      <a16:colId xmlns:a16="http://schemas.microsoft.com/office/drawing/2014/main" val="3368796299"/>
                    </a:ext>
                  </a:extLst>
                </a:gridCol>
                <a:gridCol w="1857698">
                  <a:extLst>
                    <a:ext uri="{9D8B030D-6E8A-4147-A177-3AD203B41FA5}">
                      <a16:colId xmlns:a16="http://schemas.microsoft.com/office/drawing/2014/main" val="1078110989"/>
                    </a:ext>
                  </a:extLst>
                </a:gridCol>
                <a:gridCol w="1843240">
                  <a:extLst>
                    <a:ext uri="{9D8B030D-6E8A-4147-A177-3AD203B41FA5}">
                      <a16:colId xmlns:a16="http://schemas.microsoft.com/office/drawing/2014/main" val="2233156983"/>
                    </a:ext>
                  </a:extLst>
                </a:gridCol>
              </a:tblGrid>
              <a:tr h="187656">
                <a:tc gridSpan="5">
                  <a:txBody>
                    <a:bodyPr/>
                    <a:lstStyle/>
                    <a:p>
                      <a:pPr marL="0" marR="0" lvl="0" indent="0" algn="ctr" defTabSz="195517" rtl="0" eaLnBrk="1" fontAlgn="auto" latinLnBrk="0" hangingPunct="1">
                        <a:lnSpc>
                          <a:spcPct val="100000"/>
                        </a:lnSpc>
                        <a:spcBef>
                          <a:spcPts val="0"/>
                        </a:spcBef>
                        <a:spcAft>
                          <a:spcPts val="0"/>
                        </a:spcAft>
                        <a:buClrTx/>
                        <a:buSzTx/>
                        <a:buFontTx/>
                        <a:buNone/>
                        <a:tabLst/>
                        <a:defRPr/>
                      </a:pPr>
                      <a:r>
                        <a:rPr lang="en-US" sz="900" b="1" kern="1200" dirty="0">
                          <a:solidFill>
                            <a:schemeClr val="tx1"/>
                          </a:solidFill>
                          <a:latin typeface="+mn-lt"/>
                          <a:ea typeface="+mn-ea"/>
                          <a:cs typeface="+mn-cs"/>
                        </a:rPr>
                        <a:t>Most Recent Oracle Executive Engagements (within the last 24 months)</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25000"/>
                        <a:lumOff val="75000"/>
                      </a:schemeClr>
                    </a:solidFill>
                  </a:tcPr>
                </a:tc>
                <a:tc hMerge="1">
                  <a:txBody>
                    <a:bodyPr/>
                    <a:lstStyle/>
                    <a:p>
                      <a:endParaRPr lang="en-US"/>
                    </a:p>
                  </a:txBody>
                  <a:tcPr/>
                </a:tc>
                <a:tc hMerge="1">
                  <a:txBody>
                    <a:bodyPr/>
                    <a:lstStyle/>
                    <a:p>
                      <a:endParaRPr lang="en-US"/>
                    </a:p>
                  </a:txBody>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latin typeface="Oracle Sans Light" panose="020B0403020204020204" pitchFamily="34" charset="0"/>
                        <a:cs typeface="Oracle Sans Light" panose="020B04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1381816085"/>
                  </a:ext>
                </a:extLst>
              </a:tr>
              <a:tr h="229653">
                <a:tc gridSpan="2">
                  <a:txBody>
                    <a:bodyPr/>
                    <a:lstStyle/>
                    <a:p>
                      <a:pPr algn="ctr"/>
                      <a:r>
                        <a:rPr lang="en-US" sz="900" b="1" dirty="0">
                          <a:solidFill>
                            <a:srgbClr val="2C5967"/>
                          </a:solidFill>
                        </a:rPr>
                        <a:t>Engagement Type</a:t>
                      </a:r>
                    </a:p>
                  </a:txBody>
                  <a:tcPr marL="45720" marR="45720" marT="0" marB="0" anchor="ctr">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ctr"/>
                      <a:endParaRPr lang="en-US" sz="900" b="1" dirty="0">
                        <a:solidFill>
                          <a:srgbClr val="2C5967"/>
                        </a:solidFill>
                      </a:endParaRP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dirty="0">
                          <a:solidFill>
                            <a:srgbClr val="2C5967"/>
                          </a:solidFill>
                        </a:rPr>
                        <a:t>Engagement Date/Location</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kern="1200" dirty="0">
                          <a:solidFill>
                            <a:srgbClr val="2C5967"/>
                          </a:solidFill>
                          <a:latin typeface="+mn-lt"/>
                          <a:ea typeface="+mn-ea"/>
                          <a:cs typeface="+mn-cs"/>
                        </a:rPr>
                        <a:t>Main Oracle Executive Attendee</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kern="1200" dirty="0">
                          <a:solidFill>
                            <a:srgbClr val="2C5967"/>
                          </a:solidFill>
                          <a:latin typeface="+mn-lt"/>
                          <a:ea typeface="+mn-ea"/>
                          <a:cs typeface="+mn-cs"/>
                        </a:rPr>
                        <a:t>Main Customer Attendee(s)</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738558021"/>
                  </a:ext>
                </a:extLst>
              </a:tr>
              <a:tr h="189866">
                <a:tc gridSpan="2">
                  <a:txBody>
                    <a:bodyPr/>
                    <a:lstStyle/>
                    <a:p>
                      <a:r>
                        <a:t>1:1 Executive Briefing</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r>
                        <a:t>November 2025 / Virtual</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Lisa Park</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David Chen, Patricia Wong</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4021392085"/>
                  </a:ext>
                </a:extLst>
              </a:tr>
              <a:tr h="184150">
                <a:tc gridSpan="2">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3030098202"/>
                  </a:ext>
                </a:extLst>
              </a:tr>
              <a:tr h="196850">
                <a:tc gridSpan="2">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1477610"/>
                  </a:ext>
                </a:extLst>
              </a:tr>
              <a:tr h="189752">
                <a:tc gridSpan="5">
                  <a:txBody>
                    <a:bodyPr/>
                    <a:lstStyle/>
                    <a:p>
                      <a:pPr algn="ctr"/>
                      <a:r>
                        <a:rPr lang="en-US" sz="900" b="1" dirty="0">
                          <a:solidFill>
                            <a:schemeClr val="tx1"/>
                          </a:solidFill>
                        </a:rPr>
                        <a:t>Account Team</a:t>
                      </a:r>
                    </a:p>
                  </a:txBody>
                  <a:tcPr marL="45720" marR="45720" marT="0"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tc hMerge="1">
                  <a:txBody>
                    <a:bodyPr/>
                    <a:lstStyle/>
                    <a:p>
                      <a:endParaRPr lang="en-US"/>
                    </a:p>
                  </a:txBody>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latin typeface="Oracle Sans Light" panose="020B0403020204020204" pitchFamily="34" charset="0"/>
                        <a:cs typeface="Oracle Sans Light" panose="020B04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261076206"/>
                  </a:ext>
                </a:extLst>
              </a:tr>
              <a:tr h="229653">
                <a:tc>
                  <a:txBody>
                    <a:bodyPr/>
                    <a:lstStyle/>
                    <a:p>
                      <a:pPr algn="l"/>
                      <a:r>
                        <a:rPr lang="en-US" sz="900" b="1" dirty="0">
                          <a:solidFill>
                            <a:srgbClr val="2C5967"/>
                          </a:solidFill>
                        </a:rPr>
                        <a:t>SCD / LAM</a:t>
                      </a:r>
                    </a:p>
                    <a:p>
                      <a:pPr algn="l"/>
                      <a:r>
                        <a:rPr lang="en-US" sz="700" b="0" dirty="0">
                          <a:solidFill>
                            <a:schemeClr val="tx1"/>
                          </a:solidFill>
                        </a:rPr>
                        <a:t>(Name, title, email, phone)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4">
                  <a:txBody>
                    <a:bodyPr/>
                    <a:lstStyle/>
                    <a:p>
                      <a:r>
                        <a:t>Lisa Park, Sr. Account Executive, lisa.park@oracle.com, (650) 555-1234</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latin typeface="Oracle Sans Light" panose="020B0403020204020204" pitchFamily="34" charset="0"/>
                        <a:cs typeface="Oracle Sans Light" panose="020B04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285386381"/>
                  </a:ext>
                </a:extLst>
              </a:tr>
              <a:tr h="229653">
                <a:tc>
                  <a:txBody>
                    <a:bodyPr/>
                    <a:lstStyle/>
                    <a:p>
                      <a:pPr algn="l"/>
                      <a:r>
                        <a:rPr lang="en-US" sz="900" b="1" dirty="0">
                          <a:solidFill>
                            <a:srgbClr val="2C5967"/>
                          </a:solidFill>
                        </a:rPr>
                        <a:t>Other Account Manager(s)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dirty="0">
                          <a:solidFill>
                            <a:schemeClr val="tx1"/>
                          </a:solidFill>
                        </a:rPr>
                        <a:t>(Name, title, email, phone)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4">
                  <a:txBody>
                    <a:bodyPr/>
                    <a:lstStyle/>
                    <a:p>
                      <a:r>
                        <a:t>Michael Brown, Strategic Account Manager, michael.brown@oracle.com, (650) 555-5678</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latin typeface="Oracle Sans Light" panose="020B0403020204020204" pitchFamily="34" charset="0"/>
                        <a:cs typeface="Oracle Sans Light" panose="020B04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1885292419"/>
                  </a:ext>
                </a:extLst>
              </a:tr>
              <a:tr h="229653">
                <a:tc>
                  <a:txBody>
                    <a:bodyPr/>
                    <a:lstStyle/>
                    <a:p>
                      <a:pPr algn="l"/>
                      <a:r>
                        <a:rPr lang="en-US" sz="900" b="1" dirty="0">
                          <a:solidFill>
                            <a:srgbClr val="2C5967"/>
                          </a:solidFill>
                        </a:rPr>
                        <a:t>CSE / CSM</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dirty="0">
                          <a:solidFill>
                            <a:schemeClr val="tx1"/>
                          </a:solidFill>
                        </a:rPr>
                        <a:t>(Name, title, email, phone)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4">
                  <a:txBody>
                    <a:bodyPr/>
                    <a:lstStyle/>
                    <a:p>
                      <a:r>
                        <a:t>Jennifer Lee, Customer Success Manager, jennifer.lee@oracle.com, (650) 555-9012</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tc hMerge="1">
                  <a:txBody>
                    <a:bodyPr/>
                    <a:lstStyle/>
                    <a:p>
                      <a:pPr algn="ctr"/>
                      <a:endParaRPr lang="en-US" sz="900" b="1" dirty="0">
                        <a:solidFill>
                          <a:srgbClr val="2C5967"/>
                        </a:solidFill>
                        <a:latin typeface="Oracle Sans Light" panose="020B0403020204020204" pitchFamily="34" charset="0"/>
                        <a:cs typeface="Oracle Sans Light" panose="020B04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extLst>
                  <a:ext uri="{0D108BD9-81ED-4DB2-BD59-A6C34878D82A}">
                    <a16:rowId xmlns:a16="http://schemas.microsoft.com/office/drawing/2014/main" val="189300571"/>
                  </a:ext>
                </a:extLst>
              </a:tr>
              <a:tr h="229653">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dirty="0">
                          <a:solidFill>
                            <a:srgbClr val="2C5967"/>
                          </a:solidFill>
                        </a:rPr>
                        <a:t>Executive Sponsor</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dirty="0">
                          <a:solidFill>
                            <a:schemeClr val="tx1"/>
                          </a:solidFill>
                        </a:rPr>
                        <a:t>(Name, title, email, phone)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gridSpan="4">
                  <a:txBody>
                    <a:bodyPr/>
                    <a:lstStyle/>
                    <a:p>
                      <a:r>
                        <a:t>Robert Martinez, SVP West Region Sales, robert.martinez@oracle.com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62320209"/>
                  </a:ext>
                </a:extLst>
              </a:tr>
              <a:tr h="304910">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dirty="0">
                          <a:solidFill>
                            <a:srgbClr val="2C5967"/>
                          </a:solidFill>
                        </a:rPr>
                        <a:t>Implementation Partner</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dirty="0">
                          <a:solidFill>
                            <a:schemeClr val="tx1"/>
                          </a:solidFill>
                        </a:rPr>
                        <a:t>(Partner name and relevant info)</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gridSpan="4">
                  <a:txBody>
                    <a:bodyPr/>
                    <a:lstStyle/>
                    <a:p>
                      <a:r>
                        <a:t>Accenture - Analytics Practice (Primary), Deloitte (Data Integration)</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405904968"/>
                  </a:ext>
                </a:extLst>
              </a:tr>
            </a:tbl>
          </a:graphicData>
        </a:graphic>
      </p:graphicFrame>
      <p:graphicFrame>
        <p:nvGraphicFramePr>
          <p:cNvPr id="4" name="Table 3">
            <a:extLst>
              <a:ext uri="{FF2B5EF4-FFF2-40B4-BE49-F238E27FC236}">
                <a16:creationId xmlns:a16="http://schemas.microsoft.com/office/drawing/2014/main" id="{128D44B6-3897-02DF-B6AF-7FA0950E93B9}"/>
              </a:ext>
            </a:extLst>
          </p:cNvPr>
          <p:cNvGraphicFramePr>
            <a:graphicFrameLocks noGrp="1"/>
          </p:cNvGraphicFramePr>
          <p:nvPr>
            <p:extLst>
              <p:ext uri="{D42A27DB-BD31-4B8C-83A1-F6EECF244321}">
                <p14:modId xmlns:p14="http://schemas.microsoft.com/office/powerpoint/2010/main" val="992411780"/>
              </p:ext>
            </p:extLst>
          </p:nvPr>
        </p:nvGraphicFramePr>
        <p:xfrm>
          <a:off x="163793" y="5967930"/>
          <a:ext cx="7311601" cy="1012893"/>
        </p:xfrm>
        <a:graphic>
          <a:graphicData uri="http://schemas.openxmlformats.org/drawingml/2006/table">
            <a:tbl>
              <a:tblPr firstRow="1" bandRow="1">
                <a:tableStyleId>{2D5ABB26-0587-4C30-8999-92F81FD0307C}</a:tableStyleId>
              </a:tblPr>
              <a:tblGrid>
                <a:gridCol w="1218600">
                  <a:extLst>
                    <a:ext uri="{9D8B030D-6E8A-4147-A177-3AD203B41FA5}">
                      <a16:colId xmlns:a16="http://schemas.microsoft.com/office/drawing/2014/main" val="1865643287"/>
                    </a:ext>
                  </a:extLst>
                </a:gridCol>
                <a:gridCol w="1493450">
                  <a:extLst>
                    <a:ext uri="{9D8B030D-6E8A-4147-A177-3AD203B41FA5}">
                      <a16:colId xmlns:a16="http://schemas.microsoft.com/office/drawing/2014/main" val="3872007410"/>
                    </a:ext>
                  </a:extLst>
                </a:gridCol>
                <a:gridCol w="1666615">
                  <a:extLst>
                    <a:ext uri="{9D8B030D-6E8A-4147-A177-3AD203B41FA5}">
                      <a16:colId xmlns:a16="http://schemas.microsoft.com/office/drawing/2014/main" val="2966371849"/>
                    </a:ext>
                  </a:extLst>
                </a:gridCol>
                <a:gridCol w="1714336">
                  <a:extLst>
                    <a:ext uri="{9D8B030D-6E8A-4147-A177-3AD203B41FA5}">
                      <a16:colId xmlns:a16="http://schemas.microsoft.com/office/drawing/2014/main" val="1743445744"/>
                    </a:ext>
                  </a:extLst>
                </a:gridCol>
                <a:gridCol w="1218600">
                  <a:extLst>
                    <a:ext uri="{9D8B030D-6E8A-4147-A177-3AD203B41FA5}">
                      <a16:colId xmlns:a16="http://schemas.microsoft.com/office/drawing/2014/main" val="3111226398"/>
                    </a:ext>
                  </a:extLst>
                </a:gridCol>
              </a:tblGrid>
              <a:tr h="318309">
                <a:tc>
                  <a:txBody>
                    <a:bodyPr/>
                    <a:lstStyle/>
                    <a:p>
                      <a:pPr algn="ctr"/>
                      <a:r>
                        <a:rPr lang="en-US" sz="900" b="1" dirty="0">
                          <a:ln>
                            <a:noFill/>
                          </a:ln>
                        </a:rPr>
                        <a:t>Last Audit Date</a:t>
                      </a:r>
                    </a:p>
                  </a:txBody>
                  <a:tcPr marL="0" marR="0" marT="0" marB="0" anchor="ctr">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dirty="0">
                          <a:ln>
                            <a:noFill/>
                          </a:ln>
                        </a:rPr>
                        <a:t>Audit Active</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dirty="0">
                          <a:ln>
                            <a:noFill/>
                          </a:ln>
                        </a:rPr>
                        <a:t>Is </a:t>
                      </a:r>
                      <a:r>
                        <a:rPr lang="en-US" sz="900" b="1" dirty="0">
                          <a:ln>
                            <a:noFill/>
                          </a:ln>
                          <a:hlinkClick r:id="rId3"/>
                        </a:rPr>
                        <a:t>LMS Legal </a:t>
                      </a:r>
                      <a:r>
                        <a:rPr lang="en-US" sz="900" b="1" dirty="0">
                          <a:ln>
                            <a:noFill/>
                          </a:ln>
                        </a:rPr>
                        <a:t>Involved?</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kern="1200" dirty="0">
                          <a:ln>
                            <a:noFill/>
                          </a:ln>
                          <a:solidFill>
                            <a:schemeClr val="tx1"/>
                          </a:solidFill>
                          <a:latin typeface="+mn-lt"/>
                          <a:ea typeface="+mn-ea"/>
                          <a:cs typeface="+mn-cs"/>
                        </a:rPr>
                        <a:t>ULA Certification Active</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dirty="0">
                          <a:ln>
                            <a:noFill/>
                          </a:ln>
                        </a:rPr>
                        <a:t>LMS Contact</a:t>
                      </a:r>
                    </a:p>
                  </a:txBody>
                  <a:tcPr marL="0" marR="0" marT="0" marB="0" anchor="ctr">
                    <a:lnL w="12700" cap="flat" cmpd="sng" algn="ctr">
                      <a:solidFill>
                        <a:schemeClr val="bg2"/>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3839229030"/>
                  </a:ext>
                </a:extLst>
              </a:tr>
              <a:tr h="213888">
                <a:tc>
                  <a:txBody>
                    <a:bodyPr/>
                    <a:lstStyle/>
                    <a:p>
                      <a:r>
                        <a:t>June 2024</a:t>
                      </a:r>
                    </a:p>
                  </a:txBody>
                  <a:tcPr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r>
                        <a:t>No</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r>
                        <a:t>No</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r>
                        <a:t>N/A</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endParaRPr lang="en-US" sz="900" b="0" dirty="0">
                        <a:ln>
                          <a:noFill/>
                        </a:ln>
                        <a:solidFill>
                          <a:schemeClr val="tx1"/>
                        </a:solidFill>
                        <a:latin typeface="+mn-lt"/>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912910007"/>
                  </a:ext>
                </a:extLst>
              </a:tr>
              <a:tr h="240348">
                <a:tc gridSpan="4">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ln>
                            <a:noFill/>
                          </a:ln>
                          <a:solidFill>
                            <a:schemeClr val="tx1"/>
                          </a:solidFill>
                          <a:latin typeface="+mn-lt"/>
                          <a:ea typeface="+mn-ea"/>
                          <a:cs typeface="+mn-cs"/>
                          <a:hlinkClick r:id="rId4"/>
                        </a:rPr>
                        <a:t>Software Investment Advisor</a:t>
                      </a:r>
                      <a:r>
                        <a:rPr lang="en-US" sz="900" b="1" kern="1200" dirty="0">
                          <a:ln>
                            <a:noFill/>
                          </a:ln>
                          <a:solidFill>
                            <a:schemeClr val="tx1"/>
                          </a:solidFill>
                          <a:latin typeface="+mn-lt"/>
                          <a:ea typeface="+mn-ea"/>
                          <a:cs typeface="+mn-cs"/>
                        </a:rPr>
                        <a:t> (SIA) Engaged</a:t>
                      </a:r>
                    </a:p>
                  </a:txBody>
                  <a:tcPr marT="0" marB="0" anchor="ctr">
                    <a:lnR w="12700" cap="flat" cmpd="sng" algn="ctr">
                      <a:solidFill>
                        <a:schemeClr val="bg2"/>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endParaRPr lang="en-US" sz="1000" dirty="0"/>
                    </a:p>
                  </a:txBody>
                  <a:tcPr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sz="1000" dirty="0"/>
                    </a:p>
                  </a:txBody>
                  <a:tcPr marT="0" marB="0" anchor="ctr">
                    <a:lnL w="12700" cap="flat" cmpd="sng" algn="ctr">
                      <a:solidFill>
                        <a:schemeClr val="bg2"/>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lnL w="12700" cap="flat" cmpd="sng" algn="ctr">
                      <a:solidFill>
                        <a:schemeClr val="bg2"/>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tcPr>
                </a:tc>
                <a:tc>
                  <a:txBody>
                    <a:bodyPr/>
                    <a:lstStyle/>
                    <a:p>
                      <a:pPr marL="0" algn="ctr" defTabSz="195517" rtl="0" eaLnBrk="1" latinLnBrk="0" hangingPunct="1"/>
                      <a:r>
                        <a:rPr lang="en-US" sz="900" b="1" kern="1200" dirty="0">
                          <a:ln>
                            <a:noFill/>
                          </a:ln>
                          <a:solidFill>
                            <a:schemeClr val="tx1"/>
                          </a:solidFill>
                          <a:latin typeface="+mn-lt"/>
                          <a:ea typeface="+mn-ea"/>
                          <a:cs typeface="+mn-cs"/>
                        </a:rPr>
                        <a:t>SIA Contact</a:t>
                      </a:r>
                    </a:p>
                  </a:txBody>
                  <a:tcPr marT="0" marB="0" anchor="ctr">
                    <a:lnL w="12700" cap="flat" cmpd="sng" algn="ctr">
                      <a:solidFill>
                        <a:schemeClr val="bg2"/>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3024768492"/>
                  </a:ext>
                </a:extLst>
              </a:tr>
              <a:tr h="240348">
                <a:tc gridSpan="4">
                  <a:txBody>
                    <a:bodyPr/>
                    <a:lstStyle/>
                    <a:p>
                      <a:r>
                        <a:t>Yes</a:t>
                      </a:r>
                    </a:p>
                  </a:txBody>
                  <a:tcPr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900" dirty="0"/>
                    </a:p>
                  </a:txBody>
                  <a:tcPr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tcPr>
                </a:tc>
                <a:tc hMerge="1">
                  <a:txBody>
                    <a:bodyPr/>
                    <a:lstStyle/>
                    <a:p>
                      <a:endParaRPr lang="en-US" sz="900" dirty="0"/>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a:txBody>
                    <a:bodyPr/>
                    <a:lstStyle/>
                    <a:p>
                      <a:r>
                        <a:t>Karen White, SIA Manager</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8495261"/>
                  </a:ext>
                </a:extLst>
              </a:tr>
            </a:tbl>
          </a:graphicData>
        </a:graphic>
      </p:graphicFrame>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EF274413-8361-3A83-5E67-963DD8B4A72E}"/>
                  </a:ext>
                </a:extLst>
              </p14:cNvPr>
              <p14:cNvContentPartPr/>
              <p14:nvPr/>
            </p14:nvContentPartPr>
            <p14:xfrm>
              <a:off x="283821" y="866301"/>
              <a:ext cx="360" cy="360"/>
            </p14:xfrm>
          </p:contentPart>
        </mc:Choice>
        <mc:Fallback xmlns="">
          <p:pic>
            <p:nvPicPr>
              <p:cNvPr id="5" name="Ink 4">
                <a:extLst>
                  <a:ext uri="{FF2B5EF4-FFF2-40B4-BE49-F238E27FC236}">
                    <a16:creationId xmlns:a16="http://schemas.microsoft.com/office/drawing/2014/main" id="{EF274413-8361-3A83-5E67-963DD8B4A72E}"/>
                  </a:ext>
                </a:extLst>
              </p:cNvPr>
              <p:cNvPicPr/>
              <p:nvPr/>
            </p:nvPicPr>
            <p:blipFill>
              <a:blip r:embed="rId6"/>
              <a:stretch>
                <a:fillRect/>
              </a:stretch>
            </p:blipFill>
            <p:spPr>
              <a:xfrm>
                <a:off x="279501" y="861981"/>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9941224A-9B37-D514-4413-28344FEC0053}"/>
                  </a:ext>
                </a:extLst>
              </p14:cNvPr>
              <p14:cNvContentPartPr/>
              <p14:nvPr/>
            </p14:nvContentPartPr>
            <p14:xfrm>
              <a:off x="307941" y="858381"/>
              <a:ext cx="3600" cy="360"/>
            </p14:xfrm>
          </p:contentPart>
        </mc:Choice>
        <mc:Fallback xmlns="">
          <p:pic>
            <p:nvPicPr>
              <p:cNvPr id="6" name="Ink 5">
                <a:extLst>
                  <a:ext uri="{FF2B5EF4-FFF2-40B4-BE49-F238E27FC236}">
                    <a16:creationId xmlns:a16="http://schemas.microsoft.com/office/drawing/2014/main" id="{9941224A-9B37-D514-4413-28344FEC0053}"/>
                  </a:ext>
                </a:extLst>
              </p:cNvPr>
              <p:cNvPicPr/>
              <p:nvPr/>
            </p:nvPicPr>
            <p:blipFill>
              <a:blip r:embed="rId6"/>
              <a:stretch>
                <a:fillRect/>
              </a:stretch>
            </p:blipFill>
            <p:spPr>
              <a:xfrm>
                <a:off x="303621" y="854061"/>
                <a:ext cx="12240" cy="9000"/>
              </a:xfrm>
              <a:prstGeom prst="rect">
                <a:avLst/>
              </a:prstGeom>
            </p:spPr>
          </p:pic>
        </mc:Fallback>
      </mc:AlternateContent>
      <p:graphicFrame>
        <p:nvGraphicFramePr>
          <p:cNvPr id="7" name="Table 6">
            <a:extLst>
              <a:ext uri="{FF2B5EF4-FFF2-40B4-BE49-F238E27FC236}">
                <a16:creationId xmlns:a16="http://schemas.microsoft.com/office/drawing/2014/main" id="{C4990E67-9C3E-FD00-7895-E2EFB5B3B9D2}"/>
              </a:ext>
            </a:extLst>
          </p:cNvPr>
          <p:cNvGraphicFramePr>
            <a:graphicFrameLocks noGrp="1"/>
          </p:cNvGraphicFramePr>
          <p:nvPr>
            <p:extLst>
              <p:ext uri="{D42A27DB-BD31-4B8C-83A1-F6EECF244321}">
                <p14:modId xmlns:p14="http://schemas.microsoft.com/office/powerpoint/2010/main" val="2399448383"/>
              </p:ext>
            </p:extLst>
          </p:nvPr>
        </p:nvGraphicFramePr>
        <p:xfrm>
          <a:off x="163793" y="839114"/>
          <a:ext cx="7278998" cy="4937760"/>
        </p:xfrm>
        <a:graphic>
          <a:graphicData uri="http://schemas.openxmlformats.org/drawingml/2006/table">
            <a:tbl>
              <a:tblPr firstRow="1" bandRow="1">
                <a:tableStyleId>{2D5ABB26-0587-4C30-8999-92F81FD0307C}</a:tableStyleId>
              </a:tblPr>
              <a:tblGrid>
                <a:gridCol w="1198663">
                  <a:extLst>
                    <a:ext uri="{9D8B030D-6E8A-4147-A177-3AD203B41FA5}">
                      <a16:colId xmlns:a16="http://schemas.microsoft.com/office/drawing/2014/main" val="934969453"/>
                    </a:ext>
                  </a:extLst>
                </a:gridCol>
                <a:gridCol w="1946209">
                  <a:extLst>
                    <a:ext uri="{9D8B030D-6E8A-4147-A177-3AD203B41FA5}">
                      <a16:colId xmlns:a16="http://schemas.microsoft.com/office/drawing/2014/main" val="1382363182"/>
                    </a:ext>
                  </a:extLst>
                </a:gridCol>
                <a:gridCol w="4134126">
                  <a:extLst>
                    <a:ext uri="{9D8B030D-6E8A-4147-A177-3AD203B41FA5}">
                      <a16:colId xmlns:a16="http://schemas.microsoft.com/office/drawing/2014/main" val="3769453652"/>
                    </a:ext>
                  </a:extLst>
                </a:gridCol>
              </a:tblGrid>
              <a:tr h="349337">
                <a:tc rowSpan="3">
                  <a:txBody>
                    <a:bodyPr/>
                    <a:lstStyle/>
                    <a:p>
                      <a:pPr marL="0" algn="l" defTabSz="195517" rtl="0" eaLnBrk="1" latinLnBrk="0" hangingPunct="1"/>
                      <a:endParaRPr lang="en-US" sz="900" b="1" kern="1200" dirty="0">
                        <a:solidFill>
                          <a:srgbClr val="2C5967"/>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t>Tim Harrison, Chief Digital Officer, tim.harrison@apple.com</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Tim Harrison, Chief Digital Officer, tim.harrison@apple.com</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2145389527"/>
                  </a:ext>
                </a:extLst>
              </a:tr>
              <a:tr h="349337">
                <a:tc vMerge="1">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endParaRPr lang="en-US" sz="700" dirty="0">
                        <a:solidFill>
                          <a:srgbClr val="67605B"/>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a:txBody>
                    <a:bodyPr/>
                    <a:lstStyle/>
                    <a:p>
                      <a:r>
                        <a:t>Driving Apple's data transformation agenda. Skeptical of large platform vendors - prefers best-of-breed. Strong relationship with Salesforce. Needs to see clear differentiation.</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Driving Apple's data transformation agenda. Skeptical of large platform vendors - prefers best-of-breed. Strong relationship with Salesforce. Needs to see clear differentiation.</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693680188"/>
                  </a:ext>
                </a:extLst>
              </a:tr>
              <a:tr h="349337">
                <a:tc vMerge="1">
                  <a:txBody>
                    <a:bodyPr/>
                    <a:lstStyle/>
                    <a:p>
                      <a:pPr marL="0" algn="l" defTabSz="195517" rtl="0" eaLnBrk="1" latinLnBrk="0" hangingPunct="1"/>
                      <a:endParaRPr lang="en-US" sz="700" b="0" kern="1200" dirty="0">
                        <a:solidFill>
                          <a:srgbClr val="67605B"/>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t>20+ years in digital transformation, former CDO at Nike. Harvard MBA. Known for data-driven marketing innovation.</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t>20+ years in digital transformation, former CDO at Nike. Harvard MBA. Known for data-driven marketing innovation.</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1524122"/>
                  </a:ext>
                </a:extLst>
              </a:tr>
              <a:tr h="349337">
                <a:tc rowSpan="3">
                  <a:txBody>
                    <a:bodyPr/>
                    <a:lstStyle/>
                    <a:p>
                      <a:pPr marL="0" algn="l" defTabSz="195517" rtl="0" eaLnBrk="1" latinLnBrk="0" hangingPunct="1"/>
                      <a:endParaRPr lang="en-US" sz="900" b="1" kern="1200" dirty="0">
                        <a:solidFill>
                          <a:srgbClr val="2C5967"/>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t>David Chen, CIO, david.chen@apple.com</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David Chen, CIO, david.chen@apple.com</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2883417940"/>
                  </a:ext>
                </a:extLst>
              </a:tr>
              <a:tr h="349337">
                <a:tc vMerge="1">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endParaRPr lang="en-US" sz="700" dirty="0">
                        <a:solidFill>
                          <a:srgbClr val="67605B"/>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a:txBody>
                    <a:bodyPr/>
                    <a:lstStyle/>
                    <a:p>
                      <a:r>
                        <a:t>Oracle advocate from previous company. Focused on integration and total cost of ownership. Concerned about implementation timeline and change management.</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Oracle advocate from previous company. Focused on integration and total cost of ownership. Concerned about implementation timeline and change management.</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1040647383"/>
                  </a:ext>
                </a:extLst>
              </a:tr>
              <a:tr h="349337">
                <a:tc vMerge="1">
                  <a:txBody>
                    <a:bodyPr/>
                    <a:lstStyle/>
                    <a:p>
                      <a:pPr marL="0" algn="l" defTabSz="195517" rtl="0" eaLnBrk="1" latinLnBrk="0" hangingPunct="1"/>
                      <a:endParaRPr lang="en-US" sz="700" b="0" kern="1200" dirty="0">
                        <a:solidFill>
                          <a:srgbClr val="67605B"/>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t>Former VP of IT at Cisco. 25 years in enterprise technology. Led successful Oracle implementation at previous employer.</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t>Former VP of IT at Cisco. 25 years in enterprise technology. Led successful Oracle implementation at previous employer.</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7414671"/>
                  </a:ext>
                </a:extLst>
              </a:tr>
              <a:tr h="349337">
                <a:tc rowSpan="3">
                  <a:txBody>
                    <a:bodyPr/>
                    <a:lstStyle/>
                    <a:p>
                      <a:pPr marL="0" algn="l" defTabSz="195517" rtl="0" eaLnBrk="1" latinLnBrk="0" hangingPunct="1"/>
                      <a:endParaRPr lang="en-US" sz="900" b="1" kern="1200" dirty="0">
                        <a:solidFill>
                          <a:srgbClr val="2C5967"/>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t>Michelle Torres, VP Marketing Operations, michelle.torres@apple.com</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Michelle Torres, VP Marketing Operations, michelle.torres@apple.com</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4197844847"/>
                  </a:ext>
                </a:extLst>
              </a:tr>
              <a:tr h="290201">
                <a:tc vMerge="1">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endParaRPr lang="en-US" sz="700" dirty="0">
                        <a:solidFill>
                          <a:srgbClr val="67605B"/>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a:txBody>
                    <a:bodyPr/>
                    <a:lstStyle/>
                    <a:p>
                      <a:r>
                        <a:t>Primary business stakeholder. Frustrated with current analytics delays. Wants real-time campaign optimization and better attribution. Very hands-on, will want to see demos.</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Primary business stakeholder. Frustrated with current analytics delays. Wants real-time campaign optimization and better attribution. Very hands-on, will want to see demos.</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86189404"/>
                  </a:ext>
                </a:extLst>
              </a:tr>
              <a:tr h="290201">
                <a:tc vMerge="1">
                  <a:txBody>
                    <a:bodyPr/>
                    <a:lstStyle/>
                    <a:p>
                      <a:pPr marL="0" algn="l" defTabSz="195517" rtl="0" eaLnBrk="1" latinLnBrk="0" hangingPunct="1"/>
                      <a:endParaRPr lang="en-US" sz="700" b="0" kern="1200" dirty="0">
                        <a:solidFill>
                          <a:srgbClr val="67605B"/>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t>15 years in marketing operations. Former Director at Google. Expert in marketing automation and analytics.</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t>15 years in marketing operations. Former Director at Google. Expert in marketing automation and analytics.</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8918100"/>
                  </a:ext>
                </a:extLst>
              </a:tr>
            </a:tbl>
          </a:graphicData>
        </a:graphic>
      </p:graphicFrame>
      <p:pic>
        <p:nvPicPr>
          <p:cNvPr id="8" name="Picture 7" descr="A picture containing text&#10;&#10;Description automatically generated">
            <a:extLst>
              <a:ext uri="{FF2B5EF4-FFF2-40B4-BE49-F238E27FC236}">
                <a16:creationId xmlns:a16="http://schemas.microsoft.com/office/drawing/2014/main" id="{40F1D101-8E72-F518-2C92-B88D1D21AF82}"/>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300947" y="1187424"/>
            <a:ext cx="914400" cy="914400"/>
          </a:xfrm>
          <a:prstGeom prst="rect">
            <a:avLst/>
          </a:prstGeom>
        </p:spPr>
      </p:pic>
      <p:pic>
        <p:nvPicPr>
          <p:cNvPr id="9" name="Picture 8" descr="A picture containing text&#10;&#10;Description automatically generated">
            <a:extLst>
              <a:ext uri="{FF2B5EF4-FFF2-40B4-BE49-F238E27FC236}">
                <a16:creationId xmlns:a16="http://schemas.microsoft.com/office/drawing/2014/main" id="{6C788A28-2438-E116-7642-79F36D1A0789}"/>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311580" y="2845729"/>
            <a:ext cx="914400" cy="914400"/>
          </a:xfrm>
          <a:prstGeom prst="rect">
            <a:avLst/>
          </a:prstGeom>
        </p:spPr>
      </p:pic>
      <p:pic>
        <p:nvPicPr>
          <p:cNvPr id="10" name="Picture 9" descr="A picture containing text&#10;&#10;Description automatically generated">
            <a:extLst>
              <a:ext uri="{FF2B5EF4-FFF2-40B4-BE49-F238E27FC236}">
                <a16:creationId xmlns:a16="http://schemas.microsoft.com/office/drawing/2014/main" id="{1FAFDF71-F32B-762E-7E79-A1DBDC97F03A}"/>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300947" y="4528440"/>
            <a:ext cx="914400" cy="914400"/>
          </a:xfrm>
          <a:prstGeom prst="rect">
            <a:avLst/>
          </a:prstGeom>
        </p:spPr>
      </p:pic>
    </p:spTree>
    <p:extLst>
      <p:ext uri="{BB962C8B-B14F-4D97-AF65-F5344CB8AC3E}">
        <p14:creationId xmlns:p14="http://schemas.microsoft.com/office/powerpoint/2010/main" val="1540515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5BE8610-820A-AC5A-88D4-B97659AA2400}"/>
              </a:ext>
            </a:extLst>
          </p:cNvPr>
          <p:cNvSpPr txBox="1"/>
          <p:nvPr/>
        </p:nvSpPr>
        <p:spPr>
          <a:xfrm>
            <a:off x="165100" y="699700"/>
            <a:ext cx="5753100" cy="276999"/>
          </a:xfrm>
          <a:prstGeom prst="rect">
            <a:avLst/>
          </a:prstGeom>
          <a:noFill/>
        </p:spPr>
        <p:txBody>
          <a:bodyPr wrap="square" lIns="0" rtlCol="0">
            <a:spAutoFit/>
          </a:bodyPr>
          <a:lstStyle/>
          <a:p>
            <a:r>
              <a:rPr lang="en-US" sz="1200" b="1" dirty="0">
                <a:solidFill>
                  <a:srgbClr val="2C5967"/>
                </a:solidFill>
              </a:rPr>
              <a:t>Customer References </a:t>
            </a:r>
            <a:r>
              <a:rPr lang="en-US" sz="1200" i="1" dirty="0"/>
              <a:t>&lt;Delete / Add as needed&gt;</a:t>
            </a:r>
          </a:p>
        </p:txBody>
      </p:sp>
      <p:graphicFrame>
        <p:nvGraphicFramePr>
          <p:cNvPr id="12" name="Table 11">
            <a:extLst>
              <a:ext uri="{FF2B5EF4-FFF2-40B4-BE49-F238E27FC236}">
                <a16:creationId xmlns:a16="http://schemas.microsoft.com/office/drawing/2014/main" id="{39A809CB-3909-41C5-DD19-0FE95177DB66}"/>
              </a:ext>
            </a:extLst>
          </p:cNvPr>
          <p:cNvGraphicFramePr>
            <a:graphicFrameLocks noGrp="1"/>
          </p:cNvGraphicFramePr>
          <p:nvPr>
            <p:extLst>
              <p:ext uri="{D42A27DB-BD31-4B8C-83A1-F6EECF244321}">
                <p14:modId xmlns:p14="http://schemas.microsoft.com/office/powerpoint/2010/main" val="898793170"/>
              </p:ext>
            </p:extLst>
          </p:nvPr>
        </p:nvGraphicFramePr>
        <p:xfrm>
          <a:off x="165100" y="1028291"/>
          <a:ext cx="7391400" cy="2641229"/>
        </p:xfrm>
        <a:graphic>
          <a:graphicData uri="http://schemas.openxmlformats.org/drawingml/2006/table">
            <a:tbl>
              <a:tblPr firstRow="1" bandRow="1">
                <a:tableStyleId>{2D5ABB26-0587-4C30-8999-92F81FD0307C}</a:tableStyleId>
              </a:tblPr>
              <a:tblGrid>
                <a:gridCol w="1829776">
                  <a:extLst>
                    <a:ext uri="{9D8B030D-6E8A-4147-A177-3AD203B41FA5}">
                      <a16:colId xmlns:a16="http://schemas.microsoft.com/office/drawing/2014/main" val="1382363182"/>
                    </a:ext>
                  </a:extLst>
                </a:gridCol>
                <a:gridCol w="5561624">
                  <a:extLst>
                    <a:ext uri="{9D8B030D-6E8A-4147-A177-3AD203B41FA5}">
                      <a16:colId xmlns:a16="http://schemas.microsoft.com/office/drawing/2014/main" val="3769453652"/>
                    </a:ext>
                  </a:extLst>
                </a:gridCol>
              </a:tblGrid>
              <a:tr h="357783">
                <a:tc>
                  <a:txBody>
                    <a:bodyPr/>
                    <a:lstStyle/>
                    <a:p>
                      <a:pPr marL="0" algn="l" defTabSz="195517" rtl="0" eaLnBrk="1" latinLnBrk="0" hangingPunct="1"/>
                      <a:r>
                        <a:rPr lang="en-US" sz="900" b="1" kern="1200" dirty="0">
                          <a:solidFill>
                            <a:srgbClr val="2C5967"/>
                          </a:solidFill>
                          <a:latin typeface="+mn-lt"/>
                          <a:ea typeface="+mn-ea"/>
                          <a:cs typeface="+mn-cs"/>
                        </a:rPr>
                        <a:t>Customer Name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Nike</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4197844847"/>
                  </a:ext>
                </a:extLst>
              </a:tr>
              <a:tr h="316780">
                <a:tc>
                  <a:txBody>
                    <a:bodyPr/>
                    <a:lstStyle/>
                    <a:p>
                      <a:pPr marL="0" algn="l" defTabSz="195517" rtl="0" eaLnBrk="1" latinLnBrk="0" hangingPunct="1"/>
                      <a:r>
                        <a:rPr lang="en-US" sz="900" b="1" kern="1200" dirty="0">
                          <a:solidFill>
                            <a:srgbClr val="2C5967"/>
                          </a:solidFill>
                          <a:latin typeface="+mn-lt"/>
                          <a:ea typeface="+mn-ea"/>
                          <a:cs typeface="+mn-cs"/>
                        </a:rPr>
                        <a:t>Customer Industry</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Retail / Consumer</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86189404"/>
                  </a:ext>
                </a:extLst>
              </a:tr>
              <a:tr h="290380">
                <a:tc>
                  <a:txBody>
                    <a:bodyPr/>
                    <a:lstStyle/>
                    <a:p>
                      <a:pPr marL="0" algn="l" defTabSz="195517" rtl="0" eaLnBrk="1" latinLnBrk="0" hangingPunct="1"/>
                      <a:r>
                        <a:rPr lang="en-US" sz="900" b="1" kern="1200" dirty="0">
                          <a:solidFill>
                            <a:srgbClr val="2C5967"/>
                          </a:solidFill>
                          <a:latin typeface="+mn-lt"/>
                          <a:ea typeface="+mn-ea"/>
                          <a:cs typeface="+mn-cs"/>
                        </a:rPr>
                        <a:t>Customer Website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www.nike.com</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2868918100"/>
                  </a:ext>
                </a:extLst>
              </a:tr>
              <a:tr h="567562">
                <a:tc>
                  <a:txBody>
                    <a:bodyPr/>
                    <a:lstStyle/>
                    <a:p>
                      <a:pPr marL="0" algn="l" defTabSz="195517" rtl="0" eaLnBrk="1" latinLnBrk="0" hangingPunct="1"/>
                      <a:r>
                        <a:rPr lang="en-US" sz="900" b="1" kern="1200" dirty="0">
                          <a:solidFill>
                            <a:srgbClr val="2C5967"/>
                          </a:solidFill>
                          <a:latin typeface="+mn-lt"/>
                          <a:ea typeface="+mn-ea"/>
                          <a:cs typeface="+mn-cs"/>
                        </a:rPr>
                        <a:t>Oracle Product(s)</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Oracle Analytics Cloud, Oracle CX Cloud</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76870"/>
                  </a:ext>
                </a:extLst>
              </a:tr>
              <a:tr h="488367">
                <a:tc>
                  <a:txBody>
                    <a:bodyPr/>
                    <a:lstStyle/>
                    <a:p>
                      <a:pPr marL="0" algn="l" defTabSz="195517" rtl="0" eaLnBrk="1" latinLnBrk="0" hangingPunct="1"/>
                      <a:r>
                        <a:rPr lang="en-US" sz="900" b="1" kern="1200" dirty="0">
                          <a:solidFill>
                            <a:srgbClr val="2C5967"/>
                          </a:solidFill>
                          <a:latin typeface="+mn-lt"/>
                          <a:ea typeface="+mn-ea"/>
                          <a:cs typeface="+mn-cs"/>
                        </a:rPr>
                        <a:t>Links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link to customer story, customer video, etc.)</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212662237"/>
                  </a:ext>
                </a:extLst>
              </a:tr>
              <a:tr h="620357">
                <a:tc>
                  <a:txBody>
                    <a:bodyPr/>
                    <a:lstStyle/>
                    <a:p>
                      <a:pPr marL="0" algn="l" defTabSz="195517" rtl="0" eaLnBrk="1" latinLnBrk="0" hangingPunct="1"/>
                      <a:r>
                        <a:rPr lang="en-US" sz="900" b="1" kern="1200" dirty="0">
                          <a:solidFill>
                            <a:srgbClr val="2C5967"/>
                          </a:solidFill>
                          <a:latin typeface="+mn-lt"/>
                          <a:ea typeface="+mn-ea"/>
                          <a:cs typeface="+mn-cs"/>
                        </a:rPr>
                        <a:t>Summary</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a short summary of the customer’s business challenge and why they chose Oracle)</a:t>
                      </a:r>
                    </a:p>
                    <a:p>
                      <a:pPr marL="0" algn="l" defTabSz="195517" rtl="0" eaLnBrk="1" latinLnBrk="0" hangingPunct="1"/>
                      <a:endParaRPr lang="en-US" sz="900" b="1" kern="1200" dirty="0">
                        <a:solidFill>
                          <a:srgbClr val="2C5967"/>
                        </a:solidFill>
                        <a:latin typeface="+mn-lt"/>
                        <a:ea typeface="+mn-ea"/>
                        <a:cs typeface="+mn-cs"/>
                      </a:endParaRP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Unified customer data across 200+ retail locations and digital channels. Achieved 35% improvement in marketing attribution accuracy and $40M annual savings in ad spend optimization.</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1948662"/>
                  </a:ext>
                </a:extLst>
              </a:tr>
            </a:tbl>
          </a:graphicData>
        </a:graphic>
      </p:graphicFrame>
      <p:graphicFrame>
        <p:nvGraphicFramePr>
          <p:cNvPr id="13" name="Table 12">
            <a:extLst>
              <a:ext uri="{FF2B5EF4-FFF2-40B4-BE49-F238E27FC236}">
                <a16:creationId xmlns:a16="http://schemas.microsoft.com/office/drawing/2014/main" id="{8FE09F1B-A6F4-9A2D-14A8-E18C921A3E02}"/>
              </a:ext>
            </a:extLst>
          </p:cNvPr>
          <p:cNvGraphicFramePr>
            <a:graphicFrameLocks noGrp="1"/>
          </p:cNvGraphicFramePr>
          <p:nvPr>
            <p:extLst>
              <p:ext uri="{D42A27DB-BD31-4B8C-83A1-F6EECF244321}">
                <p14:modId xmlns:p14="http://schemas.microsoft.com/office/powerpoint/2010/main" val="1597344447"/>
              </p:ext>
            </p:extLst>
          </p:nvPr>
        </p:nvGraphicFramePr>
        <p:xfrm>
          <a:off x="165100" y="4038318"/>
          <a:ext cx="7391399" cy="2641228"/>
        </p:xfrm>
        <a:graphic>
          <a:graphicData uri="http://schemas.openxmlformats.org/drawingml/2006/table">
            <a:tbl>
              <a:tblPr firstRow="1" bandRow="1">
                <a:tableStyleId>{2D5ABB26-0587-4C30-8999-92F81FD0307C}</a:tableStyleId>
              </a:tblPr>
              <a:tblGrid>
                <a:gridCol w="1829776">
                  <a:extLst>
                    <a:ext uri="{9D8B030D-6E8A-4147-A177-3AD203B41FA5}">
                      <a16:colId xmlns:a16="http://schemas.microsoft.com/office/drawing/2014/main" val="1382363182"/>
                    </a:ext>
                  </a:extLst>
                </a:gridCol>
                <a:gridCol w="5561623">
                  <a:extLst>
                    <a:ext uri="{9D8B030D-6E8A-4147-A177-3AD203B41FA5}">
                      <a16:colId xmlns:a16="http://schemas.microsoft.com/office/drawing/2014/main" val="3769453652"/>
                    </a:ext>
                  </a:extLst>
                </a:gridCol>
              </a:tblGrid>
              <a:tr h="357783">
                <a:tc>
                  <a:txBody>
                    <a:bodyPr/>
                    <a:lstStyle/>
                    <a:p>
                      <a:pPr marL="0" algn="l" defTabSz="195517" rtl="0" eaLnBrk="1" latinLnBrk="0" hangingPunct="1"/>
                      <a:r>
                        <a:rPr lang="en-US" sz="900" b="1" kern="1200" dirty="0">
                          <a:solidFill>
                            <a:srgbClr val="2C5967"/>
                          </a:solidFill>
                          <a:latin typeface="+mn-lt"/>
                          <a:ea typeface="+mn-ea"/>
                          <a:cs typeface="+mn-cs"/>
                        </a:rPr>
                        <a:t>Customer Name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Starbucks</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4197844847"/>
                  </a:ext>
                </a:extLst>
              </a:tr>
              <a:tr h="316780">
                <a:tc>
                  <a:txBody>
                    <a:bodyPr/>
                    <a:lstStyle/>
                    <a:p>
                      <a:pPr marL="0" algn="l" defTabSz="195517" rtl="0" eaLnBrk="1" latinLnBrk="0" hangingPunct="1"/>
                      <a:r>
                        <a:rPr lang="en-US" sz="900" b="1" kern="1200" dirty="0">
                          <a:solidFill>
                            <a:srgbClr val="2C5967"/>
                          </a:solidFill>
                          <a:latin typeface="+mn-lt"/>
                          <a:ea typeface="+mn-ea"/>
                          <a:cs typeface="+mn-cs"/>
                        </a:rPr>
                        <a:t>Customer Industry</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Retail / Food Service</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86189404"/>
                  </a:ext>
                </a:extLst>
              </a:tr>
              <a:tr h="290380">
                <a:tc>
                  <a:txBody>
                    <a:bodyPr/>
                    <a:lstStyle/>
                    <a:p>
                      <a:pPr marL="0" algn="l" defTabSz="195517" rtl="0" eaLnBrk="1" latinLnBrk="0" hangingPunct="1"/>
                      <a:r>
                        <a:rPr lang="en-US" sz="900" b="1" kern="1200" dirty="0">
                          <a:solidFill>
                            <a:srgbClr val="2C5967"/>
                          </a:solidFill>
                          <a:latin typeface="+mn-lt"/>
                          <a:ea typeface="+mn-ea"/>
                          <a:cs typeface="+mn-cs"/>
                        </a:rPr>
                        <a:t>Customer Website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www.starbucks.com</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2868918100"/>
                  </a:ext>
                </a:extLst>
              </a:tr>
              <a:tr h="567562">
                <a:tc>
                  <a:txBody>
                    <a:bodyPr/>
                    <a:lstStyle/>
                    <a:p>
                      <a:pPr marL="0" algn="l" defTabSz="195517" rtl="0" eaLnBrk="1" latinLnBrk="0" hangingPunct="1"/>
                      <a:r>
                        <a:rPr lang="en-US" sz="900" b="1" kern="1200" dirty="0">
                          <a:solidFill>
                            <a:srgbClr val="2C5967"/>
                          </a:solidFill>
                          <a:latin typeface="+mn-lt"/>
                          <a:ea typeface="+mn-ea"/>
                          <a:cs typeface="+mn-cs"/>
                        </a:rPr>
                        <a:t>Oracle Product(s)</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Oracle Analytics Cloud, Oracle Autonomous Database</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76870"/>
                  </a:ext>
                </a:extLst>
              </a:tr>
              <a:tr h="488367">
                <a:tc>
                  <a:txBody>
                    <a:bodyPr/>
                    <a:lstStyle/>
                    <a:p>
                      <a:pPr marL="0" algn="l" defTabSz="195517" rtl="0" eaLnBrk="1" latinLnBrk="0" hangingPunct="1"/>
                      <a:r>
                        <a:rPr lang="en-US" sz="900" b="1" kern="1200" dirty="0">
                          <a:solidFill>
                            <a:srgbClr val="2C5967"/>
                          </a:solidFill>
                          <a:latin typeface="+mn-lt"/>
                          <a:ea typeface="+mn-ea"/>
                          <a:cs typeface="+mn-cs"/>
                        </a:rPr>
                        <a:t>Links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link to customer story, customer video, etc.)</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212662237"/>
                  </a:ext>
                </a:extLst>
              </a:tr>
              <a:tr h="620356">
                <a:tc>
                  <a:txBody>
                    <a:bodyPr/>
                    <a:lstStyle/>
                    <a:p>
                      <a:pPr marL="0" algn="l" defTabSz="195517" rtl="0" eaLnBrk="1" latinLnBrk="0" hangingPunct="1"/>
                      <a:r>
                        <a:rPr lang="en-US" sz="900" b="1" kern="1200" dirty="0">
                          <a:solidFill>
                            <a:srgbClr val="2C5967"/>
                          </a:solidFill>
                          <a:latin typeface="+mn-lt"/>
                          <a:ea typeface="+mn-ea"/>
                          <a:cs typeface="+mn-cs"/>
                        </a:rPr>
                        <a:t>Summary</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a short summary of the customer’s business challenge and why they chose Oracle)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Implemented real-time customer insights platform. Reduced analytics latency from 24 hours to 15 minutes. Personalization engine drives 20% of mobile app revenue.</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1948662"/>
                  </a:ext>
                </a:extLst>
              </a:tr>
            </a:tbl>
          </a:graphicData>
        </a:graphic>
      </p:graphicFrame>
      <p:graphicFrame>
        <p:nvGraphicFramePr>
          <p:cNvPr id="15" name="Table 14">
            <a:extLst>
              <a:ext uri="{FF2B5EF4-FFF2-40B4-BE49-F238E27FC236}">
                <a16:creationId xmlns:a16="http://schemas.microsoft.com/office/drawing/2014/main" id="{A61126C0-4ED0-BDDB-DA6B-2B848987F6A6}"/>
              </a:ext>
            </a:extLst>
          </p:cNvPr>
          <p:cNvGraphicFramePr>
            <a:graphicFrameLocks noGrp="1"/>
          </p:cNvGraphicFramePr>
          <p:nvPr>
            <p:extLst>
              <p:ext uri="{D42A27DB-BD31-4B8C-83A1-F6EECF244321}">
                <p14:modId xmlns:p14="http://schemas.microsoft.com/office/powerpoint/2010/main" val="2011324976"/>
              </p:ext>
            </p:extLst>
          </p:nvPr>
        </p:nvGraphicFramePr>
        <p:xfrm>
          <a:off x="165100" y="7027084"/>
          <a:ext cx="7391399" cy="2641229"/>
        </p:xfrm>
        <a:graphic>
          <a:graphicData uri="http://schemas.openxmlformats.org/drawingml/2006/table">
            <a:tbl>
              <a:tblPr firstRow="1" bandRow="1">
                <a:tableStyleId>{2D5ABB26-0587-4C30-8999-92F81FD0307C}</a:tableStyleId>
              </a:tblPr>
              <a:tblGrid>
                <a:gridCol w="1829776">
                  <a:extLst>
                    <a:ext uri="{9D8B030D-6E8A-4147-A177-3AD203B41FA5}">
                      <a16:colId xmlns:a16="http://schemas.microsoft.com/office/drawing/2014/main" val="1382363182"/>
                    </a:ext>
                  </a:extLst>
                </a:gridCol>
                <a:gridCol w="5561623">
                  <a:extLst>
                    <a:ext uri="{9D8B030D-6E8A-4147-A177-3AD203B41FA5}">
                      <a16:colId xmlns:a16="http://schemas.microsoft.com/office/drawing/2014/main" val="3769453652"/>
                    </a:ext>
                  </a:extLst>
                </a:gridCol>
              </a:tblGrid>
              <a:tr h="357783">
                <a:tc>
                  <a:txBody>
                    <a:bodyPr/>
                    <a:lstStyle/>
                    <a:p>
                      <a:pPr marL="0" algn="l" defTabSz="195517" rtl="0" eaLnBrk="1" latinLnBrk="0" hangingPunct="1"/>
                      <a:r>
                        <a:rPr lang="en-US" sz="900" b="1" kern="1200" dirty="0">
                          <a:solidFill>
                            <a:srgbClr val="2C5967"/>
                          </a:solidFill>
                          <a:latin typeface="+mn-lt"/>
                          <a:ea typeface="+mn-ea"/>
                          <a:cs typeface="+mn-cs"/>
                        </a:rPr>
                        <a:t>Customer Name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Target</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4197844847"/>
                  </a:ext>
                </a:extLst>
              </a:tr>
              <a:tr h="316780">
                <a:tc>
                  <a:txBody>
                    <a:bodyPr/>
                    <a:lstStyle/>
                    <a:p>
                      <a:pPr marL="0" algn="l" defTabSz="195517" rtl="0" eaLnBrk="1" latinLnBrk="0" hangingPunct="1"/>
                      <a:r>
                        <a:rPr lang="en-US" sz="900" b="1" kern="1200" dirty="0">
                          <a:solidFill>
                            <a:srgbClr val="2C5967"/>
                          </a:solidFill>
                          <a:latin typeface="+mn-lt"/>
                          <a:ea typeface="+mn-ea"/>
                          <a:cs typeface="+mn-cs"/>
                        </a:rPr>
                        <a:t>Customer Industry</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Retail</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86189404"/>
                  </a:ext>
                </a:extLst>
              </a:tr>
              <a:tr h="290380">
                <a:tc>
                  <a:txBody>
                    <a:bodyPr/>
                    <a:lstStyle/>
                    <a:p>
                      <a:pPr marL="0" algn="l" defTabSz="195517" rtl="0" eaLnBrk="1" latinLnBrk="0" hangingPunct="1"/>
                      <a:r>
                        <a:rPr lang="en-US" sz="900" b="1" kern="1200" dirty="0">
                          <a:solidFill>
                            <a:srgbClr val="2C5967"/>
                          </a:solidFill>
                          <a:latin typeface="+mn-lt"/>
                          <a:ea typeface="+mn-ea"/>
                          <a:cs typeface="+mn-cs"/>
                        </a:rPr>
                        <a:t>Customer Website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www.target.com</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2868918100"/>
                  </a:ext>
                </a:extLst>
              </a:tr>
              <a:tr h="567562">
                <a:tc>
                  <a:txBody>
                    <a:bodyPr/>
                    <a:lstStyle/>
                    <a:p>
                      <a:pPr marL="0" algn="l" defTabSz="195517" rtl="0" eaLnBrk="1" latinLnBrk="0" hangingPunct="1"/>
                      <a:r>
                        <a:rPr lang="en-US" sz="900" b="1" kern="1200" dirty="0">
                          <a:solidFill>
                            <a:srgbClr val="2C5967"/>
                          </a:solidFill>
                          <a:latin typeface="+mn-lt"/>
                          <a:ea typeface="+mn-ea"/>
                          <a:cs typeface="+mn-cs"/>
                        </a:rPr>
                        <a:t>Oracle Product(s)</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Oracle Analytics Cloud, Oracle Marketing Cloud</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76870"/>
                  </a:ext>
                </a:extLst>
              </a:tr>
              <a:tr h="488367">
                <a:tc>
                  <a:txBody>
                    <a:bodyPr/>
                    <a:lstStyle/>
                    <a:p>
                      <a:pPr marL="0" algn="l" defTabSz="195517" rtl="0" eaLnBrk="1" latinLnBrk="0" hangingPunct="1"/>
                      <a:r>
                        <a:rPr lang="en-US" sz="900" b="1" kern="1200" dirty="0">
                          <a:solidFill>
                            <a:srgbClr val="2C5967"/>
                          </a:solidFill>
                          <a:latin typeface="+mn-lt"/>
                          <a:ea typeface="+mn-ea"/>
                          <a:cs typeface="+mn-cs"/>
                        </a:rPr>
                        <a:t>Links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link to customer story, customer video, etc.)</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212662237"/>
                  </a:ext>
                </a:extLst>
              </a:tr>
              <a:tr h="620357">
                <a:tc>
                  <a:txBody>
                    <a:bodyPr/>
                    <a:lstStyle/>
                    <a:p>
                      <a:pPr marL="0" algn="l" defTabSz="195517" rtl="0" eaLnBrk="1" latinLnBrk="0" hangingPunct="1"/>
                      <a:r>
                        <a:rPr lang="en-US" sz="900" b="1" kern="1200" dirty="0">
                          <a:solidFill>
                            <a:srgbClr val="2C5967"/>
                          </a:solidFill>
                          <a:latin typeface="+mn-lt"/>
                          <a:ea typeface="+mn-ea"/>
                          <a:cs typeface="+mn-cs"/>
                        </a:rPr>
                        <a:t>Summary</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a short summary of the customer’s business challenge and why they chose Oracle)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Marketing and Sales Unification across digital and physical channels. 45% improvement in campaign effectiveness and real-time inventory-aware promotions.</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1948662"/>
                  </a:ext>
                </a:extLst>
              </a:tr>
            </a:tbl>
          </a:graphicData>
        </a:graphic>
      </p:graphicFrame>
    </p:spTree>
    <p:extLst>
      <p:ext uri="{BB962C8B-B14F-4D97-AF65-F5344CB8AC3E}">
        <p14:creationId xmlns:p14="http://schemas.microsoft.com/office/powerpoint/2010/main" val="404484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3FFDD695-A70C-C68B-AE05-B2F31B58D7E6}"/>
              </a:ext>
            </a:extLst>
          </p:cNvPr>
          <p:cNvGraphicFramePr>
            <a:graphicFrameLocks noGrp="1"/>
          </p:cNvGraphicFramePr>
          <p:nvPr>
            <p:extLst>
              <p:ext uri="{D42A27DB-BD31-4B8C-83A1-F6EECF244321}">
                <p14:modId xmlns:p14="http://schemas.microsoft.com/office/powerpoint/2010/main" val="3647879473"/>
              </p:ext>
            </p:extLst>
          </p:nvPr>
        </p:nvGraphicFramePr>
        <p:xfrm>
          <a:off x="228599" y="988622"/>
          <a:ext cx="7315201" cy="5701099"/>
        </p:xfrm>
        <a:graphic>
          <a:graphicData uri="http://schemas.openxmlformats.org/drawingml/2006/table">
            <a:tbl>
              <a:tblPr firstRow="1" bandRow="1">
                <a:tableStyleId>{2D5ABB26-0587-4C30-8999-92F81FD0307C}</a:tableStyleId>
              </a:tblPr>
              <a:tblGrid>
                <a:gridCol w="862422">
                  <a:extLst>
                    <a:ext uri="{9D8B030D-6E8A-4147-A177-3AD203B41FA5}">
                      <a16:colId xmlns:a16="http://schemas.microsoft.com/office/drawing/2014/main" val="1823716183"/>
                    </a:ext>
                  </a:extLst>
                </a:gridCol>
                <a:gridCol w="222078">
                  <a:extLst>
                    <a:ext uri="{9D8B030D-6E8A-4147-A177-3AD203B41FA5}">
                      <a16:colId xmlns:a16="http://schemas.microsoft.com/office/drawing/2014/main" val="2807854026"/>
                    </a:ext>
                  </a:extLst>
                </a:gridCol>
                <a:gridCol w="1003618">
                  <a:extLst>
                    <a:ext uri="{9D8B030D-6E8A-4147-A177-3AD203B41FA5}">
                      <a16:colId xmlns:a16="http://schemas.microsoft.com/office/drawing/2014/main" val="1088514063"/>
                    </a:ext>
                  </a:extLst>
                </a:gridCol>
                <a:gridCol w="420143">
                  <a:extLst>
                    <a:ext uri="{9D8B030D-6E8A-4147-A177-3AD203B41FA5}">
                      <a16:colId xmlns:a16="http://schemas.microsoft.com/office/drawing/2014/main" val="97867412"/>
                    </a:ext>
                  </a:extLst>
                </a:gridCol>
                <a:gridCol w="1106002">
                  <a:extLst>
                    <a:ext uri="{9D8B030D-6E8A-4147-A177-3AD203B41FA5}">
                      <a16:colId xmlns:a16="http://schemas.microsoft.com/office/drawing/2014/main" val="3345351580"/>
                    </a:ext>
                  </a:extLst>
                </a:gridCol>
                <a:gridCol w="134172">
                  <a:extLst>
                    <a:ext uri="{9D8B030D-6E8A-4147-A177-3AD203B41FA5}">
                      <a16:colId xmlns:a16="http://schemas.microsoft.com/office/drawing/2014/main" val="1078110989"/>
                    </a:ext>
                  </a:extLst>
                </a:gridCol>
                <a:gridCol w="1274666">
                  <a:extLst>
                    <a:ext uri="{9D8B030D-6E8A-4147-A177-3AD203B41FA5}">
                      <a16:colId xmlns:a16="http://schemas.microsoft.com/office/drawing/2014/main" val="3620614086"/>
                    </a:ext>
                  </a:extLst>
                </a:gridCol>
                <a:gridCol w="448860">
                  <a:extLst>
                    <a:ext uri="{9D8B030D-6E8A-4147-A177-3AD203B41FA5}">
                      <a16:colId xmlns:a16="http://schemas.microsoft.com/office/drawing/2014/main" val="3990942346"/>
                    </a:ext>
                  </a:extLst>
                </a:gridCol>
                <a:gridCol w="1104810">
                  <a:extLst>
                    <a:ext uri="{9D8B030D-6E8A-4147-A177-3AD203B41FA5}">
                      <a16:colId xmlns:a16="http://schemas.microsoft.com/office/drawing/2014/main" val="2233156983"/>
                    </a:ext>
                  </a:extLst>
                </a:gridCol>
                <a:gridCol w="738430">
                  <a:extLst>
                    <a:ext uri="{9D8B030D-6E8A-4147-A177-3AD203B41FA5}">
                      <a16:colId xmlns:a16="http://schemas.microsoft.com/office/drawing/2014/main" val="3363955813"/>
                    </a:ext>
                  </a:extLst>
                </a:gridCol>
              </a:tblGrid>
              <a:tr h="187453">
                <a:tc gridSpan="10">
                  <a:txBody>
                    <a:bodyPr/>
                    <a:lstStyle/>
                    <a:p>
                      <a:pPr algn="ctr"/>
                      <a:r>
                        <a:rPr lang="en-US" sz="900" b="1" dirty="0"/>
                        <a:t>Open Opportunities 12-18 Months ($M USD)</a:t>
                      </a:r>
                    </a:p>
                  </a:txBody>
                  <a:tcPr marL="45720" marR="45720" marT="0" marB="0" anchor="ct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25000"/>
                        <a:lumOff val="75000"/>
                      </a:schemeClr>
                    </a:solidFill>
                  </a:tcPr>
                </a:tc>
                <a:tc hMerge="1">
                  <a:txBody>
                    <a:bodyPr/>
                    <a:lstStyle/>
                    <a:p>
                      <a:endParaRPr lang="en-US"/>
                    </a:p>
                  </a:txBody>
                  <a:tcPr/>
                </a:tc>
                <a:tc hMerge="1">
                  <a:txBody>
                    <a:bodyPr/>
                    <a:lstStyle/>
                    <a:p>
                      <a:pPr algn="ctr"/>
                      <a:endParaRPr lang="en-US" sz="900" b="1" dirty="0"/>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pPr algn="ctr"/>
                      <a:endParaRPr lang="en-US" sz="900" b="1"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pPr algn="ctr"/>
                      <a:endParaRPr lang="en-US" sz="900" b="1" dirty="0"/>
                    </a:p>
                  </a:txBody>
                  <a:tcPr marL="45720" marR="45720" marT="0" marB="0" anchor="ct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2483486"/>
                  </a:ext>
                </a:extLst>
              </a:tr>
              <a:tr h="150243">
                <a:tc rowSpan="2" gridSpan="2">
                  <a:txBody>
                    <a:bodyPr/>
                    <a:lstStyle/>
                    <a:p>
                      <a:pPr algn="ctr"/>
                      <a:r>
                        <a:rPr lang="en-US" sz="900" b="1" dirty="0">
                          <a:solidFill>
                            <a:srgbClr val="2C5967"/>
                          </a:solidFill>
                        </a:rPr>
                        <a:t>Product Pillar</a:t>
                      </a:r>
                    </a:p>
                  </a:txBody>
                  <a:tcPr marL="0" marR="0" marT="0" marB="0" anchor="ctr">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rowSpan="2" hMerge="1">
                  <a:txBody>
                    <a:bodyPr/>
                    <a:lstStyle/>
                    <a:p>
                      <a:pPr algn="ctr"/>
                      <a:endParaRPr lang="en-US" sz="900" b="1" dirty="0">
                        <a:solidFill>
                          <a:srgbClr val="2C5967"/>
                        </a:solidFill>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rowSpan="2" gridSpan="2">
                  <a:txBody>
                    <a:bodyPr/>
                    <a:lstStyle/>
                    <a:p>
                      <a:pPr algn="ctr"/>
                      <a:r>
                        <a:rPr lang="en-US" sz="900" b="1" dirty="0">
                          <a:solidFill>
                            <a:srgbClr val="2C5967"/>
                          </a:solidFill>
                        </a:rPr>
                        <a:t>Product Line</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rowSpan="2" hMerge="1">
                  <a:txBody>
                    <a:bodyPr/>
                    <a:lstStyle/>
                    <a:p>
                      <a:pPr algn="ctr"/>
                      <a:endParaRPr lang="en-US" sz="900" b="1" dirty="0">
                        <a:solidFill>
                          <a:srgbClr val="2C5967"/>
                        </a:solidFill>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gridSpan="3">
                  <a:txBody>
                    <a:bodyPr/>
                    <a:lstStyle/>
                    <a:p>
                      <a:pPr algn="ctr"/>
                      <a:r>
                        <a:rPr lang="en-US" sz="900" b="1" dirty="0">
                          <a:solidFill>
                            <a:srgbClr val="2C5967"/>
                          </a:solidFill>
                        </a:rPr>
                        <a:t>Top Open Opportunities (40% &amp; Above)</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lnL w="12700" cap="flat" cmpd="sng" algn="ctr">
                      <a:solidFill>
                        <a:schemeClr val="bg1"/>
                      </a:solidFill>
                      <a:prstDash val="solid"/>
                      <a:round/>
                      <a:headEnd type="none" w="med" len="med"/>
                      <a:tailEnd type="none" w="med" len="med"/>
                    </a:lnL>
                  </a:tcPr>
                </a:tc>
                <a:tc hMerge="1">
                  <a:txBody>
                    <a:bodyPr/>
                    <a:lstStyle/>
                    <a:p>
                      <a:pPr algn="ctr"/>
                      <a:endParaRPr lang="en-US" sz="900" b="1" dirty="0">
                        <a:solidFill>
                          <a:srgbClr val="2C5967"/>
                        </a:solidFill>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solidFill>
                      <a:schemeClr val="tx1">
                        <a:lumMod val="10000"/>
                        <a:lumOff val="90000"/>
                      </a:schemeClr>
                    </a:solidFill>
                  </a:tcPr>
                </a:tc>
                <a:tc rowSpan="2" gridSpan="3">
                  <a:txBody>
                    <a:bodyPr/>
                    <a:lstStyle/>
                    <a:p>
                      <a:pPr algn="ctr"/>
                      <a:r>
                        <a:rPr lang="en-US" sz="900" b="1" dirty="0">
                          <a:solidFill>
                            <a:srgbClr val="2C5967"/>
                          </a:solidFill>
                        </a:rPr>
                        <a:t>Recent Wins ($M</a:t>
                      </a:r>
                      <a:r>
                        <a:rPr lang="en-US" sz="900" b="1" baseline="0" dirty="0">
                          <a:solidFill>
                            <a:srgbClr val="2C5967"/>
                          </a:solidFill>
                        </a:rPr>
                        <a:t> USD)</a:t>
                      </a:r>
                      <a:endParaRPr lang="en-US" sz="900" b="1" dirty="0">
                        <a:solidFill>
                          <a:srgbClr val="2C5967"/>
                        </a:solidFill>
                      </a:endParaRPr>
                    </a:p>
                  </a:txBody>
                  <a:tcPr marL="0" marR="0" marT="0" marB="0" anchor="ctr">
                    <a:lnL w="12700" cap="flat" cmpd="sng" algn="ctr">
                      <a:solidFill>
                        <a:schemeClr val="bg1"/>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rowSpan="2" hMerge="1">
                  <a:txBody>
                    <a:bodyPr/>
                    <a:lstStyle/>
                    <a:p>
                      <a:endParaRPr lang="en-US"/>
                    </a:p>
                  </a:txBody>
                  <a:tcPr/>
                </a:tc>
                <a:tc rowSpan="2" hMerge="1">
                  <a:txBody>
                    <a:bodyPr/>
                    <a:lstStyle/>
                    <a:p>
                      <a:endParaRPr lang="en-US"/>
                    </a:p>
                  </a:txBody>
                  <a:tcPr/>
                </a:tc>
                <a:extLst>
                  <a:ext uri="{0D108BD9-81ED-4DB2-BD59-A6C34878D82A}">
                    <a16:rowId xmlns:a16="http://schemas.microsoft.com/office/drawing/2014/main" val="3282156939"/>
                  </a:ext>
                </a:extLst>
              </a:tr>
              <a:tr h="150243">
                <a:tc gridSpan="2"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gridSpan="2">
                  <a:txBody>
                    <a:bodyPr/>
                    <a:lstStyle/>
                    <a:p>
                      <a:pPr algn="ctr"/>
                      <a:r>
                        <a:rPr lang="en-US" sz="800" b="0" dirty="0">
                          <a:solidFill>
                            <a:schemeClr val="tx1"/>
                          </a:solidFill>
                        </a:rPr>
                        <a:t>Deal Size ($M USD)</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ctr"/>
                      <a:r>
                        <a:rPr lang="en-US" sz="800" b="0" dirty="0">
                          <a:solidFill>
                            <a:schemeClr val="tx1"/>
                          </a:solidFill>
                        </a:rPr>
                        <a:t>Revenue Probability (%)</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800" b="0" dirty="0">
                          <a:solidFill>
                            <a:schemeClr val="tx1"/>
                          </a:solidFill>
                        </a:rPr>
                        <a:t>Revenue Probability (%)</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3666276628"/>
                  </a:ext>
                </a:extLst>
              </a:tr>
              <a:tr h="150243">
                <a:tc gridSpan="2">
                  <a:txBody>
                    <a:bodyPr/>
                    <a:lstStyle/>
                    <a:p>
                      <a:pPr algn="l"/>
                      <a:r>
                        <a:rPr lang="en-US" sz="900" b="1" dirty="0">
                          <a:solidFill>
                            <a:schemeClr val="tx1"/>
                          </a:solidFill>
                        </a:rPr>
                        <a:t>On Premise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49900936"/>
                  </a:ext>
                </a:extLst>
              </a:tr>
              <a:tr h="150243">
                <a:tc gridSpan="2">
                  <a:txBody>
                    <a:bodyPr/>
                    <a:lstStyle/>
                    <a:p>
                      <a:pPr algn="l"/>
                      <a:r>
                        <a:rPr lang="en-US" sz="900" b="1" dirty="0">
                          <a:solidFill>
                            <a:srgbClr val="67605B"/>
                          </a:solidFill>
                        </a:rPr>
                        <a:t>Applications</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59839696"/>
                  </a:ext>
                </a:extLst>
              </a:tr>
              <a:tr h="150243">
                <a:tc gridSpan="2">
                  <a:txBody>
                    <a:bodyPr/>
                    <a:lstStyle/>
                    <a:p>
                      <a:pPr algn="l"/>
                      <a:r>
                        <a:rPr lang="en-US" sz="900" b="1" dirty="0">
                          <a:solidFill>
                            <a:srgbClr val="67605B"/>
                          </a:solidFill>
                        </a:rPr>
                        <a:t>Database</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98146532"/>
                  </a:ext>
                </a:extLst>
              </a:tr>
              <a:tr h="150243">
                <a:tc gridSpan="2">
                  <a:txBody>
                    <a:bodyPr/>
                    <a:lstStyle/>
                    <a:p>
                      <a:pPr algn="l"/>
                      <a:r>
                        <a:rPr lang="en-US" sz="900" b="1" dirty="0">
                          <a:solidFill>
                            <a:srgbClr val="67605B"/>
                          </a:solidFill>
                        </a:rPr>
                        <a:t>Middleware</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53108882"/>
                  </a:ext>
                </a:extLst>
              </a:tr>
              <a:tr h="150243">
                <a:tc gridSpan="2">
                  <a:txBody>
                    <a:bodyPr/>
                    <a:lstStyle/>
                    <a:p>
                      <a:pPr algn="l"/>
                      <a:r>
                        <a:rPr lang="en-US" sz="900" b="1" dirty="0">
                          <a:solidFill>
                            <a:schemeClr val="tx1"/>
                          </a:solidFill>
                        </a:rPr>
                        <a:t>Cloud</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1835710"/>
                  </a:ext>
                </a:extLst>
              </a:tr>
              <a:tr h="150243">
                <a:tc gridSpan="2">
                  <a:txBody>
                    <a:bodyPr/>
                    <a:lstStyle/>
                    <a:p>
                      <a:pPr algn="l"/>
                      <a:r>
                        <a:rPr lang="en-US" sz="900" b="1" dirty="0">
                          <a:solidFill>
                            <a:srgbClr val="67605B"/>
                          </a:solidFill>
                        </a:rPr>
                        <a:t>SaaS</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r>
                        <a:t>$6.5M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r>
                        <a:t>55%</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48939904"/>
                  </a:ext>
                </a:extLst>
              </a:tr>
              <a:tr h="150243">
                <a:tc gridSpan="2">
                  <a:txBody>
                    <a:bodyPr/>
                    <a:lstStyle/>
                    <a:p>
                      <a:pPr algn="l"/>
                      <a:r>
                        <a:rPr lang="en-US" sz="900" b="1" dirty="0">
                          <a:solidFill>
                            <a:srgbClr val="67605B"/>
                          </a:solidFill>
                        </a:rPr>
                        <a:t>PaaS/IaaS</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r>
                        <a:t>$3.5M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r>
                        <a:t>45%</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71210498"/>
                  </a:ext>
                </a:extLst>
              </a:tr>
              <a:tr h="150243">
                <a:tc gridSpan="2">
                  <a:txBody>
                    <a:bodyPr/>
                    <a:lstStyle/>
                    <a:p>
                      <a:pPr algn="l"/>
                      <a:r>
                        <a:rPr lang="en-US" sz="900" b="1" dirty="0">
                          <a:solidFill>
                            <a:srgbClr val="67605B"/>
                          </a:solidFill>
                        </a:rPr>
                        <a:t>Other</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8274853"/>
                  </a:ext>
                </a:extLst>
              </a:tr>
              <a:tr h="150243">
                <a:tc gridSpan="2">
                  <a:txBody>
                    <a:bodyPr/>
                    <a:lstStyle/>
                    <a:p>
                      <a:pPr algn="l"/>
                      <a:r>
                        <a:rPr lang="en-US" sz="900" b="1" dirty="0">
                          <a:solidFill>
                            <a:schemeClr val="tx1"/>
                          </a:solidFill>
                        </a:rPr>
                        <a:t>GBU</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70505797"/>
                  </a:ext>
                </a:extLst>
              </a:tr>
              <a:tr h="150243">
                <a:tc gridSpan="2">
                  <a:txBody>
                    <a:bodyPr/>
                    <a:lstStyle/>
                    <a:p>
                      <a:pPr algn="l"/>
                      <a:r>
                        <a:rPr lang="en-US" sz="900" b="1" dirty="0">
                          <a:solidFill>
                            <a:schemeClr val="tx1"/>
                          </a:solidFill>
                        </a:rPr>
                        <a:t>Hardware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97692486"/>
                  </a:ext>
                </a:extLst>
              </a:tr>
              <a:tr h="150243">
                <a:tc gridSpan="2">
                  <a:txBody>
                    <a:bodyPr/>
                    <a:lstStyle/>
                    <a:p>
                      <a:pPr algn="l"/>
                      <a:r>
                        <a:rPr lang="en-US" sz="900" b="1" dirty="0">
                          <a:solidFill>
                            <a:schemeClr val="tx1"/>
                          </a:solidFill>
                        </a:rPr>
                        <a:t>Services</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solidFill>
                      <a:schemeClr val="tx1">
                        <a:lumMod val="10000"/>
                        <a:lumOff val="90000"/>
                      </a:schemeClr>
                    </a:solid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gridSpan="2">
                  <a:txBody>
                    <a:bodyPr/>
                    <a:lstStyle/>
                    <a:p>
                      <a:r>
                        <a:t>$2.0M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hMerge="1">
                  <a:txBody>
                    <a:bodyPr/>
                    <a:lstStyle/>
                    <a:p>
                      <a:r>
                        <a:t>60%</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787955604"/>
                  </a:ext>
                </a:extLst>
              </a:tr>
              <a:tr h="258934">
                <a:tc gridSpan="4">
                  <a:txBody>
                    <a:bodyPr/>
                    <a:lstStyle/>
                    <a:p>
                      <a:pPr algn="l"/>
                      <a:r>
                        <a:rPr lang="en-US" sz="900" b="1" dirty="0">
                          <a:solidFill>
                            <a:schemeClr val="tx1"/>
                          </a:solidFill>
                        </a:rPr>
                        <a:t>Total Deals Size (License &amp; Cloud TCV)</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$12M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25000"/>
                          <a:lumOff val="75000"/>
                        </a:schemeClr>
                      </a:solidFill>
                      <a:prstDash val="solid"/>
                      <a:round/>
                      <a:headEnd type="none" w="med" len="med"/>
                      <a:tailEnd type="none" w="med" len="med"/>
                    </a:lnT>
                  </a:tcPr>
                </a:tc>
                <a:tc hMerge="1">
                  <a:txBody>
                    <a:bodyPr/>
                    <a:lstStyle/>
                    <a:p>
                      <a:pPr algn="ctr"/>
                      <a:endParaRPr lang="en-US" sz="90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l"/>
                      <a:r>
                        <a:rPr lang="en-US" sz="900" b="1" dirty="0">
                          <a:solidFill>
                            <a:schemeClr val="tx1"/>
                          </a:solidFill>
                        </a:rPr>
                        <a:t>Customer Segment</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tx1">
                        <a:lumMod val="10000"/>
                        <a:lumOff val="90000"/>
                      </a:schemeClr>
                    </a:solidFill>
                  </a:tcPr>
                </a:tc>
                <a:tc>
                  <a:txBody>
                    <a:bodyPr/>
                    <a:lstStyle/>
                    <a:p>
                      <a:r>
                        <a:t>Strategic</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125458006"/>
                  </a:ext>
                </a:extLst>
              </a:tr>
              <a:tr h="150243">
                <a:tc gridSpan="4">
                  <a:txBody>
                    <a:bodyPr/>
                    <a:lstStyle/>
                    <a:p>
                      <a:pPr algn="l"/>
                      <a:r>
                        <a:rPr lang="en-US" sz="900" b="1" dirty="0">
                          <a:solidFill>
                            <a:schemeClr val="tx1"/>
                          </a:solidFill>
                        </a:rPr>
                        <a:t>Total Addressable Market (TAM)</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$80M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hMerge="1">
                  <a:txBody>
                    <a:bodyPr/>
                    <a:lstStyle/>
                    <a:p>
                      <a:pPr algn="ctr"/>
                      <a:endParaRPr lang="en-US" sz="90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l"/>
                      <a:r>
                        <a:rPr lang="en-US" sz="900" b="1" dirty="0">
                          <a:solidFill>
                            <a:schemeClr val="tx1"/>
                          </a:solidFill>
                        </a:rPr>
                        <a:t>Avg Annual Oracle Spend</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a:txBody>
                    <a:bodyPr/>
                    <a:lstStyle/>
                    <a:p>
                      <a:r>
                        <a:t>$5.2M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569600413"/>
                  </a:ext>
                </a:extLst>
              </a:tr>
              <a:tr h="150243">
                <a:tc gridSpan="4">
                  <a:txBody>
                    <a:bodyPr/>
                    <a:lstStyle/>
                    <a:p>
                      <a:pPr algn="l"/>
                      <a:r>
                        <a:rPr lang="en-US" sz="900" b="1" dirty="0">
                          <a:solidFill>
                            <a:schemeClr val="tx1"/>
                          </a:solidFill>
                        </a:rPr>
                        <a:t>Annual Company Revenue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2C5967"/>
                      </a:solidFill>
                      <a:prstDash val="solid"/>
                      <a:round/>
                      <a:headEnd type="none" w="med" len="med"/>
                      <a:tailEnd type="none" w="med" len="med"/>
                    </a:lnB>
                    <a:solidFill>
                      <a:schemeClr val="tx1">
                        <a:lumMod val="10000"/>
                        <a:lumOff val="90000"/>
                      </a:schemeClr>
                    </a:solidFill>
                  </a:tcPr>
                </a:tc>
                <a:tc hMerge="1">
                  <a:txBody>
                    <a:bodyPr/>
                    <a:lstStyle/>
                    <a:p>
                      <a:endParaRPr lang="en-US"/>
                    </a:p>
                  </a:txBody>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2C5967"/>
                      </a:solidFill>
                      <a:prstDash val="solid"/>
                      <a:round/>
                      <a:headEnd type="none" w="med" len="med"/>
                      <a:tailEnd type="none" w="med" len="med"/>
                    </a:lnB>
                    <a:solidFill>
                      <a:schemeClr val="tx1">
                        <a:lumMod val="10000"/>
                        <a:lumOff val="90000"/>
                      </a:schemeClr>
                    </a:solidFill>
                  </a:tcPr>
                </a:tc>
                <a:tc gridSpan="3">
                  <a:txBody>
                    <a:bodyPr/>
                    <a:lstStyle/>
                    <a:p>
                      <a:r>
                        <a:t>$383B</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hMerge="1">
                  <a:txBody>
                    <a:bodyPr/>
                    <a:lstStyle/>
                    <a:p>
                      <a:pPr algn="ctr"/>
                      <a:endParaRPr lang="en-US" sz="90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tcPr>
                </a:tc>
                <a:tc gridSpan="2">
                  <a:txBody>
                    <a:bodyPr/>
                    <a:lstStyle/>
                    <a:p>
                      <a:pPr algn="l"/>
                      <a:r>
                        <a:rPr lang="en-US" sz="900" b="1" dirty="0">
                          <a:solidFill>
                            <a:schemeClr val="tx1"/>
                          </a:solidFill>
                        </a:rPr>
                        <a:t>Share of Wallet (SOW) %</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2C5967"/>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2C5967"/>
                      </a:solidFill>
                      <a:prstDash val="solid"/>
                      <a:round/>
                      <a:headEnd type="none" w="med" len="med"/>
                      <a:tailEnd type="none" w="med" len="med"/>
                    </a:lnB>
                    <a:solidFill>
                      <a:schemeClr val="tx1">
                        <a:lumMod val="10000"/>
                        <a:lumOff val="90000"/>
                      </a:schemeClr>
                    </a:solidFill>
                  </a:tcPr>
                </a:tc>
                <a:tc>
                  <a:txBody>
                    <a:bodyPr/>
                    <a:lstStyle/>
                    <a:p>
                      <a:r>
                        <a:t>0.01%</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tcPr>
                </a:tc>
                <a:extLst>
                  <a:ext uri="{0D108BD9-81ED-4DB2-BD59-A6C34878D82A}">
                    <a16:rowId xmlns:a16="http://schemas.microsoft.com/office/drawing/2014/main" val="951474957"/>
                  </a:ext>
                </a:extLst>
              </a:tr>
              <a:tr h="183583">
                <a:tc gridSpan="10">
                  <a:txBody>
                    <a:bodyPr/>
                    <a:lstStyle/>
                    <a:p>
                      <a:pPr algn="ctr"/>
                      <a:r>
                        <a:rPr lang="en-US" sz="900" b="1" dirty="0">
                          <a:solidFill>
                            <a:schemeClr val="tx1"/>
                          </a:solidFill>
                        </a:rPr>
                        <a:t>Product Footprint ($M USD)</a:t>
                      </a:r>
                    </a:p>
                  </a:txBody>
                  <a:tcPr marL="45720" marR="45720" marT="0" marB="0" anchor="ctr">
                    <a:lnT w="12700" cap="flat" cmpd="sng" algn="ctr">
                      <a:solidFill>
                        <a:srgbClr val="2C5967"/>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5000"/>
                        <a:lumOff val="75000"/>
                      </a:schemeClr>
                    </a:solidFill>
                  </a:tcPr>
                </a:tc>
                <a:tc hMerge="1">
                  <a:txBody>
                    <a:bodyPr/>
                    <a:lstStyle/>
                    <a:p>
                      <a:endParaRPr lang="en-US"/>
                    </a:p>
                  </a:txBody>
                  <a:tcPr/>
                </a:tc>
                <a:tc hMerge="1">
                  <a:txBody>
                    <a:bodyPr/>
                    <a:lstStyle/>
                    <a:p>
                      <a:endParaRPr lang="en-US"/>
                    </a:p>
                  </a:txBody>
                  <a:tcPr>
                    <a:lnT w="12700" cap="flat" cmpd="sng" algn="ctr">
                      <a:solidFill>
                        <a:schemeClr val="tx1">
                          <a:lumMod val="10000"/>
                          <a:lumOff val="90000"/>
                        </a:schemeClr>
                      </a:solidFill>
                      <a:prstDash val="solid"/>
                      <a:round/>
                      <a:headEnd type="none" w="med" len="med"/>
                      <a:tailEnd type="none" w="med" len="med"/>
                    </a:lnT>
                  </a:tcPr>
                </a:tc>
                <a:tc hMerge="1">
                  <a:txBody>
                    <a:bodyPr/>
                    <a:lstStyle/>
                    <a:p>
                      <a:endParaRPr lang="en-US"/>
                    </a:p>
                  </a:txBody>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pPr algn="l"/>
                      <a:endParaRPr lang="en-US" sz="900" b="1" dirty="0">
                        <a:solidFill>
                          <a:schemeClr val="tx1"/>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lnT w="12700" cap="flat" cmpd="sng" algn="ctr">
                      <a:solidFill>
                        <a:srgbClr val="2C5967"/>
                      </a:solidFill>
                      <a:prstDash val="solid"/>
                      <a:round/>
                      <a:headEnd type="none" w="med" len="med"/>
                      <a:tailEnd type="none" w="med" len="med"/>
                    </a:lnT>
                  </a:tcPr>
                </a:tc>
                <a:tc hMerge="1">
                  <a:txBody>
                    <a:bodyPr/>
                    <a:lstStyle/>
                    <a:p>
                      <a:pPr algn="ctr"/>
                      <a:endParaRPr lang="en-US" sz="900" dirty="0">
                        <a:solidFill>
                          <a:srgbClr val="67605B"/>
                        </a:solidFill>
                      </a:endParaRPr>
                    </a:p>
                  </a:txBody>
                  <a:tcPr marL="45720" marR="45720" marT="0" marB="0" anchor="ct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662027050"/>
                  </a:ext>
                </a:extLst>
              </a:tr>
              <a:tr h="291301">
                <a:tc gridSpan="3">
                  <a:txBody>
                    <a:bodyPr/>
                    <a:lstStyle/>
                    <a:p>
                      <a:pPr algn="ctr"/>
                      <a:r>
                        <a:rPr lang="en-US" sz="900" b="1" dirty="0">
                          <a:solidFill>
                            <a:srgbClr val="2C5967"/>
                          </a:solidFill>
                        </a:rPr>
                        <a:t>Product Pillar</a:t>
                      </a:r>
                    </a:p>
                  </a:txBody>
                  <a:tcPr marL="45720" marR="45720" marT="0" marB="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tc>
                <a:tc hMerge="1">
                  <a:txBody>
                    <a:bodyPr/>
                    <a:lstStyle/>
                    <a:p>
                      <a:endParaRPr lang="en-US"/>
                    </a:p>
                  </a:txBody>
                  <a:tcPr>
                    <a:lnL w="12700" cap="flat" cmpd="sng" algn="ctr">
                      <a:solidFill>
                        <a:schemeClr val="bg1"/>
                      </a:solidFill>
                      <a:prstDash val="solid"/>
                      <a:round/>
                      <a:headEnd type="none" w="med" len="med"/>
                      <a:tailEnd type="none" w="med" len="med"/>
                    </a:lnL>
                  </a:tcPr>
                </a:tc>
                <a:tc gridSpan="2">
                  <a:txBody>
                    <a:bodyPr/>
                    <a:lstStyle/>
                    <a:p>
                      <a:pPr algn="ctr"/>
                      <a:r>
                        <a:rPr lang="en-US" sz="900" b="1" dirty="0">
                          <a:solidFill>
                            <a:srgbClr val="2C5967"/>
                          </a:solidFill>
                        </a:rPr>
                        <a:t>Current Annual Support Spend ($M USD)</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ctr"/>
                      <a:r>
                        <a:rPr lang="en-US" sz="900" b="1" dirty="0">
                          <a:solidFill>
                            <a:srgbClr val="2C5967"/>
                          </a:solidFill>
                        </a:rPr>
                        <a:t>Current Annual Support Spend ($M USD)</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noFill/>
                      <a:prstDash val="solid"/>
                      <a:round/>
                      <a:headEnd type="none" w="med" len="med"/>
                      <a:tailEnd type="none" w="med" len="med"/>
                    </a:lnB>
                  </a:tcPr>
                </a:tc>
                <a:tc gridSpan="3">
                  <a:txBody>
                    <a:bodyPr/>
                    <a:lstStyle/>
                    <a:p>
                      <a:pPr algn="ctr"/>
                      <a:r>
                        <a:rPr lang="en-US" sz="900" b="1" dirty="0">
                          <a:solidFill>
                            <a:srgbClr val="2C5967"/>
                          </a:solidFill>
                        </a:rPr>
                        <a:t>Existing Footprint</a:t>
                      </a:r>
                      <a:br>
                        <a:rPr lang="en-US" sz="900" b="1" dirty="0">
                          <a:solidFill>
                            <a:srgbClr val="2C5967"/>
                          </a:solidFill>
                        </a:rPr>
                      </a:br>
                      <a:r>
                        <a:rPr lang="en-US" sz="900" b="1" dirty="0">
                          <a:solidFill>
                            <a:srgbClr val="2C5967"/>
                          </a:solidFill>
                        </a:rPr>
                        <a:t>(Product)</a:t>
                      </a:r>
                      <a:endParaRPr lang="en-US" sz="1000" b="1" dirty="0">
                        <a:solidFill>
                          <a:srgbClr val="2C5967"/>
                        </a:solidFill>
                      </a:endParaRP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tc>
                <a:tc hMerge="1">
                  <a:txBody>
                    <a:bodyPr/>
                    <a:lstStyle/>
                    <a:p>
                      <a:pPr algn="ctr"/>
                      <a:r>
                        <a:rPr lang="en-US" sz="900" b="1">
                          <a:solidFill>
                            <a:srgbClr val="2C5967"/>
                          </a:solidFill>
                        </a:rPr>
                        <a:t>Existing Footprint (Product)</a:t>
                      </a:r>
                      <a:endParaRPr lang="en-US" sz="900" b="1" dirty="0">
                        <a:solidFill>
                          <a:srgbClr val="2C5967"/>
                        </a:solidFill>
                      </a:endParaRP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1">
                        <a:lumMod val="10000"/>
                        <a:lumOff val="90000"/>
                      </a:schemeClr>
                    </a:solidFill>
                  </a:tcPr>
                </a:tc>
                <a:tc gridSpan="2">
                  <a:txBody>
                    <a:bodyPr/>
                    <a:lstStyle/>
                    <a:p>
                      <a:pPr algn="ctr"/>
                      <a:r>
                        <a:rPr lang="en-US" sz="900" b="1" dirty="0">
                          <a:solidFill>
                            <a:srgbClr val="2C5967"/>
                          </a:solidFill>
                        </a:rPr>
                        <a:t>Competitors</a:t>
                      </a:r>
                      <a:br>
                        <a:rPr lang="en-US" sz="900" b="1" dirty="0">
                          <a:solidFill>
                            <a:srgbClr val="2C5967"/>
                          </a:solidFill>
                        </a:rPr>
                      </a:br>
                      <a:r>
                        <a:rPr lang="en-US" sz="900" b="1" dirty="0">
                          <a:solidFill>
                            <a:srgbClr val="2C5967"/>
                          </a:solidFill>
                        </a:rPr>
                        <a:t>(Product)</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ctr"/>
                      <a:r>
                        <a:rPr lang="en-US" sz="900" b="1" dirty="0">
                          <a:solidFill>
                            <a:srgbClr val="2C5967"/>
                          </a:solidFill>
                        </a:rPr>
                        <a:t>Competitors (</a:t>
                      </a:r>
                      <a:r>
                        <a:rPr lang="en-US" sz="900" b="1" dirty="0" err="1">
                          <a:solidFill>
                            <a:srgbClr val="2C5967"/>
                          </a:solidFill>
                        </a:rPr>
                        <a:t>Productr</a:t>
                      </a:r>
                      <a:r>
                        <a:rPr lang="en-US" sz="900" b="1" dirty="0">
                          <a:solidFill>
                            <a:srgbClr val="2C5967"/>
                          </a:solidFill>
                        </a:rPr>
                        <a:t>)</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02860817"/>
                  </a:ext>
                </a:extLst>
              </a:tr>
              <a:tr h="229653">
                <a:tc rowSpan="5">
                  <a:txBody>
                    <a:bodyPr/>
                    <a:lstStyle/>
                    <a:p>
                      <a:pPr algn="ctr"/>
                      <a:r>
                        <a:rPr lang="en-US" sz="900" b="1" dirty="0">
                          <a:solidFill>
                            <a:schemeClr val="tx1"/>
                          </a:solidFill>
                        </a:rPr>
                        <a:t>Software &amp; Cloud</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2">
                  <a:txBody>
                    <a:bodyPr/>
                    <a:lstStyle/>
                    <a:p>
                      <a:pPr algn="r"/>
                      <a:r>
                        <a:rPr lang="en-US" sz="900" b="1" dirty="0">
                          <a:solidFill>
                            <a:srgbClr val="67605B"/>
                          </a:solidFill>
                        </a:rPr>
                        <a:t>Applications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noFill/>
                  </a:tcPr>
                </a:tc>
                <a:tc gridSpan="2">
                  <a:txBody>
                    <a:bodyPr/>
                    <a:lstStyle/>
                    <a:p>
                      <a:r>
                        <a:t>$2.1M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r>
                        <a:t>None</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r>
                        <a:t>Salesforce Marketing Cloud</a:t>
                      </a:r>
                    </a:p>
                  </a:txBody>
                  <a:tcPr>
                    <a:lnL w="12700" cap="flat" cmpd="sng" algn="ctr">
                      <a:solidFill>
                        <a:schemeClr val="tx1">
                          <a:lumMod val="10000"/>
                          <a:lumOff val="90000"/>
                        </a:schemeClr>
                      </a:solidFill>
                      <a:prstDash val="solid"/>
                      <a:round/>
                      <a:headEnd type="none" w="med" len="med"/>
                      <a:tailEnd type="none" w="med" len="med"/>
                    </a:lnL>
                    <a:lnT>
                      <a:noFill/>
                    </a:lnT>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lnT>
                      <a:noFill/>
                    </a:lnT>
                  </a:tcPr>
                </a:tc>
                <a:extLst>
                  <a:ext uri="{0D108BD9-81ED-4DB2-BD59-A6C34878D82A}">
                    <a16:rowId xmlns:a16="http://schemas.microsoft.com/office/drawing/2014/main" val="924429248"/>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Database</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r>
                        <a:t>$2.8M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r>
                        <a:t>Oracle Autonomous DW (POC)</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r>
                        <a:t>Snowflake, BigQuery</a:t>
                      </a:r>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1353199780"/>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Middleware</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624432615"/>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SaaS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noFill/>
                      <a:prstDash val="solid"/>
                      <a:round/>
                      <a:headEnd type="none" w="med" len="med"/>
                      <a:tailEnd type="none" w="med" len="med"/>
                    </a:lnB>
                    <a:no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2814629311"/>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PaaS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hMerge="1">
                  <a:txBody>
                    <a:bodyPr/>
                    <a:lstStyle/>
                    <a:p>
                      <a:endParaRPr lang="en-US" dirty="0"/>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860978898"/>
                  </a:ext>
                </a:extLst>
              </a:tr>
              <a:tr h="229653">
                <a:tc gridSpan="3">
                  <a:txBody>
                    <a:bodyPr/>
                    <a:lstStyle/>
                    <a:p>
                      <a:pPr algn="r"/>
                      <a:r>
                        <a:rPr lang="en-US" sz="900" b="1" dirty="0">
                          <a:solidFill>
                            <a:schemeClr val="tx1"/>
                          </a:solidFill>
                        </a:rPr>
                        <a:t>IaaS</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57218750"/>
                  </a:ext>
                </a:extLst>
              </a:tr>
              <a:tr h="229653">
                <a:tc rowSpan="3">
                  <a:txBody>
                    <a:bodyPr/>
                    <a:lstStyle/>
                    <a:p>
                      <a:pPr algn="ctr"/>
                      <a:r>
                        <a:rPr lang="en-US" sz="900" b="1" dirty="0">
                          <a:solidFill>
                            <a:schemeClr val="tx1"/>
                          </a:solidFill>
                        </a:rPr>
                        <a:t>Hardware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2">
                  <a:txBody>
                    <a:bodyPr/>
                    <a:lstStyle/>
                    <a:p>
                      <a:pPr algn="r"/>
                      <a:r>
                        <a:rPr lang="en-US" sz="900" b="1" dirty="0">
                          <a:solidFill>
                            <a:srgbClr val="67605B"/>
                          </a:solidFill>
                        </a:rPr>
                        <a:t>Engineered Systems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616407640"/>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Servers – Exclude ES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061991599"/>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Storage</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2612838464"/>
                  </a:ext>
                </a:extLst>
              </a:tr>
              <a:tr h="229653">
                <a:tc gridSpan="3">
                  <a:txBody>
                    <a:bodyPr/>
                    <a:lstStyle/>
                    <a:p>
                      <a:pPr algn="r"/>
                      <a:r>
                        <a:rPr lang="en-US" sz="900" b="1" dirty="0">
                          <a:solidFill>
                            <a:schemeClr val="tx1"/>
                          </a:solidFill>
                        </a:rPr>
                        <a:t>Services</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517550448"/>
                  </a:ext>
                </a:extLst>
              </a:tr>
              <a:tr h="229653">
                <a:tc gridSpan="3">
                  <a:txBody>
                    <a:bodyPr/>
                    <a:lstStyle/>
                    <a:p>
                      <a:pPr algn="r"/>
                      <a:r>
                        <a:rPr lang="en-US" sz="900" b="1" dirty="0">
                          <a:solidFill>
                            <a:schemeClr val="tx1"/>
                          </a:solidFill>
                        </a:rPr>
                        <a:t>Other</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2C5967"/>
                      </a:solidFill>
                      <a:prstDash val="solid"/>
                      <a:round/>
                      <a:headEnd type="none" w="med" len="med"/>
                      <a:tailEnd type="none" w="med" len="med"/>
                    </a:lnB>
                    <a:solidFill>
                      <a:schemeClr val="tx1">
                        <a:lumMod val="10000"/>
                        <a:lumOff val="90000"/>
                      </a:schemeClr>
                    </a:solid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2530364602"/>
                  </a:ext>
                </a:extLst>
              </a:tr>
            </a:tbl>
          </a:graphicData>
        </a:graphic>
      </p:graphicFrame>
      <p:sp>
        <p:nvSpPr>
          <p:cNvPr id="2" name="TextBox 1">
            <a:extLst>
              <a:ext uri="{FF2B5EF4-FFF2-40B4-BE49-F238E27FC236}">
                <a16:creationId xmlns:a16="http://schemas.microsoft.com/office/drawing/2014/main" id="{88067B93-6AB8-723F-6ED4-82078C4B168C}"/>
              </a:ext>
            </a:extLst>
          </p:cNvPr>
          <p:cNvSpPr txBox="1"/>
          <p:nvPr/>
        </p:nvSpPr>
        <p:spPr>
          <a:xfrm>
            <a:off x="4978400" y="0"/>
            <a:ext cx="2794000" cy="369332"/>
          </a:xfrm>
          <a:prstGeom prst="rect">
            <a:avLst/>
          </a:prstGeom>
          <a:solidFill>
            <a:schemeClr val="accent2">
              <a:lumMod val="40000"/>
              <a:lumOff val="60000"/>
            </a:schemeClr>
          </a:solidFill>
        </p:spPr>
        <p:txBody>
          <a:bodyPr wrap="square" rtlCol="0">
            <a:spAutoFit/>
          </a:bodyPr>
          <a:lstStyle/>
          <a:p>
            <a:pPr algn="r"/>
            <a:r>
              <a:rPr lang="en-US" sz="900" b="1" i="1" dirty="0"/>
              <a:t>NOTE: Financials are planned to be available via a Customer Profile / Exec Dashboard in FY24</a:t>
            </a:r>
          </a:p>
        </p:txBody>
      </p:sp>
    </p:spTree>
    <p:extLst>
      <p:ext uri="{BB962C8B-B14F-4D97-AF65-F5344CB8AC3E}">
        <p14:creationId xmlns:p14="http://schemas.microsoft.com/office/powerpoint/2010/main" val="113489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Redwood_stripped">
  <a:themeElements>
    <a:clrScheme name="Redwood">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2C5967"/>
      </a:hlink>
      <a:folHlink>
        <a:srgbClr val="2C5967"/>
      </a:folHlink>
    </a:clrScheme>
    <a:fontScheme name="Oracle">
      <a:majorFont>
        <a:latin typeface="Georgia"/>
        <a:ea typeface=""/>
        <a:cs typeface=""/>
      </a:majorFont>
      <a:minorFont>
        <a:latin typeface="Oracl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Ocean">
      <a:srgbClr val="2C5967"/>
    </a:custClr>
    <a:custClr name="Surf">
      <a:srgbClr val="41817E"/>
    </a:custClr>
    <a:custClr name="Sand">
      <a:srgbClr val="E5DBBE"/>
    </a:custClr>
    <a:custClr name="Pebble">
      <a:srgbClr val="8B8580"/>
    </a:custClr>
    <a:custClr name="Granite">
      <a:srgbClr val="67605B"/>
    </a:custClr>
  </a:custClrLst>
  <a:extLst>
    <a:ext uri="{05A4C25C-085E-4340-85A3-A5531E510DB2}">
      <thm15:themeFamily xmlns:thm15="http://schemas.microsoft.com/office/thememl/2012/main" name="Executive Briefing Document Template" id="{AF9E81D2-4060-5849-94C1-99B370E0B450}" vid="{6B0EACC5-4AF0-7547-89FC-E147119284B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29476</TotalTime>
  <Words>3118</Words>
  <Application>Microsoft Macintosh PowerPoint</Application>
  <PresentationFormat>Custom</PresentationFormat>
  <Paragraphs>277</Paragraphs>
  <Slides>5</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Calibri</vt:lpstr>
      <vt:lpstr>Oracle Sans</vt:lpstr>
      <vt:lpstr>Oracle Sans Tab</vt:lpstr>
      <vt:lpstr>System Font Regular</vt:lpstr>
      <vt:lpstr>1_Redwood_stripped</vt:lpstr>
      <vt:lpstr>PowerPoint Presentation</vt:lpstr>
      <vt:lpstr>PowerPoint Presentation</vt:lpstr>
      <vt:lpstr>PowerPoint Presentation</vt:lpstr>
      <vt:lpstr>PowerPoint Presentation</vt:lpstr>
      <vt:lpstr>PowerPoint Presentation</vt:lpstr>
    </vt:vector>
  </TitlesOfParts>
  <Company>Oracle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Brittany Schmigel</dc:creator>
  <cp:lastModifiedBy>Lisa Kalfayan</cp:lastModifiedBy>
  <cp:revision>130</cp:revision>
  <dcterms:created xsi:type="dcterms:W3CDTF">2020-07-31T18:38:26Z</dcterms:created>
  <dcterms:modified xsi:type="dcterms:W3CDTF">2023-06-13T22:47:40Z</dcterms:modified>
</cp:coreProperties>
</file>