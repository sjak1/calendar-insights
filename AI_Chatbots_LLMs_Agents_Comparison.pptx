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E9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AI Chatbots vs LLMs vs Autonomous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5DA3D9"/>
                </a:solidFill>
              </a:defRPr>
            </a:pPr>
            <a:r>
              <a:t>Understanding the Evolution of Conversational AI Technologies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16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What are AI Chatbots? – The Foundation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What are Large Language Models (LLMs)? – The Brain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What are Autonomous AI Agents? – The Complete Solution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Evolution: How Each Technology Addresses Previous Limitations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Real-World Applications &amp; Use Cases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Key Takeaways for Decision Makers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The Evolution of Conversational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00400"/>
            <a:ext cx="10698480" cy="45720"/>
          </a:xfrm>
          <a:prstGeom prst="rect">
            <a:avLst/>
          </a:prstGeom>
          <a:solidFill>
            <a:srgbClr val="416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20240" y="3063240"/>
            <a:ext cx="320040" cy="320040"/>
          </a:xfrm>
          <a:prstGeom prst="ellipse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3200400" cy="2560320"/>
          </a:xfrm>
          <a:prstGeom prst="round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95A5A6"/>
                </a:solidFill>
              </a:defRPr>
            </a:pPr>
            <a:r>
              <a:t>AI CHATBOTS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9476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Rule-based systems with predefined responses. Limited to scripted conversations and keyword matching.</a:t>
            </a:r>
          </a:p>
        </p:txBody>
      </p:sp>
      <p:sp>
        <p:nvSpPr>
          <p:cNvPr id="10" name="Oval 9"/>
          <p:cNvSpPr/>
          <p:nvPr/>
        </p:nvSpPr>
        <p:spPr>
          <a:xfrm>
            <a:off x="5760720" y="3063240"/>
            <a:ext cx="320040" cy="320040"/>
          </a:xfrm>
          <a:prstGeom prst="ellipse">
            <a:avLst/>
          </a:prstGeom>
          <a:solidFill>
            <a:srgbClr val="416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3657600"/>
            <a:ext cx="3200400" cy="2560320"/>
          </a:xfrm>
          <a:prstGeom prst="roundRect">
            <a:avLst/>
          </a:prstGeom>
          <a:solidFill>
            <a:srgbClr val="416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371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116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416D9C"/>
                </a:solidFill>
              </a:defRPr>
            </a:pPr>
            <a:r>
              <a:t>LLMs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79476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Deep learning models trained on vast text data. Generate human-like responses with contextual understanding.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0" y="3063240"/>
            <a:ext cx="320040" cy="3200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0" y="3657600"/>
            <a:ext cx="3200400" cy="25603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371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0116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ECC71"/>
                </a:solidFill>
              </a:defRPr>
            </a:pPr>
            <a:r>
              <a:t>AI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79476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Autonomous systems that can reason, plan, use tools, and take actions to achieve complex goals.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023360" y="3017520"/>
            <a:ext cx="914400" cy="365760"/>
          </a:xfrm>
          <a:prstGeom prst="rightArrow">
            <a:avLst/>
          </a:prstGeom>
          <a:solidFill>
            <a:srgbClr val="E9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7863840" y="3017520"/>
            <a:ext cx="914400" cy="365760"/>
          </a:xfrm>
          <a:prstGeom prst="rightArrow">
            <a:avLst/>
          </a:prstGeom>
          <a:solidFill>
            <a:srgbClr val="E9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AI Chatbots: The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Rule-based or simple ML systems designed for specific tasks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Operate on predefined scripts, decision trees, and keyword matching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Follow If-Then-Else logic patterns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Popular examples: Traditional customer service bots, FAQ bots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Technology: Pattern matching, regular expressions, basic NLP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Best for: Simple, repetitive queries with known answers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A1A2E"/>
                </a:solidFill>
              </a:defRPr>
            </a:pPr>
            <a:r>
              <a:t>From Chatbots to LLMs: Addressing Key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029200" cy="5303520"/>
          </a:xfrm>
          <a:prstGeom prst="roundRect">
            <a:avLst/>
          </a:prstGeom>
          <a:solidFill>
            <a:srgbClr val="FFEBEB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4663440" cy="457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⚠️ LIMITATION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CHATBOT LIMITATIONS:</a:t>
            </a:r>
            <a:br/>
            <a:br/>
            <a:r>
              <a:t>• Cannot handle queries outside programmed scripts</a:t>
            </a:r>
            <a:br/>
            <a:br/>
            <a:r>
              <a:t>• Require manual updates for new scenarios</a:t>
            </a:r>
            <a:br/>
            <a:br/>
            <a:r>
              <a:t>• No understanding of context or nuance</a:t>
            </a:r>
            <a:br/>
            <a:br/>
            <a:r>
              <a:t>• Struggle with typos, slang, or variations</a:t>
            </a:r>
            <a:br/>
            <a:br/>
            <a:r>
              <a:t>• Cannot generate creative or novel responses</a:t>
            </a:r>
            <a:br/>
            <a:br/>
            <a:r>
              <a:t>• Limited to single-turn interactions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669280" y="3474720"/>
            <a:ext cx="822960" cy="457200"/>
          </a:xfrm>
          <a:prstGeom prst="rightArrow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75120" y="1097280"/>
            <a:ext cx="5029200" cy="530352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0" y="1280160"/>
            <a:ext cx="4663440" cy="4572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✅ LLMs SOLVE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Understand natural language variations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Generate contextually relevant responses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Handle ambiguous or complex queries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Learn patterns from vast training data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Provide creative, nuanced answers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Maintain conversation context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16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Large Language Models (LLMs): The Brain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Deep neural networks trained on billions of text parameters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Understand context, semantics, and generate human-like text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Examples: GPT-4, Claude, Gemini, LLaMA, PaLM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Can summarize, translate, code, reason, and create content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Stateless by default – each conversation starts fresh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Technology: Transformer architecture, attention mechanisms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LLM Capabilities vs Chatbots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548640"/>
          </a:xfrm>
          <a:prstGeom prst="round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Traditional Chatbots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Keyword matching only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Pre-written responses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Single domain expertise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Cannot handle variations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No reasoning ability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Static knowledge 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5303520" cy="548640"/>
          </a:xfrm>
          <a:prstGeom prst="roundRect">
            <a:avLst/>
          </a:prstGeom>
          <a:solidFill>
            <a:srgbClr val="416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Large Language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Semantic understanding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Dynamic text generation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Multi-domain knowledge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Handle typos &amp; variations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Basic reasoning &amp; logic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Vast trained knowledge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A1A2E"/>
                </a:solidFill>
              </a:defRPr>
            </a:pPr>
            <a:r>
              <a:t>From LLMs to Agents: Bridging Critical Gaps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029200" cy="5303520"/>
          </a:xfrm>
          <a:prstGeom prst="roundRect">
            <a:avLst/>
          </a:prstGeom>
          <a:solidFill>
            <a:srgbClr val="FFEBEB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4663440" cy="457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⚠️ LIMITATION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LLM LIMITATIONS:</a:t>
            </a:r>
            <a:br/>
            <a:br/>
            <a:r>
              <a:t>• Cannot take real-world actions</a:t>
            </a:r>
            <a:br/>
            <a:br/>
            <a:r>
              <a:t>• No memory of past interactions</a:t>
            </a:r>
            <a:br/>
            <a:br/>
            <a:r>
              <a:t>• Cannot access real-time information</a:t>
            </a:r>
            <a:br/>
            <a:br/>
            <a:r>
              <a:t>• Single response only – no planning</a:t>
            </a:r>
            <a:br/>
            <a:br/>
            <a:r>
              <a:t>• Cannot use external tools or APIs</a:t>
            </a:r>
            <a:br/>
            <a:br/>
            <a:r>
              <a:t>• Knowledge cutoff date limitation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669280" y="3474720"/>
            <a:ext cx="822960" cy="457200"/>
          </a:xfrm>
          <a:prstGeom prst="rightArrow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75120" y="1097280"/>
            <a:ext cx="5029200" cy="530352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0" y="1280160"/>
            <a:ext cx="4663440" cy="4572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✅ AI AGENTS SOLVE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Execute multi-step workflows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Persistent memory &amp; context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Real-time web/database access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Plan, reason, and iterate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Integrate with any tool/API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Always up-to-date information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9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🔧 The Secret Sauce: Tool Calling (Function Calling)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77295" cy="1280160"/>
          </a:xfrm>
          <a:prstGeom prst="roundRect">
            <a:avLst/>
          </a:prstGeom>
          <a:solidFill>
            <a:srgbClr val="F0F7FF"/>
          </a:solidFill>
          <a:ln w="25400">
            <a:solidFill>
              <a:srgbClr val="416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Tool Calling allows LLMs to interact with external systems by generating structured function calls instead of just text. This is what transforms a chatbot into an agent.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2926080"/>
            <a:ext cx="2743200" cy="1097280"/>
          </a:xfrm>
          <a:prstGeom prst="roundRect">
            <a:avLst/>
          </a:prstGeom>
          <a:solidFill>
            <a:srgbClr val="416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🧠 LLM 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2560320" cy="8229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🌐 Web Browser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2560320" cy="8229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💻 Code Interpreter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2560320"/>
            <a:ext cx="2560320" cy="8229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🔍 Search APIs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4023360"/>
            <a:ext cx="2560320" cy="8229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📊 Data Analysis</a:t>
            </a:r>
          </a:p>
        </p:txBody>
      </p:sp>
      <p:sp>
        <p:nvSpPr>
          <p:cNvPr id="12" name="Left Arrow 11"/>
          <p:cNvSpPr/>
          <p:nvPr/>
        </p:nvSpPr>
        <p:spPr>
          <a:xfrm>
            <a:off x="3474720" y="2834640"/>
            <a:ext cx="1097280" cy="320040"/>
          </a:xfrm>
          <a:prstGeom prst="leftArrow">
            <a:avLst/>
          </a:prstGeom>
          <a:solidFill>
            <a:srgbClr val="E9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ft Arrow 12"/>
          <p:cNvSpPr/>
          <p:nvPr/>
        </p:nvSpPr>
        <p:spPr>
          <a:xfrm>
            <a:off x="3474720" y="4206240"/>
            <a:ext cx="1097280" cy="320040"/>
          </a:xfrm>
          <a:prstGeom prst="leftArrow">
            <a:avLst/>
          </a:prstGeom>
          <a:solidFill>
            <a:srgbClr val="E9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7680960" y="2834640"/>
            <a:ext cx="914400" cy="320040"/>
          </a:xfrm>
          <a:prstGeom prst="rightArrow">
            <a:avLst/>
          </a:prstGeom>
          <a:solidFill>
            <a:srgbClr val="E9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7680960" y="4206240"/>
            <a:ext cx="914400" cy="320040"/>
          </a:xfrm>
          <a:prstGeom prst="rightArrow">
            <a:avLst/>
          </a:prstGeom>
          <a:solidFill>
            <a:srgbClr val="E9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16D9C"/>
                </a:solidFill>
              </a:defRPr>
            </a:pPr>
            <a:r>
              <a:t>📚 Learn more: platform.openai.com/docs/guides/function-calling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A1A2E"/>
                </a:solidFill>
              </a:defRPr>
            </a:pPr>
            <a:r>
              <a:t>Popular Tool Examples: LLM + Tools = Power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005840"/>
            <a:ext cx="822960" cy="82296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0058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2E"/>
                </a:solidFill>
              </a:defRPr>
            </a:pPr>
            <a:r>
              <a:t>Web Browsing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E97A3B"/>
                </a:solidFill>
              </a:defRPr>
            </a:pPr>
            <a:r>
              <a:t>ChatGPT + Bing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0972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Search real-time info, read articles, access current data beyond training cutoff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468880"/>
            <a:ext cx="822960" cy="822960"/>
          </a:xfrm>
          <a:prstGeom prst="ellipse">
            <a:avLst/>
          </a:prstGeom>
          <a:solidFill>
            <a:srgbClr val="416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68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2E"/>
                </a:solidFill>
              </a:defRPr>
            </a:pPr>
            <a:r>
              <a:t>Code Interpreter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880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E97A3B"/>
                </a:solidFill>
              </a:defRPr>
            </a:pPr>
            <a:r>
              <a:t>ChatGPT + 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5603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Execute code, analyze data, create charts, process files in real-time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931920"/>
            <a:ext cx="822960" cy="82296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069080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9319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2E"/>
                </a:solidFill>
              </a:defRPr>
            </a:pPr>
            <a:r>
              <a:t>Image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3434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E97A3B"/>
                </a:solidFill>
              </a:defRPr>
            </a:pPr>
            <a:r>
              <a:t>ChatGPT + DALL-E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023359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Create images from text descriptions, edit existing images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5394960"/>
            <a:ext cx="822960" cy="822960"/>
          </a:xfrm>
          <a:prstGeom prst="ellipse">
            <a:avLst/>
          </a:prstGeom>
          <a:solidFill>
            <a:srgbClr val="416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532120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3949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2E"/>
                </a:solidFill>
              </a:defRPr>
            </a:pPr>
            <a:r>
              <a:t>Custom APIs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8064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E97A3B"/>
                </a:solidFill>
              </a:defRPr>
            </a:pPr>
            <a:r>
              <a:t>Any LLM + Your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54864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Connect to databases, CRMs, internal tools, trigger workflows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A1A2E"/>
                </a:solidFill>
              </a:defRPr>
            </a:pPr>
            <a:r>
              <a:t>🛠️ Case Study: Our Custom Agent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416D9C"/>
                </a:solidFill>
              </a:defRPr>
            </a:pPr>
            <a:r>
              <a:t>Real tools from our Calendar Insights Agent (GPT-4.1-mini + OpenAI Function Calling)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36576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16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474720" cy="411480"/>
          </a:xfrm>
          <a:prstGeom prst="roundRect">
            <a:avLst/>
          </a:prstGeom>
          <a:solidFill>
            <a:srgbClr val="416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🌍 get_gdp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97A3B"/>
                </a:solidFill>
              </a:defRPr>
            </a:pPr>
            <a:r>
              <a:t>External API Tool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Calls api-ninjas.com/v1/gdp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Params: country, year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Returns real-time GDP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371600"/>
            <a:ext cx="36576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3474720" cy="4114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📅 schedule_meeting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96596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97A3B"/>
                </a:solidFill>
              </a:defRPr>
            </a:pPr>
            <a:r>
              <a:t>Action Tool (POST API)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Creates calendar blocks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ISO-8601 date/time params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Connects to BriefingIQ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6576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97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1463040"/>
            <a:ext cx="3474720" cy="411480"/>
          </a:xfrm>
          <a:prstGeom prst="roundRect">
            <a:avLst/>
          </a:prstGeom>
          <a:solidFill>
            <a:srgbClr val="E9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🗄️ query_database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96596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97A3B"/>
                </a:solidFill>
              </a:defRPr>
            </a:pPr>
            <a:r>
              <a:t>NL-to-SQL Tool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Natural language → SQL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Queries Oracle DB views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Operations, Attendees, Revenue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749039"/>
            <a:ext cx="1143000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2E"/>
                </a:solidFill>
              </a:defRPr>
            </a:pPr>
            <a:r>
              <a:t>🔍 query_database: Natural Language → SQL → Results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43400"/>
            <a:ext cx="3474720" cy="1005840"/>
          </a:xfrm>
          <a:prstGeom prst="roundRect">
            <a:avLst/>
          </a:prstGeom>
          <a:solidFill>
            <a:srgbClr val="416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VW_OPERATIONS_REPORT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Event metadata, scheduling, logistics, ownership, regions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4343400"/>
            <a:ext cx="3474720" cy="10058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0" y="44348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VW_ATTENDEE_REPORT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Attendee roster, decision makers, influencers, remote/in-person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4343400"/>
            <a:ext cx="3474720" cy="1005840"/>
          </a:xfrm>
          <a:prstGeom prst="roundRect">
            <a:avLst/>
          </a:prstGeom>
          <a:solidFill>
            <a:srgbClr val="E9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4348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VW_OPP_TRACKING_REPORT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Revenue, pipeline, opportunity metrics, probability of close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4864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333333"/>
                </a:solidFill>
              </a:defRPr>
            </a:pPr>
            <a:r>
              <a:t>Example: "How many decision makers does Ford Motor have across all events?"</a:t>
            </a:r>
          </a:p>
          <a:p>
            <a:pPr>
              <a:defRPr sz="1200">
                <a:solidFill>
                  <a:srgbClr val="416D9C"/>
                </a:solidFill>
              </a:defRPr>
            </a:pPr>
            <a:r>
              <a:t>→ LLM generates Oracle SQL → Executes on VW_ATTENDEE_REPORT → Returns structured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A1A2E"/>
                </a:solidFill>
              </a:defRPr>
            </a:pPr>
            <a:r>
              <a:t>How Function Calling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2651760" cy="2011680"/>
          </a:xfrm>
          <a:prstGeom prst="roundRect">
            <a:avLst/>
          </a:prstGeom>
          <a:solidFill>
            <a:srgbClr val="416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1️⃣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373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User 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"What's the weather in NYC?"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63240" y="2011680"/>
            <a:ext cx="365760" cy="274320"/>
          </a:xfrm>
          <a:prstGeom prst="rightArrow">
            <a:avLst/>
          </a:prstGeom>
          <a:solidFill>
            <a:srgbClr val="E9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08960" y="1188720"/>
            <a:ext cx="2651760" cy="2011680"/>
          </a:xfrm>
          <a:prstGeom prst="roundRect">
            <a:avLst/>
          </a:prstGeom>
          <a:solidFill>
            <a:srgbClr val="416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2801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2️⃣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7373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LLM Decides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2402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I need to call get_weather()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06440" y="2011680"/>
            <a:ext cx="365760" cy="274320"/>
          </a:xfrm>
          <a:prstGeom prst="rightArrow">
            <a:avLst/>
          </a:prstGeom>
          <a:solidFill>
            <a:srgbClr val="E9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0" y="1188720"/>
            <a:ext cx="2651760" cy="20116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12801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3️⃣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7373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Tool Executes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2402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API returns: 72°F, Sunny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641080" y="2011680"/>
            <a:ext cx="365760" cy="274320"/>
          </a:xfrm>
          <a:prstGeom prst="rightArrow">
            <a:avLst/>
          </a:prstGeom>
          <a:solidFill>
            <a:srgbClr val="E9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778240" y="1188720"/>
            <a:ext cx="2651760" cy="20116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12801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4️⃣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17373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LLM Responds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2402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"It's 72°F and sunny in NYC!"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657600"/>
            <a:ext cx="11277295" cy="1463040"/>
          </a:xfrm>
          <a:prstGeom prst="roundRect">
            <a:avLst/>
          </a:prstGeom>
          <a:solidFill>
            <a:srgbClr val="FFF8E7"/>
          </a:solidFill>
          <a:ln w="25400">
            <a:solidFill>
              <a:srgbClr val="E97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794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97A3B"/>
                </a:solidFill>
              </a:defRPr>
            </a:pPr>
            <a:r>
              <a:t>💡 KEY INSIGHT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The LLM doesn't execute code or call APIs itself. It generates a structured request (JSON), the system executes it, and returns results to the LLM to formulate a response.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394960"/>
            <a:ext cx="5303520" cy="1188720"/>
          </a:xfrm>
          <a:prstGeom prst="roundRect">
            <a:avLst/>
          </a:prstGeom>
          <a:solidFill>
            <a:srgbClr val="FFEBEB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4864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74C3C"/>
                </a:solidFill>
              </a:defRPr>
            </a:pPr>
            <a:r>
              <a:t>❌ Without Tools (Pure LLM)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"I don't have access to real-time weather data."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5394960"/>
            <a:ext cx="5303520" cy="1188720"/>
          </a:xfrm>
          <a:prstGeom prst="roundRect">
            <a:avLst/>
          </a:prstGeom>
          <a:solidFill>
            <a:srgbClr val="E8F8F5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54864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CC71"/>
                </a:solidFill>
              </a:defRPr>
            </a:pPr>
            <a:r>
              <a:t>✅ With Tools (Agent)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"It's currently 72°F and sunny in New York City!"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A1A2E"/>
                </a:solidFill>
              </a:defRPr>
            </a:pPr>
            <a:r>
              <a:t>🔧 Function Calling: The Technical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548640"/>
            <a:ext cx="3886200" cy="2606040"/>
          </a:xfrm>
          <a:prstGeom prst="roundRect">
            <a:avLst/>
          </a:prstGeom>
          <a:solidFill>
            <a:srgbClr val="282C34"/>
          </a:solidFill>
          <a:ln w="38100">
            <a:solidFill>
              <a:srgbClr val="61A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5943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1AFEF"/>
                </a:solidFill>
              </a:defRPr>
            </a:pPr>
            <a:r>
              <a:t>1️⃣ Define Tool Schema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914400"/>
            <a:ext cx="3749039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8C379"/>
                </a:solidFill>
                <a:latin typeface="Consolas"/>
              </a:defRPr>
            </a:pPr>
            <a:r>
              <a:t>tools = [{</a:t>
            </a:r>
            <a:br/>
            <a:r>
              <a:t>  "type": "function",</a:t>
            </a:r>
            <a:br/>
            <a:r>
              <a:t>  "name": "get_gdp",</a:t>
            </a:r>
            <a:br/>
            <a:r>
              <a:t>  "parameters": {</a:t>
            </a:r>
            <a:br/>
            <a:r>
              <a:t>    "properties": {</a:t>
            </a:r>
            <a:br/>
            <a:r>
              <a:t>      "country": {"type": "string"},</a:t>
            </a:r>
            <a:br/>
            <a:r>
              <a:t>      "year": {"type": "string"}</a:t>
            </a:r>
            <a:br/>
            <a:r>
              <a:t>    },</a:t>
            </a:r>
            <a:br/>
            <a:r>
              <a:t>    "required": ["country","year"]</a:t>
            </a:r>
            <a:br/>
            <a:r>
              <a:t>  }</a:t>
            </a:r>
            <a:br/>
            <a:r>
              <a:t>}]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50791" y="1737360"/>
            <a:ext cx="365760" cy="274320"/>
          </a:xfrm>
          <a:prstGeom prst="rightArrow">
            <a:avLst/>
          </a:prstGeom>
          <a:solidFill>
            <a:srgbClr val="E0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53128" y="548640"/>
            <a:ext cx="3611880" cy="2606040"/>
          </a:xfrm>
          <a:prstGeom prst="roundRect">
            <a:avLst/>
          </a:prstGeom>
          <a:solidFill>
            <a:srgbClr val="282C34"/>
          </a:solidFill>
          <a:ln w="38100">
            <a:solidFill>
              <a:srgbClr val="98C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59436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98C379"/>
                </a:solidFill>
              </a:defRPr>
            </a:pPr>
            <a:r>
              <a:t>2️⃣ Call API with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914400"/>
            <a:ext cx="34747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5C07B"/>
                </a:solidFill>
                <a:latin typeface="Consolas"/>
              </a:defRPr>
            </a:pPr>
            <a:r>
              <a:t>response = client</a:t>
            </a:r>
            <a:br/>
            <a:r>
              <a:t>  .responses.create(</a:t>
            </a:r>
            <a:br/>
            <a:r>
              <a:t>    model="gpt-4.1-mini",</a:t>
            </a:r>
            <a:br/>
            <a:r>
              <a:t>    tools=tools,</a:t>
            </a:r>
            <a:br/>
            <a:r>
              <a:t>    input=[{</a:t>
            </a:r>
            <a:br/>
            <a:r>
              <a:t>      "role": "user",</a:t>
            </a:r>
            <a:br/>
            <a:r>
              <a:t>      "content": "USA GDP?"</a:t>
            </a:r>
            <a:br/>
            <a:r>
              <a:t>    }]</a:t>
            </a:r>
            <a:br/>
            <a:r>
              <a:t>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092440" y="1737360"/>
            <a:ext cx="365760" cy="274320"/>
          </a:xfrm>
          <a:prstGeom prst="rightArrow">
            <a:avLst/>
          </a:prstGeom>
          <a:solidFill>
            <a:srgbClr val="E0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85632" y="548640"/>
            <a:ext cx="3520440" cy="2606040"/>
          </a:xfrm>
          <a:prstGeom prst="roundRect">
            <a:avLst/>
          </a:prstGeom>
          <a:solidFill>
            <a:srgbClr val="282C34"/>
          </a:solidFill>
          <a:ln w="38100">
            <a:solidFill>
              <a:srgbClr val="E0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7072" y="5943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06C75"/>
                </a:solidFill>
              </a:defRPr>
            </a:pPr>
            <a:r>
              <a:t>3️⃣ Model Returns 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914400"/>
            <a:ext cx="32918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678DD"/>
                </a:solidFill>
                <a:latin typeface="Consolas"/>
              </a:defRPr>
            </a:pPr>
            <a:r>
              <a:t># response.output:</a:t>
            </a:r>
            <a:br/>
            <a:r>
              <a:t>{</a:t>
            </a:r>
            <a:br/>
            <a:r>
              <a:t> "type":"function_call",</a:t>
            </a:r>
            <a:br/>
            <a:r>
              <a:t> "name": "get_gdp",</a:t>
            </a:r>
            <a:br/>
            <a:r>
              <a:t> "call_id": "abc123",</a:t>
            </a:r>
            <a:br/>
            <a:r>
              <a:t> "arguments": {</a:t>
            </a:r>
            <a:br/>
            <a:r>
              <a:t>   "country": "USA",</a:t>
            </a:r>
            <a:br/>
            <a:r>
              <a:t>   "year": "2024"</a:t>
            </a:r>
            <a:br/>
            <a:r>
              <a:t> }</a:t>
            </a:r>
            <a:br/>
            <a:r>
              <a:t>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" y="3291840"/>
            <a:ext cx="3886200" cy="1554480"/>
          </a:xfrm>
          <a:prstGeom prst="roundRect">
            <a:avLst/>
          </a:prstGeom>
          <a:solidFill>
            <a:srgbClr val="282C34"/>
          </a:solidFill>
          <a:ln w="38100">
            <a:solidFill>
              <a:srgbClr val="D19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" y="33375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19A66"/>
                </a:solidFill>
              </a:defRPr>
            </a:pPr>
            <a:r>
              <a:t>4️⃣ Execute Your Function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365760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8C379"/>
                </a:solidFill>
                <a:latin typeface="Consolas"/>
              </a:defRPr>
            </a:pPr>
            <a:r>
              <a:t>args = json.loads(item.arguments)</a:t>
            </a:r>
            <a:br/>
            <a:r>
              <a:t>result = get_gdp(args["country"],</a:t>
            </a:r>
            <a:br/>
            <a:r>
              <a:t>                 args["year"])</a:t>
            </a:r>
            <a:br/>
            <a:r>
              <a:t># → {"gdp": 29167.78}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050791" y="3977639"/>
            <a:ext cx="365760" cy="274320"/>
          </a:xfrm>
          <a:prstGeom prst="rightArrow">
            <a:avLst/>
          </a:prstGeom>
          <a:solidFill>
            <a:srgbClr val="E0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53128" y="3291840"/>
            <a:ext cx="3611880" cy="1554480"/>
          </a:xfrm>
          <a:prstGeom prst="roundRect">
            <a:avLst/>
          </a:prstGeom>
          <a:solidFill>
            <a:srgbClr val="282C34"/>
          </a:solidFill>
          <a:ln w="38100">
            <a:solidFill>
              <a:srgbClr val="56B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333756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6B6C2"/>
                </a:solidFill>
              </a:defRPr>
            </a:pPr>
            <a:r>
              <a:t>5️⃣ Append Tool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36576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6B6C2"/>
                </a:solidFill>
                <a:latin typeface="Consolas"/>
              </a:defRPr>
            </a:pPr>
            <a:r>
              <a:t>input_list.append({</a:t>
            </a:r>
            <a:br/>
            <a:r>
              <a:t>  "type":"function_call_output",</a:t>
            </a:r>
            <a:br/>
            <a:r>
              <a:t>  "call_id": "abc123",</a:t>
            </a:r>
            <a:br/>
            <a:r>
              <a:t>  "output": json.dumps(result)</a:t>
            </a:r>
            <a:br/>
            <a:r>
              <a:t>})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092440" y="3977639"/>
            <a:ext cx="365760" cy="274320"/>
          </a:xfrm>
          <a:prstGeom prst="rightArrow">
            <a:avLst/>
          </a:prstGeom>
          <a:solidFill>
            <a:srgbClr val="E0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85632" y="3291840"/>
            <a:ext cx="3520440" cy="1554480"/>
          </a:xfrm>
          <a:prstGeom prst="roundRect">
            <a:avLst/>
          </a:prstGeom>
          <a:solidFill>
            <a:srgbClr val="282C34"/>
          </a:solidFill>
          <a:ln w="38100">
            <a:solidFill>
              <a:srgbClr val="E5C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77072" y="33375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5C07B"/>
                </a:solidFill>
              </a:defRPr>
            </a:pPr>
            <a:r>
              <a:t>6️⃣ Loop → Final Answer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7072" y="36576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5C07B"/>
                </a:solidFill>
                <a:latin typeface="Consolas"/>
              </a:defRPr>
            </a:pPr>
            <a:r>
              <a:t># Call API again w/ output</a:t>
            </a:r>
            <a:br/>
            <a:r>
              <a:t>response = client.responses</a:t>
            </a:r>
            <a:br/>
            <a:r>
              <a:t>  .create(..., input=input_list)</a:t>
            </a:r>
            <a:br/>
            <a:r>
              <a:t># → "USA GDP: $29,167B"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" y="5029200"/>
            <a:ext cx="11868912" cy="1691640"/>
          </a:xfrm>
          <a:prstGeom prst="roundRect">
            <a:avLst/>
          </a:prstGeom>
          <a:solidFill>
            <a:srgbClr val="FFF3CD"/>
          </a:solidFill>
          <a:ln w="381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5120640"/>
            <a:ext cx="11521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C5A00"/>
                </a:solidFill>
              </a:defRPr>
            </a:pPr>
            <a:r>
              <a:t>💡 THE AGENTIC LOOP</a:t>
            </a:r>
          </a:p>
          <a:p>
            <a:pPr>
              <a:defRPr sz="1300">
                <a:solidFill>
                  <a:srgbClr val="333333"/>
                </a:solidFill>
                <a:latin typeface="Consolas"/>
              </a:defRPr>
            </a:pPr>
            <a:r>
              <a:t>while True:  Send query + tools → If function_call: execute → append output → loop</a:t>
            </a:r>
          </a:p>
          <a:p>
            <a:pPr>
              <a:defRPr sz="1300">
                <a:solidFill>
                  <a:srgbClr val="2E86AB"/>
                </a:solidFill>
                <a:latin typeface="Consolas"/>
              </a:defRPr>
            </a:pPr>
            <a:r>
              <a:t>                       If text response: break → return final answer to user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A1A2E"/>
                </a:solidFill>
              </a:defRPr>
            </a:pPr>
            <a:r>
              <a:t>🗄️ NL-to-SQL Tool: query_database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548640"/>
            <a:ext cx="2880360" cy="1828800"/>
          </a:xfrm>
          <a:prstGeom prst="roundRect">
            <a:avLst/>
          </a:prstGeom>
          <a:solidFill>
            <a:srgbClr val="E3F2FD"/>
          </a:solidFill>
          <a:ln w="38100">
            <a:solidFill>
              <a:srgbClr val="416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5943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16D9C"/>
                </a:solidFill>
              </a:defRPr>
            </a:pPr>
            <a:r>
              <a:t>1️⃣ Natural 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914400"/>
            <a:ext cx="2697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333333"/>
                </a:solidFill>
              </a:defRPr>
            </a:pPr>
            <a:r>
              <a:t>"How many decision makers does Ford have?"</a:t>
            </a:r>
          </a:p>
          <a:p>
            <a:br/>
            <a:pPr>
              <a:defRPr sz="1100">
                <a:solidFill>
                  <a:srgbClr val="2E7D32"/>
                </a:solidFill>
                <a:latin typeface="Consolas"/>
              </a:defRPr>
            </a:pPr>
            <a:r>
              <a:t>→ ask_sqlite(question)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44952" y="1371600"/>
            <a:ext cx="320040" cy="228600"/>
          </a:xfrm>
          <a:prstGeom prst="rightArrow">
            <a:avLst/>
          </a:prstGeom>
          <a:solidFill>
            <a:srgbClr val="E9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01568" y="548640"/>
            <a:ext cx="2880360" cy="1828800"/>
          </a:xfrm>
          <a:prstGeom prst="roundRect">
            <a:avLst/>
          </a:prstGeom>
          <a:solidFill>
            <a:srgbClr val="282C34"/>
          </a:solidFill>
          <a:ln w="3810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93008" y="5943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E93D8"/>
                </a:solidFill>
              </a:defRPr>
            </a:pPr>
            <a:r>
              <a:t>2️⃣ Load 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3008" y="9144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E93D8"/>
                </a:solidFill>
                <a:latin typeface="Consolas"/>
              </a:defRPr>
            </a:pPr>
            <a:r>
              <a:t># _load_schema()</a:t>
            </a:r>
            <a:br/>
            <a:r>
              <a:t>VIEW_NAMES = [</a:t>
            </a:r>
            <a:br/>
            <a:r>
              <a:t>  "VW_OPERATIONS_REPORT",</a:t>
            </a:r>
            <a:br/>
            <a:r>
              <a:t>  "VW_ATTENDEE_REPORT",</a:t>
            </a:r>
            <a:br/>
            <a:r>
              <a:t>  "VW_OPP_TRACKING_REPORT"</a:t>
            </a:r>
            <a:br/>
            <a:r>
              <a:t>]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309360" y="1371600"/>
            <a:ext cx="320040" cy="228600"/>
          </a:xfrm>
          <a:prstGeom prst="rightArrow">
            <a:avLst/>
          </a:prstGeom>
          <a:solidFill>
            <a:srgbClr val="E9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56832" y="548640"/>
            <a:ext cx="2880360" cy="1828800"/>
          </a:xfrm>
          <a:prstGeom prst="roundRect">
            <a:avLst/>
          </a:prstGeom>
          <a:solidFill>
            <a:srgbClr val="282C34"/>
          </a:solidFill>
          <a:ln w="381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48272" y="5943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6BB6A"/>
                </a:solidFill>
              </a:defRPr>
            </a:pPr>
            <a:r>
              <a:t>3️⃣ LLM → 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8272" y="9144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A5D6A7"/>
                </a:solidFill>
                <a:latin typeface="Consolas"/>
              </a:defRPr>
            </a:pPr>
            <a:r>
              <a:t># _generate_sql()</a:t>
            </a:r>
            <a:br/>
            <a:r>
              <a:t>response = client.responses</a:t>
            </a:r>
            <a:br/>
            <a:r>
              <a:t>  .create(model=...,</a:t>
            </a:r>
            <a:br/>
            <a:r>
              <a:t>    input=[schema+question])</a:t>
            </a:r>
            <a:br/>
            <a:r>
              <a:t>→ {"sql": "SELECT..."}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564624" y="1371600"/>
            <a:ext cx="320040" cy="228600"/>
          </a:xfrm>
          <a:prstGeom prst="rightArrow">
            <a:avLst/>
          </a:prstGeom>
          <a:solidFill>
            <a:srgbClr val="E9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921240" y="548640"/>
            <a:ext cx="2103120" cy="1828800"/>
          </a:xfrm>
          <a:prstGeom prst="roundRect">
            <a:avLst/>
          </a:prstGeom>
          <a:solidFill>
            <a:srgbClr val="FFF3E0"/>
          </a:solidFill>
          <a:ln w="38100">
            <a:solidFill>
              <a:srgbClr val="E97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12680" y="59436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97A3B"/>
                </a:solidFill>
              </a:defRPr>
            </a:pPr>
            <a:r>
              <a:t>4️⃣ Execute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91440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  <a:latin typeface="Consolas"/>
              </a:defRPr>
            </a:pPr>
            <a:r>
              <a:t># Oracle DB</a:t>
            </a:r>
            <a:br/>
            <a:r>
              <a:t>conn.execute(</a:t>
            </a:r>
            <a:br/>
            <a:r>
              <a:t>  text(sql)</a:t>
            </a:r>
            <a:br/>
            <a:r>
              <a:t>)</a:t>
            </a:r>
            <a:br/>
            <a:r>
              <a:t>→ rows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" y="2560320"/>
            <a:ext cx="11868912" cy="1371600"/>
          </a:xfrm>
          <a:prstGeom prst="roundRect">
            <a:avLst/>
          </a:prstGeom>
          <a:solidFill>
            <a:srgbClr val="282C34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26060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2A5F5"/>
                </a:solidFill>
              </a:defRPr>
            </a:pPr>
            <a:r>
              <a:t>📝 Generated SQL (Oracle syntax with rules applied):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29260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5C07B"/>
                </a:solidFill>
                <a:latin typeface="Consolas"/>
              </a:defRPr>
            </a:pPr>
            <a:r>
              <a:t>SELECT CUSTOMERNAME, COUNT(*) as decision_maker_count FROM VW_ATTENDEE_REPORT</a:t>
            </a:r>
            <a:br/>
            <a:r>
              <a:t>WHERE lower(CUSTOMERNAME) LIKE '%ford%' AND DECISIONMAKER = 'Yes' GROUP BY CUSTOMERNAME FETCH FIRST 100 ROWS ONLY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" y="4069080"/>
            <a:ext cx="5852160" cy="260604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114800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62828"/>
                </a:solidFill>
              </a:defRPr>
            </a:pPr>
            <a:r>
              <a:t>⚠️ Oracle SQL Rules (in system prompt):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434840"/>
            <a:ext cx="5669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• NEVER end with semicolon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Use FETCH FIRST n ROWS ONLY (not LIMIT)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Epoch ms → date: date '1970-01-01' + (ms/1000)/86400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Case-insensitive: lower(col) LIKE '%term%'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Only SELECT queries allowed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53912" y="4069080"/>
            <a:ext cx="5852160" cy="260604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4114800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E7D32"/>
                </a:solidFill>
              </a:defRPr>
            </a:pPr>
            <a:r>
              <a:t>✅ Return Value (back to agent):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4434840"/>
            <a:ext cx="5669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E7D32"/>
                </a:solidFill>
                <a:latin typeface="Consolas"/>
              </a:defRPr>
            </a:pPr>
            <a:r>
              <a:t>{</a:t>
            </a:r>
            <a:br/>
            <a:r>
              <a:t>  "sql": "SELECT CUSTOMERNAME...",</a:t>
            </a:r>
            <a:br/>
            <a:r>
              <a:t>  "explanation": "Query counts...",</a:t>
            </a:r>
            <a:br/>
            <a:r>
              <a:t>  "columns": ["CUSTOMERNAME", </a:t>
            </a:r>
            <a:br/>
            <a:r>
              <a:t>              "DECISION_MAKER_COUNT"],</a:t>
            </a:r>
            <a:br/>
            <a:r>
              <a:t>  "rows": [</a:t>
            </a:r>
            <a:br/>
            <a:r>
              <a:t>    {"CUSTOMERNAME": "Ford Motor",</a:t>
            </a:r>
            <a:br/>
            <a:r>
              <a:t>     "DECISION_MAKER_COUNT": 12}</a:t>
            </a:r>
            <a:br/>
            <a:r>
              <a:t>  ]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From Tool-Enabled LLMs to Autonomous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LLM + 1 Tool = Enhanced Capability (e.g., ChatGPT + Web)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LLM + Multiple Tools = Flexible Problem Solving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LLM + Tools + Memory = Contextual Assistant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LLM + Tools + Memory + Planning = AUTONOMOUS AGENT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Agent = LLM that can decide WHICH tools to use, WHEN to use them, and iterate until goal is achieved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A1A2E"/>
                </a:solidFill>
              </a:defRPr>
            </a:pPr>
            <a:r>
              <a:t>Complete Comparison: Chatbots vs LLMs vs AI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22960"/>
            <a:ext cx="3657600" cy="502920"/>
          </a:xfrm>
          <a:prstGeom prst="round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AI CHATBOTS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Rule-based logic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Scripted responses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No external access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Cannot take actions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No memory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Simple queries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822960"/>
            <a:ext cx="3657600" cy="502920"/>
          </a:xfrm>
          <a:prstGeom prst="roundRect">
            <a:avLst/>
          </a:prstGeom>
          <a:solidFill>
            <a:srgbClr val="416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LLMs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79" y="146304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Pattern recognition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Generated responses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Knowledge from training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Text output only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Session-based context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Complex conversations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822960"/>
            <a:ext cx="3657600" cy="5029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AI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46304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Reasoning + planning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Tool-enabled actions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Real-time data access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Execute workflows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Persistent memory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Goal-oriented behavior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9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Choosing the Right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CHATBOTS: Simple, repetitive, high-volume tasks with known answers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LLMs: Language understanding, content generation, flexible conversations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LLM + Tools: When you need real-time data or specific capabilities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AI AGENTS: Complex goals requiring planning, multiple tools, and iteration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Start simple → Add tools → Scale to agents as needed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CHATBOTS → LLMs: From scripts to understanding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LLMs → LLM+Tools: From knowing to accessing (via Function Calling)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LLM+Tools → Agents: From single actions to autonomous goal pursuit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TOOL CALLING is the bridge that enables LLMs to interact with the world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</a:defRPr>
            </a:pPr>
            <a:r>
              <a:t>• Agents = LLM + Tools + Memory + Planning + Autonomy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E9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5DA3D9"/>
                </a:solidFill>
              </a:defRPr>
            </a:pPr>
            <a:r>
              <a:t>From Chatbots to Agents: The AI Evolution Continues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