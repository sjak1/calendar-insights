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7"/>
  </p:notesMasterIdLst>
  <p:sldIdLst>
    <p:sldId id="262" r:id="rId2"/>
    <p:sldId id="266" r:id="rId3"/>
    <p:sldId id="263" r:id="rId4"/>
    <p:sldId id="264" r:id="rId5"/>
    <p:sldId id="265" r:id="rId6"/>
  </p:sldIdLst>
  <p:sldSz cx="7772400" cy="1005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E8"/>
    <a:srgbClr val="5678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49" autoAdjust="0"/>
    <p:restoredTop sz="93792" autoAdjust="0"/>
  </p:normalViewPr>
  <p:slideViewPr>
    <p:cSldViewPr snapToGrid="0">
      <p:cViewPr varScale="1">
        <p:scale>
          <a:sx n="84" d="100"/>
          <a:sy n="84" d="100"/>
        </p:scale>
        <p:origin x="3752" y="200"/>
      </p:cViewPr>
      <p:guideLst/>
    </p:cSldViewPr>
  </p:slideViewPr>
  <p:notesTextViewPr>
    <p:cViewPr>
      <p:scale>
        <a:sx n="1" d="1"/>
        <a:sy n="1" d="1"/>
      </p:scale>
      <p:origin x="0" y="0"/>
    </p:cViewPr>
  </p:notesTextViewPr>
  <p:notesViewPr>
    <p:cSldViewPr snapToGrid="0" showGuides="1">
      <p:cViewPr varScale="1">
        <p:scale>
          <a:sx n="97" d="100"/>
          <a:sy n="97" d="100"/>
        </p:scale>
        <p:origin x="4328" y="20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4-25T15:18:03.786"/>
    </inkml:context>
    <inkml:brush xml:id="br0">
      <inkml:brushProperty name="width" value="0.025" units="cm"/>
      <inkml:brushProperty name="height" value="0.025" units="cm"/>
      <inkml:brushProperty name="color" value="#006666"/>
      <inkml:brushProperty name="ignorePressure" value="1"/>
    </inkml:brush>
  </inkml:definitions>
  <inkml:trace contextRef="#ctx0" brushRef="#br0">0 1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4-25T15:18:03.788"/>
    </inkml:context>
    <inkml:brush xml:id="br0">
      <inkml:brushProperty name="width" value="0.025" units="cm"/>
      <inkml:brushProperty name="height" value="0.025" units="cm"/>
      <inkml:brushProperty name="color" value="#006666"/>
      <inkml:brushProperty name="ignorePressure" value="1"/>
    </inkml:brush>
  </inkml:definitions>
  <inkml:trace contextRef="#ctx0" brushRef="#br0">0 1,'4'0,"1"0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81B0A-E192-416E-A90F-59D34D9F0B49}" type="datetimeFigureOut">
              <a:rPr lang="en-US" smtClean="0"/>
              <a:t>6/13/23</a:t>
            </a:fld>
            <a:endParaRPr lang="en-US" dirty="0"/>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08E823-96DC-4430-91CE-09AFABFC50B8}" type="slidenum">
              <a:rPr lang="en-US" smtClean="0"/>
              <a:t>‹#›</a:t>
            </a:fld>
            <a:endParaRPr lang="en-US" dirty="0"/>
          </a:p>
        </p:txBody>
      </p:sp>
    </p:spTree>
    <p:extLst>
      <p:ext uri="{BB962C8B-B14F-4D97-AF65-F5344CB8AC3E}">
        <p14:creationId xmlns:p14="http://schemas.microsoft.com/office/powerpoint/2010/main" val="1109597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my.oracle.com/site/fin/gfo/GlobalProcesses/LMS/index.htm"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my.oracle.com/site/fin/gfo/SIA/index.html"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my.oracle.com/site/fin/gfo/GlobalProcesses/LMS/index.htm"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my.oracle.com/site/fin/gfo/SIA/index.html"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my.oracle.com/site/fin/gfo/GlobalProcesses/LMS/index.htm"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my.oracle.com/site/fin/gfo/SIA/index.html"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my.oracle.com/site/fin/gfo/GlobalProcesses/LMS/index.htm"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my.oracle.com/site/fin/gfo/SIA/index.html"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my.oracle.com/site/fin/gfo/GlobalProcesses/LMS/index.htm"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my.oracle.com/site/fin/gfo/SIA/index.html"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4970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2752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1336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9369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66107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my.oracle.com/site/fin/gfo/SIA/index.html" TargetMode="External"/><Relationship Id="rId2" Type="http://schemas.openxmlformats.org/officeDocument/2006/relationships/hyperlink" Target="https://my.oracle.com/site/fin/gfo/GlobalProcesses/LMS/index.ht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ow to Use this Template">
    <p:bg>
      <p:bgPr>
        <a:solidFill>
          <a:schemeClr val="bg2"/>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59F47F-6DEF-B917-1507-E5FFAD84B913}"/>
              </a:ext>
            </a:extLst>
          </p:cNvPr>
          <p:cNvSpPr txBox="1"/>
          <p:nvPr userDrawn="1"/>
        </p:nvSpPr>
        <p:spPr>
          <a:xfrm>
            <a:off x="190501" y="1021424"/>
            <a:ext cx="7391398" cy="276999"/>
          </a:xfrm>
          <a:prstGeom prst="rect">
            <a:avLst/>
          </a:prstGeom>
          <a:noFill/>
        </p:spPr>
        <p:txBody>
          <a:bodyPr wrap="square" lIns="0" tIns="0" rIns="0" bIns="0" rtlCol="0">
            <a:spAutoFit/>
          </a:bodyPr>
          <a:lstStyle/>
          <a:p>
            <a:r>
              <a:rPr lang="en-US" b="1" dirty="0">
                <a:solidFill>
                  <a:srgbClr val="2C5967"/>
                </a:solidFill>
                <a:latin typeface="Oracle Sans Tab" panose="020B0503020204020204" pitchFamily="34" charset="0"/>
                <a:cs typeface="Oracle Sans Tab" panose="020B0503020204020204" pitchFamily="34" charset="0"/>
              </a:rPr>
              <a:t>Best Practices</a:t>
            </a:r>
          </a:p>
        </p:txBody>
      </p:sp>
      <p:sp>
        <p:nvSpPr>
          <p:cNvPr id="6" name="TextBox 5">
            <a:extLst>
              <a:ext uri="{FF2B5EF4-FFF2-40B4-BE49-F238E27FC236}">
                <a16:creationId xmlns:a16="http://schemas.microsoft.com/office/drawing/2014/main" id="{B441DECE-FA24-F40C-5172-4D877DF27D7B}"/>
              </a:ext>
            </a:extLst>
          </p:cNvPr>
          <p:cNvSpPr txBox="1"/>
          <p:nvPr userDrawn="1"/>
        </p:nvSpPr>
        <p:spPr>
          <a:xfrm>
            <a:off x="190500" y="1487374"/>
            <a:ext cx="7391399" cy="7699544"/>
          </a:xfrm>
          <a:prstGeom prst="rect">
            <a:avLst/>
          </a:prstGeom>
          <a:noFill/>
        </p:spPr>
        <p:txBody>
          <a:bodyPr wrap="square" lIns="0" rIns="0" rtlCol="0">
            <a:spAutoFit/>
          </a:bodyPr>
          <a:lstStyle/>
          <a:p>
            <a:pPr>
              <a:spcAft>
                <a:spcPts val="1000"/>
              </a:spcAft>
            </a:pPr>
            <a:r>
              <a:rPr lang="en-US" sz="1200" dirty="0">
                <a:latin typeface="Oracle Sans Tab" panose="020B0503020204020204" pitchFamily="34" charset="0"/>
                <a:cs typeface="Oracle Sans Tab" panose="020B0503020204020204" pitchFamily="34" charset="0"/>
              </a:rPr>
              <a:t>The Executive Briefing Document is required to qualify a meeting request both by the Oracle executive management teams and the CVC. This document provides pertinent and valuable insights detailing meeting objectives, current business condition, and strategy, along with any challenges. Providing complete and accurate information will create an effective and targeted meeting, fully addressing the Customer’s meeting objectives</a:t>
            </a:r>
            <a:endParaRPr lang="en-US" sz="1600" dirty="0">
              <a:latin typeface="Oracle Sans Tab" panose="020B0503020204020204" pitchFamily="34" charset="0"/>
              <a:cs typeface="Oracle Sans Tab" panose="020B0503020204020204" pitchFamily="34" charset="0"/>
            </a:endParaRPr>
          </a:p>
          <a:p>
            <a:pPr>
              <a:spcAft>
                <a:spcPts val="1000"/>
              </a:spcAft>
            </a:pPr>
            <a:endParaRPr lang="en-US" sz="1200" b="1" dirty="0">
              <a:latin typeface="Oracle Sans Tab" panose="020B0503020204020204" pitchFamily="34" charset="0"/>
              <a:cs typeface="Oracle Sans Tab" panose="020B0503020204020204" pitchFamily="34" charset="0"/>
            </a:endParaRPr>
          </a:p>
          <a:p>
            <a:pPr>
              <a:spcAft>
                <a:spcPts val="1000"/>
              </a:spcAft>
            </a:pPr>
            <a:r>
              <a:rPr lang="en-US" sz="1200" b="1" dirty="0">
                <a:latin typeface="Oracle Sans Tab" panose="020B0503020204020204" pitchFamily="34" charset="0"/>
                <a:cs typeface="Oracle Sans Tab" panose="020B0503020204020204" pitchFamily="34" charset="0"/>
              </a:rPr>
              <a:t>Best Practices:  Filling out the Document</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Please delete this page prior to submitting.</a:t>
            </a:r>
          </a:p>
          <a:p>
            <a:pPr marL="176213" indent="-168275">
              <a:spcAft>
                <a:spcPts val="1000"/>
              </a:spcAft>
              <a:buFont typeface="Arial" panose="020B0604020202020204" pitchFamily="34" charset="0"/>
              <a:buChar char="•"/>
            </a:pPr>
            <a:r>
              <a:rPr lang="en-US" sz="1200" b="1" dirty="0">
                <a:latin typeface="Oracle Sans Tab" panose="020B0503020204020204" pitchFamily="34" charset="0"/>
                <a:cs typeface="Oracle Sans Tab" panose="020B0503020204020204" pitchFamily="34" charset="0"/>
              </a:rPr>
              <a:t>Please submit this completed document with your engagement request. This document is required for all executive engagements.</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Make sure meeting objectives, business challenges, topics of interest, etc.  are concise.</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Provide the most up-to-date opportunity and product footprint info.</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Include customer reference proof points that are relevant to the customer’s transformation and industry.</a:t>
            </a:r>
          </a:p>
          <a:p>
            <a:pPr marL="7938">
              <a:spcAft>
                <a:spcPts val="1000"/>
              </a:spcAft>
            </a:pPr>
            <a:endParaRPr lang="en-US" sz="1200" b="1" dirty="0">
              <a:latin typeface="Oracle Sans Tab" panose="020B0503020204020204" pitchFamily="34" charset="0"/>
              <a:cs typeface="Oracle Sans Tab" panose="020B0503020204020204" pitchFamily="34" charset="0"/>
            </a:endParaRPr>
          </a:p>
          <a:p>
            <a:pPr marL="7938">
              <a:spcAft>
                <a:spcPts val="1000"/>
              </a:spcAft>
            </a:pPr>
            <a:r>
              <a:rPr lang="en-US" sz="1200" b="1" dirty="0">
                <a:latin typeface="Oracle Sans Tab" panose="020B0503020204020204" pitchFamily="34" charset="0"/>
                <a:cs typeface="Oracle Sans Tab" panose="020B0503020204020204" pitchFamily="34" charset="0"/>
              </a:rPr>
              <a:t>Best Practices:  Formatting the Document</a:t>
            </a:r>
            <a:endParaRPr lang="en-US" sz="1200" dirty="0">
              <a:latin typeface="Oracle Sans Tab" panose="020B0503020204020204" pitchFamily="34" charset="0"/>
              <a:cs typeface="Oracle Sans Tab" panose="020B0503020204020204" pitchFamily="34" charset="0"/>
            </a:endParaRPr>
          </a:p>
          <a:p>
            <a:pPr marL="171450" lvl="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If you do not need any of the additional spaces for your customer meeting, then delete any of the items you do not need.</a:t>
            </a:r>
          </a:p>
          <a:p>
            <a:pPr marL="171450" lvl="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Pasting text:</a:t>
            </a:r>
          </a:p>
          <a:p>
            <a:pPr marL="628650" lvl="1"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Right click on the field that you would like to paste text into. </a:t>
            </a:r>
          </a:p>
          <a:p>
            <a:pPr marL="628650" lvl="1"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Choose the option all the way on the right under paste – “Keep Text Only”. </a:t>
            </a:r>
          </a:p>
          <a:p>
            <a:pPr lvl="1">
              <a:spcAft>
                <a:spcPts val="1000"/>
              </a:spcAft>
            </a:pPr>
            <a:r>
              <a:rPr lang="en-US" sz="1200" dirty="0">
                <a:latin typeface="Oracle Sans Tab" panose="020B0503020204020204" pitchFamily="34" charset="0"/>
                <a:cs typeface="Oracle Sans Tab" panose="020B0503020204020204" pitchFamily="34" charset="0"/>
              </a:rPr>
              <a:t>    This will allow you to insert the text and keep the formatting in the table.</a:t>
            </a:r>
          </a:p>
          <a:p>
            <a:pPr marL="171450" lvl="0" indent="-171450">
              <a:spcAft>
                <a:spcPts val="1000"/>
              </a:spcAft>
              <a:buFont typeface="Arial" panose="020B0604020202020204" pitchFamily="34" charset="0"/>
              <a:buChar char="•"/>
            </a:pPr>
            <a:r>
              <a:rPr lang="en-US" sz="1200" b="1" dirty="0">
                <a:latin typeface="Oracle Sans Tab" panose="020B0503020204020204" pitchFamily="34" charset="0"/>
                <a:cs typeface="Oracle Sans Tab" panose="020B0503020204020204" pitchFamily="34" charset="0"/>
              </a:rPr>
              <a:t>The font type should be Oracle Sans throughout.</a:t>
            </a:r>
          </a:p>
          <a:p>
            <a:pPr lvl="0">
              <a:spcAft>
                <a:spcPts val="1000"/>
              </a:spcAft>
            </a:pPr>
            <a:endParaRPr lang="en-US" sz="1200" dirty="0">
              <a:latin typeface="Oracle Sans Tab" panose="020B0503020204020204" pitchFamily="34" charset="0"/>
              <a:cs typeface="Oracle Sans Tab" panose="020B0503020204020204" pitchFamily="34" charset="0"/>
            </a:endParaRPr>
          </a:p>
          <a:p>
            <a:pPr>
              <a:spcAft>
                <a:spcPts val="1000"/>
              </a:spcAft>
            </a:pPr>
            <a:r>
              <a:rPr lang="en-US" sz="1200" b="1" dirty="0">
                <a:latin typeface="Oracle Sans Tab" panose="020B0503020204020204" pitchFamily="34" charset="0"/>
                <a:cs typeface="Oracle Sans Tab" panose="020B0503020204020204" pitchFamily="34" charset="0"/>
              </a:rPr>
              <a:t>Additional information:</a:t>
            </a:r>
          </a:p>
          <a:p>
            <a:pPr marL="17145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License Management Services Homepage: </a:t>
            </a:r>
            <a:r>
              <a:rPr lang="en-US" sz="1200" dirty="0">
                <a:latin typeface="Oracle Sans Tab" panose="020B0503020204020204" pitchFamily="34" charset="0"/>
                <a:cs typeface="Oracle Sans Tab" panose="020B0503020204020204" pitchFamily="34" charset="0"/>
                <a:hlinkClick r:id="rId2"/>
              </a:rPr>
              <a:t>https://my.oracle.com/site/fin/gfo/GlobalProcesses/LMS/index.htm</a:t>
            </a:r>
            <a:endParaRPr lang="en-US" sz="1200" dirty="0">
              <a:latin typeface="Oracle Sans Tab" panose="020B0503020204020204" pitchFamily="34" charset="0"/>
              <a:cs typeface="Oracle Sans Tab" panose="020B0503020204020204" pitchFamily="34" charset="0"/>
            </a:endParaRPr>
          </a:p>
          <a:p>
            <a:pPr marL="17145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Software Investment Advisor Homepage: </a:t>
            </a:r>
            <a:r>
              <a:rPr lang="en-US" sz="1200" dirty="0">
                <a:latin typeface="Oracle Sans Tab" panose="020B0503020204020204" pitchFamily="34" charset="0"/>
                <a:cs typeface="Oracle Sans Tab" panose="020B0503020204020204" pitchFamily="34" charset="0"/>
                <a:hlinkClick r:id="rId3"/>
              </a:rPr>
              <a:t>https://my.oracle.com/site/fin/gfo/SIA/index.html</a:t>
            </a:r>
            <a:endParaRPr lang="en-US" sz="1200" dirty="0">
              <a:latin typeface="Oracle Sans Tab" panose="020B0503020204020204" pitchFamily="34" charset="0"/>
              <a:cs typeface="Oracle Sans Tab" panose="020B0503020204020204" pitchFamily="34" charset="0"/>
            </a:endParaRPr>
          </a:p>
        </p:txBody>
      </p:sp>
    </p:spTree>
    <p:extLst>
      <p:ext uri="{BB962C8B-B14F-4D97-AF65-F5344CB8AC3E}">
        <p14:creationId xmlns:p14="http://schemas.microsoft.com/office/powerpoint/2010/main" val="309906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 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1113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emf"/><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E230FEE-C563-4D59-AC5A-2772635D491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206728" y="9674318"/>
            <a:ext cx="384082" cy="384082"/>
          </a:xfrm>
          <a:prstGeom prst="rect">
            <a:avLst/>
          </a:prstGeom>
        </p:spPr>
      </p:pic>
      <p:pic>
        <p:nvPicPr>
          <p:cNvPr id="8" name="Picture 7">
            <a:extLst>
              <a:ext uri="{FF2B5EF4-FFF2-40B4-BE49-F238E27FC236}">
                <a16:creationId xmlns:a16="http://schemas.microsoft.com/office/drawing/2014/main" id="{B3C71360-1220-3AAC-BF2E-BD55DF1DA28A}"/>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a:off x="0" y="-1"/>
            <a:ext cx="7772400" cy="207193"/>
          </a:xfrm>
          <a:prstGeom prst="rect">
            <a:avLst/>
          </a:prstGeom>
        </p:spPr>
      </p:pic>
      <p:sp>
        <p:nvSpPr>
          <p:cNvPr id="4" name="TextBox 3">
            <a:extLst>
              <a:ext uri="{FF2B5EF4-FFF2-40B4-BE49-F238E27FC236}">
                <a16:creationId xmlns:a16="http://schemas.microsoft.com/office/drawing/2014/main" id="{F2E08B6F-149E-5F07-CF1D-93DCAB8C04E4}"/>
              </a:ext>
            </a:extLst>
          </p:cNvPr>
          <p:cNvSpPr txBox="1"/>
          <p:nvPr userDrawn="1"/>
        </p:nvSpPr>
        <p:spPr>
          <a:xfrm>
            <a:off x="179389" y="9674317"/>
            <a:ext cx="3758184" cy="169164"/>
          </a:xfrm>
          <a:prstGeom prst="rect">
            <a:avLst/>
          </a:prstGeom>
        </p:spPr>
        <p:txBody>
          <a:bodyPr vert="horz" lIns="0" tIns="0" rIns="0" bIns="0" rtlCol="0" anchor="b"/>
          <a:lstStyle>
            <a:defPPr>
              <a:defRPr lang="en-US"/>
            </a:defPPr>
            <a:lvl1pPr>
              <a:defRPr sz="900">
                <a:solidFill>
                  <a:srgbClr val="8B8580"/>
                </a:solidFill>
              </a:defRPr>
            </a:lvl1pPr>
          </a:lstStyle>
          <a:p>
            <a:pPr lvl="0"/>
            <a:r>
              <a:rPr lang="en-US" dirty="0"/>
              <a:t>Copyright © 2023, Oracle and/or its affiliates  |  Confidential: Restricted</a:t>
            </a:r>
          </a:p>
        </p:txBody>
      </p:sp>
      <p:sp>
        <p:nvSpPr>
          <p:cNvPr id="10" name="TextBox 9">
            <a:extLst>
              <a:ext uri="{FF2B5EF4-FFF2-40B4-BE49-F238E27FC236}">
                <a16:creationId xmlns:a16="http://schemas.microsoft.com/office/drawing/2014/main" id="{38071B4B-6207-75E4-E82D-26827A33F24D}"/>
              </a:ext>
            </a:extLst>
          </p:cNvPr>
          <p:cNvSpPr txBox="1"/>
          <p:nvPr userDrawn="1"/>
        </p:nvSpPr>
        <p:spPr>
          <a:xfrm>
            <a:off x="4084086" y="9674318"/>
            <a:ext cx="2502924" cy="169164"/>
          </a:xfrm>
          <a:prstGeom prst="rect">
            <a:avLst/>
          </a:prstGeom>
        </p:spPr>
        <p:txBody>
          <a:bodyPr vert="horz" lIns="0" tIns="0" rIns="0" bIns="0" rtlCol="0" anchor="b"/>
          <a:lstStyle>
            <a:defPPr>
              <a:defRPr lang="en-US"/>
            </a:defPPr>
            <a:lvl1pPr>
              <a:defRPr sz="900">
                <a:solidFill>
                  <a:srgbClr val="8B8580"/>
                </a:solidFill>
              </a:defRPr>
            </a:lvl1pPr>
          </a:lstStyle>
          <a:p>
            <a:pPr lvl="0"/>
            <a:fld id="{409578D9-D361-A046-B7E4-191350565D45}" type="datetime8">
              <a:rPr lang="en-US" smtClean="0"/>
              <a:t>6/13/23 3:47 PM</a:t>
            </a:fld>
            <a:endParaRPr lang="en-US" dirty="0"/>
          </a:p>
        </p:txBody>
      </p:sp>
      <p:sp>
        <p:nvSpPr>
          <p:cNvPr id="11" name="TextBox 10">
            <a:extLst>
              <a:ext uri="{FF2B5EF4-FFF2-40B4-BE49-F238E27FC236}">
                <a16:creationId xmlns:a16="http://schemas.microsoft.com/office/drawing/2014/main" id="{48732693-C342-472B-843E-82C1C4AE94D3}"/>
              </a:ext>
            </a:extLst>
          </p:cNvPr>
          <p:cNvSpPr txBox="1"/>
          <p:nvPr userDrawn="1"/>
        </p:nvSpPr>
        <p:spPr>
          <a:xfrm>
            <a:off x="179389" y="420034"/>
            <a:ext cx="5990406" cy="307777"/>
          </a:xfrm>
          <a:prstGeom prst="rect">
            <a:avLst/>
          </a:prstGeom>
          <a:noFill/>
        </p:spPr>
        <p:txBody>
          <a:bodyPr wrap="square" lIns="0" tIns="0" rIns="0" bIns="0" rtlCol="0">
            <a:spAutoFit/>
          </a:bodyPr>
          <a:lstStyle/>
          <a:p>
            <a:r>
              <a:rPr lang="en-US" sz="2000" i="1" dirty="0">
                <a:solidFill>
                  <a:srgbClr val="2C5967"/>
                </a:solidFill>
                <a:latin typeface="Oracle Sans" panose="020B0503020204020204" pitchFamily="34" charset="0"/>
                <a:cs typeface="Oracle Sans" panose="020B0503020204020204" pitchFamily="34" charset="0"/>
              </a:rPr>
              <a:t>Executive Briefing Document</a:t>
            </a:r>
          </a:p>
        </p:txBody>
      </p:sp>
      <p:pic>
        <p:nvPicPr>
          <p:cNvPr id="13" name="Picture 12">
            <a:extLst>
              <a:ext uri="{FF2B5EF4-FFF2-40B4-BE49-F238E27FC236}">
                <a16:creationId xmlns:a16="http://schemas.microsoft.com/office/drawing/2014/main" id="{1D1FE7FF-B443-2D54-49B0-FFADA3A41F17}"/>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380503" y="421171"/>
            <a:ext cx="1210307" cy="338328"/>
          </a:xfrm>
          <a:prstGeom prst="rect">
            <a:avLst/>
          </a:prstGeom>
        </p:spPr>
      </p:pic>
    </p:spTree>
    <p:extLst>
      <p:ext uri="{BB962C8B-B14F-4D97-AF65-F5344CB8AC3E}">
        <p14:creationId xmlns:p14="http://schemas.microsoft.com/office/powerpoint/2010/main" val="2968834506"/>
      </p:ext>
    </p:extLst>
  </p:cSld>
  <p:clrMap bg1="lt1" tx1="dk1" bg2="lt2" tx2="dk2" accent1="accent1" accent2="accent2" accent3="accent3" accent4="accent4" accent5="accent5" accent6="accent6" hlink="hlink" folHlink="folHlink"/>
  <p:sldLayoutIdLst>
    <p:sldLayoutId id="2147483664" r:id="rId1"/>
    <p:sldLayoutId id="2147483665" r:id="rId2"/>
  </p:sldLayoutIdLst>
  <p:hf sldNum="0" hdr="0"/>
  <p:txStyles>
    <p:titleStyle>
      <a:lvl1pPr algn="l" defTabSz="195517" rtl="0" eaLnBrk="1" latinLnBrk="0" hangingPunct="1">
        <a:lnSpc>
          <a:spcPct val="95000"/>
        </a:lnSpc>
        <a:spcBef>
          <a:spcPct val="0"/>
        </a:spcBef>
        <a:buNone/>
        <a:defRPr sz="1642" kern="1200">
          <a:solidFill>
            <a:schemeClr val="tx1"/>
          </a:solidFill>
          <a:latin typeface="+mj-lt"/>
          <a:ea typeface="+mj-ea"/>
          <a:cs typeface="+mj-cs"/>
        </a:defRPr>
      </a:lvl1pPr>
    </p:titleStyle>
    <p:bodyStyle>
      <a:lvl1pPr marL="0" marR="0" indent="0" algn="l" defTabSz="195517" rtl="0" eaLnBrk="1" fontAlgn="auto" latinLnBrk="0" hangingPunct="1">
        <a:lnSpc>
          <a:spcPct val="95000"/>
        </a:lnSpc>
        <a:spcBef>
          <a:spcPts val="127"/>
        </a:spcBef>
        <a:spcAft>
          <a:spcPts val="0"/>
        </a:spcAft>
        <a:buClrTx/>
        <a:buSzTx/>
        <a:buFont typeface="System Font Regular"/>
        <a:buNone/>
        <a:tabLst/>
        <a:defRPr sz="821" b="0" i="0" kern="1200">
          <a:solidFill>
            <a:schemeClr val="tx1"/>
          </a:solidFill>
          <a:latin typeface="Oracle Sans" panose="020B0503020204020204" pitchFamily="34" charset="0"/>
          <a:ea typeface="+mn-ea"/>
          <a:cs typeface="Oracle Sans" panose="020B0503020204020204" pitchFamily="34" charset="0"/>
        </a:defRPr>
      </a:lvl1pPr>
      <a:lvl2pPr marL="78206" marR="0" indent="-39104" algn="l" defTabSz="195517" rtl="0" eaLnBrk="1" fontAlgn="auto" latinLnBrk="0" hangingPunct="1">
        <a:lnSpc>
          <a:spcPct val="95000"/>
        </a:lnSpc>
        <a:spcBef>
          <a:spcPts val="127"/>
        </a:spcBef>
        <a:spcAft>
          <a:spcPts val="0"/>
        </a:spcAft>
        <a:buClrTx/>
        <a:buSzPct val="100000"/>
        <a:buFont typeface="Arial" panose="020B0604020202020204" pitchFamily="34" charset="0"/>
        <a:buChar char="•"/>
        <a:tabLst/>
        <a:defRPr sz="821" b="0" i="0" kern="1200">
          <a:solidFill>
            <a:schemeClr val="tx1"/>
          </a:solidFill>
          <a:latin typeface="Oracle Sans" panose="020B0503020204020204" pitchFamily="34" charset="0"/>
          <a:ea typeface="+mn-ea"/>
          <a:cs typeface="Oracle Sans" panose="020B0503020204020204" pitchFamily="34" charset="0"/>
        </a:defRPr>
      </a:lvl2pPr>
      <a:lvl3pPr marL="156413" marR="0" indent="-39104" algn="l" defTabSz="195517" rtl="0" eaLnBrk="1" fontAlgn="auto" latinLnBrk="0" hangingPunct="1">
        <a:lnSpc>
          <a:spcPct val="95000"/>
        </a:lnSpc>
        <a:spcBef>
          <a:spcPts val="86"/>
        </a:spcBef>
        <a:spcAft>
          <a:spcPts val="0"/>
        </a:spcAft>
        <a:buClrTx/>
        <a:buSzPct val="120000"/>
        <a:buFont typeface="System Font Regular"/>
        <a:buChar char="-"/>
        <a:tabLst/>
        <a:defRPr sz="821" kern="1200">
          <a:solidFill>
            <a:schemeClr val="tx1"/>
          </a:solidFill>
          <a:latin typeface="Oracle Sans" panose="020B0503020204020204" pitchFamily="34" charset="0"/>
          <a:ea typeface="+mn-ea"/>
          <a:cs typeface="Oracle Sans" panose="020B0503020204020204" pitchFamily="34" charset="0"/>
        </a:defRPr>
      </a:lvl3pPr>
      <a:lvl4pPr marL="234621" marR="0" indent="-39104" algn="l" defTabSz="195517" rtl="0" eaLnBrk="1" fontAlgn="auto" latinLnBrk="0" hangingPunct="1">
        <a:lnSpc>
          <a:spcPct val="95000"/>
        </a:lnSpc>
        <a:spcBef>
          <a:spcPts val="86"/>
        </a:spcBef>
        <a:spcAft>
          <a:spcPts val="0"/>
        </a:spcAft>
        <a:buClrTx/>
        <a:buSzPct val="100000"/>
        <a:buFont typeface="System Font Regular"/>
        <a:buChar char="◦"/>
        <a:tabLst/>
        <a:defRPr sz="720" kern="1200">
          <a:solidFill>
            <a:schemeClr val="tx1"/>
          </a:solidFill>
          <a:latin typeface="Oracle Sans" panose="020B0503020204020204" pitchFamily="34" charset="0"/>
          <a:ea typeface="+mn-ea"/>
          <a:cs typeface="Oracle Sans" panose="020B0503020204020204" pitchFamily="34" charset="0"/>
        </a:defRPr>
      </a:lvl4pPr>
      <a:lvl5pPr marL="312828" marR="0" indent="-39104" algn="l" defTabSz="195517" rtl="0" eaLnBrk="1" fontAlgn="auto" latinLnBrk="0" hangingPunct="1">
        <a:lnSpc>
          <a:spcPct val="95000"/>
        </a:lnSpc>
        <a:spcBef>
          <a:spcPts val="86"/>
        </a:spcBef>
        <a:spcAft>
          <a:spcPts val="0"/>
        </a:spcAft>
        <a:buClrTx/>
        <a:buSzTx/>
        <a:buFont typeface="System Font Regular"/>
        <a:buChar char="•"/>
        <a:tabLst/>
        <a:defRPr sz="615" kern="1200">
          <a:solidFill>
            <a:schemeClr val="tx1"/>
          </a:solidFill>
          <a:latin typeface="Oracle Sans" panose="020B0503020204020204" pitchFamily="34" charset="0"/>
          <a:ea typeface="+mn-ea"/>
          <a:cs typeface="Oracle Sans" panose="020B0503020204020204" pitchFamily="34" charset="0"/>
        </a:defRPr>
      </a:lvl5pPr>
      <a:lvl6pPr marL="391034" indent="-39104" algn="l" defTabSz="195517" rtl="0" eaLnBrk="1" latinLnBrk="0" hangingPunct="1">
        <a:lnSpc>
          <a:spcPct val="95000"/>
        </a:lnSpc>
        <a:spcBef>
          <a:spcPts val="86"/>
        </a:spcBef>
        <a:spcAft>
          <a:spcPts val="0"/>
        </a:spcAft>
        <a:buSzPct val="120000"/>
        <a:buFont typeface="System Font Regular"/>
        <a:buChar char="-"/>
        <a:defRPr sz="615" b="0" i="0" kern="1200">
          <a:solidFill>
            <a:schemeClr val="tx1"/>
          </a:solidFill>
          <a:latin typeface="Oracle Sans" panose="020B0503020204020204" pitchFamily="34" charset="0"/>
          <a:ea typeface="+mn-ea"/>
          <a:cs typeface="Oracle Sans" panose="020B0503020204020204" pitchFamily="34" charset="0"/>
        </a:defRPr>
      </a:lvl6pPr>
      <a:lvl7pPr marL="469242" indent="-39104" algn="l" defTabSz="195517" rtl="0" eaLnBrk="1" latinLnBrk="0" hangingPunct="1">
        <a:lnSpc>
          <a:spcPct val="95000"/>
        </a:lnSpc>
        <a:spcBef>
          <a:spcPts val="86"/>
        </a:spcBef>
        <a:spcAft>
          <a:spcPts val="0"/>
        </a:spcAft>
        <a:buFont typeface="System Font Regular"/>
        <a:buChar char="◦"/>
        <a:defRPr sz="615" b="0" i="0" kern="1200">
          <a:solidFill>
            <a:schemeClr val="tx1"/>
          </a:solidFill>
          <a:latin typeface="Oracle Sans" panose="020B0503020204020204" pitchFamily="34" charset="0"/>
          <a:ea typeface="+mn-ea"/>
          <a:cs typeface="Oracle Sans" panose="020B0503020204020204" pitchFamily="34" charset="0"/>
        </a:defRPr>
      </a:lvl7pPr>
      <a:lvl8pPr marL="733189" indent="-48878" algn="l" defTabSz="195517" rtl="0" eaLnBrk="1" latinLnBrk="0" hangingPunct="1">
        <a:lnSpc>
          <a:spcPct val="90000"/>
        </a:lnSpc>
        <a:spcBef>
          <a:spcPts val="106"/>
        </a:spcBef>
        <a:buFont typeface="Arial" panose="020B0604020202020204" pitchFamily="34" charset="0"/>
        <a:buChar char="•"/>
        <a:defRPr sz="386" kern="1200">
          <a:solidFill>
            <a:schemeClr val="tx1"/>
          </a:solidFill>
          <a:latin typeface="+mn-lt"/>
          <a:ea typeface="+mn-ea"/>
          <a:cs typeface="+mn-cs"/>
        </a:defRPr>
      </a:lvl8pPr>
      <a:lvl9pPr marL="830950" indent="-48878" algn="l" defTabSz="195517" rtl="0" eaLnBrk="1" latinLnBrk="0" hangingPunct="1">
        <a:lnSpc>
          <a:spcPct val="90000"/>
        </a:lnSpc>
        <a:spcBef>
          <a:spcPts val="106"/>
        </a:spcBef>
        <a:buFont typeface="Arial" panose="020B0604020202020204" pitchFamily="34" charset="0"/>
        <a:buChar char="•"/>
        <a:defRPr sz="386" kern="1200">
          <a:solidFill>
            <a:schemeClr val="tx1"/>
          </a:solidFill>
          <a:latin typeface="+mn-lt"/>
          <a:ea typeface="+mn-ea"/>
          <a:cs typeface="+mn-cs"/>
        </a:defRPr>
      </a:lvl9pPr>
    </p:bodyStyle>
    <p:otherStyle>
      <a:defPPr>
        <a:defRPr lang="en-US"/>
      </a:defPPr>
      <a:lvl1pPr marL="0" algn="l" defTabSz="195517" rtl="0" eaLnBrk="1" latinLnBrk="0" hangingPunct="1">
        <a:defRPr sz="386" kern="1200">
          <a:solidFill>
            <a:schemeClr val="tx1"/>
          </a:solidFill>
          <a:latin typeface="+mn-lt"/>
          <a:ea typeface="+mn-ea"/>
          <a:cs typeface="+mn-cs"/>
        </a:defRPr>
      </a:lvl1pPr>
      <a:lvl2pPr marL="97760" algn="l" defTabSz="195517" rtl="0" eaLnBrk="1" latinLnBrk="0" hangingPunct="1">
        <a:defRPr sz="386" kern="1200">
          <a:solidFill>
            <a:schemeClr val="tx1"/>
          </a:solidFill>
          <a:latin typeface="+mn-lt"/>
          <a:ea typeface="+mn-ea"/>
          <a:cs typeface="+mn-cs"/>
        </a:defRPr>
      </a:lvl2pPr>
      <a:lvl3pPr marL="195517" algn="l" defTabSz="195517" rtl="0" eaLnBrk="1" latinLnBrk="0" hangingPunct="1">
        <a:defRPr sz="386" kern="1200">
          <a:solidFill>
            <a:schemeClr val="tx1"/>
          </a:solidFill>
          <a:latin typeface="+mn-lt"/>
          <a:ea typeface="+mn-ea"/>
          <a:cs typeface="+mn-cs"/>
        </a:defRPr>
      </a:lvl3pPr>
      <a:lvl4pPr marL="293276" algn="l" defTabSz="195517" rtl="0" eaLnBrk="1" latinLnBrk="0" hangingPunct="1">
        <a:defRPr sz="386" kern="1200">
          <a:solidFill>
            <a:schemeClr val="tx1"/>
          </a:solidFill>
          <a:latin typeface="+mn-lt"/>
          <a:ea typeface="+mn-ea"/>
          <a:cs typeface="+mn-cs"/>
        </a:defRPr>
      </a:lvl4pPr>
      <a:lvl5pPr marL="391034" algn="l" defTabSz="195517" rtl="0" eaLnBrk="1" latinLnBrk="0" hangingPunct="1">
        <a:defRPr sz="386" kern="1200">
          <a:solidFill>
            <a:schemeClr val="tx1"/>
          </a:solidFill>
          <a:latin typeface="+mn-lt"/>
          <a:ea typeface="+mn-ea"/>
          <a:cs typeface="+mn-cs"/>
        </a:defRPr>
      </a:lvl5pPr>
      <a:lvl6pPr marL="488794" algn="l" defTabSz="195517" rtl="0" eaLnBrk="1" latinLnBrk="0" hangingPunct="1">
        <a:defRPr sz="386" kern="1200">
          <a:solidFill>
            <a:schemeClr val="tx1"/>
          </a:solidFill>
          <a:latin typeface="+mn-lt"/>
          <a:ea typeface="+mn-ea"/>
          <a:cs typeface="+mn-cs"/>
        </a:defRPr>
      </a:lvl6pPr>
      <a:lvl7pPr marL="586551" algn="l" defTabSz="195517" rtl="0" eaLnBrk="1" latinLnBrk="0" hangingPunct="1">
        <a:defRPr sz="386" kern="1200">
          <a:solidFill>
            <a:schemeClr val="tx1"/>
          </a:solidFill>
          <a:latin typeface="+mn-lt"/>
          <a:ea typeface="+mn-ea"/>
          <a:cs typeface="+mn-cs"/>
        </a:defRPr>
      </a:lvl7pPr>
      <a:lvl8pPr marL="684312" algn="l" defTabSz="195517" rtl="0" eaLnBrk="1" latinLnBrk="0" hangingPunct="1">
        <a:defRPr sz="386" kern="1200">
          <a:solidFill>
            <a:schemeClr val="tx1"/>
          </a:solidFill>
          <a:latin typeface="+mn-lt"/>
          <a:ea typeface="+mn-ea"/>
          <a:cs typeface="+mn-cs"/>
        </a:defRPr>
      </a:lvl8pPr>
      <a:lvl9pPr marL="782070" algn="l" defTabSz="195517" rtl="0" eaLnBrk="1" latinLnBrk="0" hangingPunct="1">
        <a:defRPr sz="38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0">
          <p15:clr>
            <a:srgbClr val="F26B43"/>
          </p15:clr>
        </p15:guide>
        <p15:guide id="2" orient="horz" pos="6192">
          <p15:clr>
            <a:srgbClr val="F26B43"/>
          </p15:clr>
        </p15:guide>
        <p15:guide id="3" pos="4776">
          <p15:clr>
            <a:srgbClr val="F26B43"/>
          </p15:clr>
        </p15:guide>
        <p15:guide id="4" orient="horz" pos="11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mysites.oracle.com/cvc-globa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mysites.oracle.com/SIA-Companywide/" TargetMode="External"/><Relationship Id="rId5" Type="http://schemas.openxmlformats.org/officeDocument/2006/relationships/hyperlink" Target="https://mysites.oracle.com/license-compliance/" TargetMode="External"/><Relationship Id="rId4" Type="http://schemas.openxmlformats.org/officeDocument/2006/relationships/hyperlink" Target="https://oradocs-prodapp.cec.ocp.oraclecloud.com/documents/link/LDCC9DE792D6004DAD456BD977D95D9E3232DD4D0809/fileview/D03EB05CA79A7B4EB2C5ADFA783F488ACA8DD28E0700/_Designing_the_Interaction_Capture_Process_Manual_Lite_v1.0_(Lite_Beta).pdf"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mysites.oracle.com/license-compliance/" TargetMode="External"/><Relationship Id="rId7"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1.xml"/><Relationship Id="rId4" Type="http://schemas.openxmlformats.org/officeDocument/2006/relationships/hyperlink" Target="https://mysites.oracle.com/SIA-Companywide/"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14CCB44F-7E3E-2F3E-1EF4-1BEC0ECB3A5C}"/>
              </a:ext>
            </a:extLst>
          </p:cNvPr>
          <p:cNvSpPr txBox="1"/>
          <p:nvPr/>
        </p:nvSpPr>
        <p:spPr>
          <a:xfrm>
            <a:off x="268925" y="959370"/>
            <a:ext cx="7255571" cy="6668492"/>
          </a:xfrm>
          <a:prstGeom prst="rect">
            <a:avLst/>
          </a:prstGeom>
          <a:noFill/>
        </p:spPr>
        <p:txBody>
          <a:bodyPr wrap="square" rtlCol="0">
            <a:spAutoFit/>
          </a:bodyPr>
          <a:lstStyle/>
          <a:p>
            <a:r>
              <a:rPr lang="en-US" sz="1400" i="1" dirty="0">
                <a:cs typeface="Oracle Sans" panose="020B0503020204020204" pitchFamily="34" charset="0"/>
              </a:rPr>
              <a:t>Best Practices</a:t>
            </a:r>
          </a:p>
          <a:p>
            <a:endParaRPr lang="en-US" sz="1000" dirty="0">
              <a:cs typeface="Oracle Sans" panose="020B0503020204020204" pitchFamily="34" charset="0"/>
            </a:endParaRPr>
          </a:p>
          <a:p>
            <a:r>
              <a:rPr lang="en-US" sz="1000" dirty="0">
                <a:cs typeface="Oracle Sans" panose="020B0503020204020204" pitchFamily="34" charset="0"/>
              </a:rPr>
              <a:t>The Executive Briefing Document (EBD) is required to qualify a meeting request both by the Oracle executive management teams and the </a:t>
            </a:r>
            <a:r>
              <a:rPr lang="en-US" sz="1000" dirty="0">
                <a:cs typeface="Oracle Sans" panose="020B0503020204020204" pitchFamily="34" charset="0"/>
                <a:hlinkClick r:id="rId3"/>
              </a:rPr>
              <a:t>Executive Briefing Center</a:t>
            </a:r>
            <a:r>
              <a:rPr lang="en-US" sz="1000" dirty="0">
                <a:cs typeface="Oracle Sans" panose="020B0503020204020204" pitchFamily="34" charset="0"/>
              </a:rPr>
              <a:t> (EBC). This document provides pertinent and valuable insights detailing meeting objectives and desired outcomes, current business condition, and strategy, along with any challenges. Providing complete and accurate information will create an effective and targeted meeting, fully addressing the customer’s meeting objectives.</a:t>
            </a:r>
            <a:endParaRPr lang="en-US" sz="1000" dirty="0"/>
          </a:p>
          <a:p>
            <a:endParaRPr lang="en-US" sz="1000" dirty="0"/>
          </a:p>
          <a:p>
            <a:r>
              <a:rPr lang="en-US" sz="1000" b="1" dirty="0"/>
              <a:t>Best practices prior to, during, and post-EBD submission:</a:t>
            </a:r>
          </a:p>
          <a:p>
            <a:pPr marL="171450" indent="-171450">
              <a:buFont typeface="Arial" panose="020B0604020202020204" pitchFamily="34" charset="0"/>
              <a:buChar char="•"/>
            </a:pPr>
            <a:r>
              <a:rPr lang="en-US" sz="1000" dirty="0"/>
              <a:t>Delete this page prior to submitting</a:t>
            </a:r>
          </a:p>
          <a:p>
            <a:pPr marL="171450" indent="-171450">
              <a:buFont typeface="Arial" panose="020B0604020202020204" pitchFamily="34" charset="0"/>
              <a:buChar char="•"/>
            </a:pPr>
            <a:r>
              <a:rPr lang="en-US" sz="1000" dirty="0"/>
              <a:t>Please submit this completed document with your engagement request; this document is required for all executive engagements</a:t>
            </a:r>
          </a:p>
          <a:p>
            <a:pPr marL="171450" indent="-171450">
              <a:buFont typeface="Arial" panose="020B0604020202020204" pitchFamily="34" charset="0"/>
              <a:buChar char="•"/>
            </a:pPr>
            <a:r>
              <a:rPr lang="en-US" sz="1000" dirty="0"/>
              <a:t>Be sure to get the client’s perspective on their objectives for the engagement and their key talking points for discussion </a:t>
            </a:r>
          </a:p>
          <a:p>
            <a:pPr marL="171450" lvl="0" indent="-171450">
              <a:buSzPts val="900"/>
              <a:buFont typeface="Arial" panose="020B0604020202020204" pitchFamily="34" charset="0"/>
              <a:buChar char="•"/>
            </a:pPr>
            <a:r>
              <a:rPr lang="en-GB" sz="1000" dirty="0"/>
              <a:t>Host a 30-minute briefing call for the Oracle participants who will be attending the client engagement</a:t>
            </a:r>
          </a:p>
          <a:p>
            <a:pPr marL="171450" lvl="0" indent="-171450">
              <a:buSzPts val="900"/>
              <a:buFont typeface="Arial" panose="020B0604020202020204" pitchFamily="34" charset="0"/>
              <a:buChar char="•"/>
            </a:pPr>
            <a:r>
              <a:rPr lang="en-GB" sz="1000" dirty="0"/>
              <a:t>If Oracle is hosting the virtual meeting, please review the “Zoom checklist” below</a:t>
            </a:r>
          </a:p>
          <a:p>
            <a:pPr marL="171450" lvl="0" indent="-171450">
              <a:buSzPts val="900"/>
              <a:buFont typeface="Arial" panose="020B0604020202020204" pitchFamily="34" charset="0"/>
              <a:buChar char="•"/>
            </a:pPr>
            <a:r>
              <a:rPr lang="en-GB" sz="1000" dirty="0"/>
              <a:t>After the engagement, host a 15-minute call for Oracle participants and executive(s) to reflect on the engagement and the agreed-upon actions </a:t>
            </a:r>
          </a:p>
          <a:p>
            <a:pPr marL="171450" lvl="0" indent="-171450">
              <a:buSzPts val="900"/>
              <a:buFont typeface="Arial" panose="020B0604020202020204" pitchFamily="34" charset="0"/>
              <a:buChar char="•"/>
            </a:pPr>
            <a:r>
              <a:rPr lang="en-GB" sz="1000" dirty="0"/>
              <a:t>Follow up with your client with a thank you email recapping takeaways and next steps; deliver on the agreed upon actions</a:t>
            </a:r>
          </a:p>
          <a:p>
            <a:pPr lvl="0">
              <a:buSzPts val="900"/>
            </a:pPr>
            <a:endParaRPr lang="en-GB" sz="1000" dirty="0">
              <a:solidFill>
                <a:srgbClr val="312D2A"/>
              </a:solidFill>
              <a:latin typeface="Oracle Sans" panose="020B0503020204020204" pitchFamily="34" charset="0"/>
              <a:ea typeface="Times New Roman" panose="02020603050405020304" pitchFamily="18" charset="0"/>
              <a:cs typeface="Oracle Sans" panose="020B0503020204020204" pitchFamily="34" charset="0"/>
            </a:endParaRPr>
          </a:p>
          <a:p>
            <a:pPr marL="171450" lvl="0" indent="-171450">
              <a:spcAft>
                <a:spcPts val="400"/>
              </a:spcAft>
              <a:buSzPts val="900"/>
              <a:buFont typeface="Arial" panose="020B0604020202020204" pitchFamily="34" charset="0"/>
              <a:buChar char="•"/>
            </a:pPr>
            <a:r>
              <a:rPr lang="en-GB" sz="1000" dirty="0">
                <a:solidFill>
                  <a:srgbClr val="312D2A"/>
                </a:solidFill>
                <a:effectLst/>
                <a:latin typeface="Oracle Sans" panose="020B0503020204020204" pitchFamily="34" charset="0"/>
                <a:ea typeface="Oracle Sans" panose="020B0503020204020204" pitchFamily="34" charset="0"/>
                <a:cs typeface="Oracle Sans" panose="020B0503020204020204" pitchFamily="34" charset="0"/>
              </a:rPr>
              <a:t>Use the </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hlinkClick r:id="rId4"/>
              </a:rPr>
              <a:t>Designing the Interaction</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rPr>
              <a:t> </a:t>
            </a:r>
            <a:r>
              <a:rPr lang="en-GB" sz="1000" dirty="0">
                <a:solidFill>
                  <a:srgbClr val="312D2A"/>
                </a:solidFill>
                <a:effectLst/>
                <a:latin typeface="Oracle Sans" panose="020B0503020204020204" pitchFamily="34" charset="0"/>
                <a:ea typeface="Oracle Sans" panose="020B0503020204020204" pitchFamily="34" charset="0"/>
                <a:cs typeface="Oracle Sans" panose="020B0503020204020204" pitchFamily="34" charset="0"/>
              </a:rPr>
              <a:t>self-paced guide to support you in completing the </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rPr>
              <a:t>EBD</a:t>
            </a:r>
            <a:endParaRPr lang="en-GB" sz="1000" dirty="0">
              <a:effectLst/>
              <a:latin typeface="Oracle Sans" panose="020B0503020204020204" pitchFamily="34" charset="0"/>
              <a:ea typeface="Times New Roman" panose="02020603050405020304" pitchFamily="18" charset="0"/>
              <a:cs typeface="Oracle Sans" panose="020B0503020204020204" pitchFamily="34" charset="0"/>
            </a:endParaRPr>
          </a:p>
          <a:p>
            <a:pPr>
              <a:spcBef>
                <a:spcPts val="1200"/>
              </a:spcBef>
            </a:pPr>
            <a:r>
              <a:rPr lang="en-GB" sz="1000" b="1" kern="0" dirty="0">
                <a:effectLst/>
                <a:latin typeface="Oracle Sans" panose="020B0503020204020204" pitchFamily="34" charset="0"/>
                <a:cs typeface="Oracle Sans" panose="020B0503020204020204" pitchFamily="34" charset="0"/>
              </a:rPr>
              <a:t>Zoom checklist: </a:t>
            </a:r>
          </a:p>
          <a:p>
            <a:pPr marL="171450" lvl="0" indent="-171450">
              <a:buFont typeface="Arial" panose="020B0604020202020204" pitchFamily="34" charset="0"/>
              <a:buChar char="•"/>
            </a:pPr>
            <a:r>
              <a:rPr lang="en-GB" sz="1000" dirty="0"/>
              <a:t>Share agenda with assigned speakers</a:t>
            </a:r>
          </a:p>
          <a:p>
            <a:pPr marL="171450" lvl="0" indent="-171450">
              <a:buFont typeface="Arial" panose="020B0604020202020204" pitchFamily="34" charset="0"/>
              <a:buChar char="•"/>
            </a:pPr>
            <a:r>
              <a:rPr lang="en-GB" sz="1000" dirty="0"/>
              <a:t>Nominate a backup meeting facilitator</a:t>
            </a:r>
          </a:p>
          <a:p>
            <a:pPr marL="171450" lvl="0" indent="-171450">
              <a:buFont typeface="Arial" panose="020B0604020202020204" pitchFamily="34" charset="0"/>
              <a:buChar char="•"/>
            </a:pPr>
            <a:r>
              <a:rPr lang="en-GB" sz="1000" dirty="0"/>
              <a:t>Share slides in advance with backup facilitator</a:t>
            </a:r>
          </a:p>
          <a:p>
            <a:pPr marL="171450" lvl="0" indent="-171450">
              <a:buFont typeface="Arial" panose="020B0604020202020204" pitchFamily="34" charset="0"/>
              <a:buChar char="•"/>
            </a:pPr>
            <a:r>
              <a:rPr lang="en-GB" sz="1000" dirty="0"/>
              <a:t>Share slides in advance or pre-read with customer, if appropriate</a:t>
            </a:r>
          </a:p>
          <a:p>
            <a:pPr marL="171450" lvl="0" indent="-171450">
              <a:buFont typeface="Arial" panose="020B0604020202020204" pitchFamily="34" charset="0"/>
              <a:buChar char="•"/>
            </a:pPr>
            <a:r>
              <a:rPr lang="en-GB" sz="1000" dirty="0"/>
              <a:t>Enable “Waiting Room” functionality</a:t>
            </a:r>
          </a:p>
          <a:p>
            <a:pPr marL="171450" lvl="0" indent="-171450">
              <a:buFont typeface="Arial" panose="020B0604020202020204" pitchFamily="34" charset="0"/>
              <a:buChar char="•"/>
            </a:pPr>
            <a:r>
              <a:rPr lang="en-GB" sz="1000" dirty="0"/>
              <a:t>Have Zoom application available on your mobile device, as a backup</a:t>
            </a:r>
          </a:p>
          <a:p>
            <a:pPr marL="7938"/>
            <a:endParaRPr lang="en-US" sz="1000" dirty="0"/>
          </a:p>
          <a:p>
            <a:pPr marL="0" indent="0">
              <a:buFont typeface="Arial" panose="020B0604020202020204" pitchFamily="34" charset="0"/>
              <a:buNone/>
            </a:pPr>
            <a:r>
              <a:rPr lang="en-US" sz="1000" b="1" dirty="0"/>
              <a:t>Instructions and tips for template use:</a:t>
            </a:r>
          </a:p>
          <a:p>
            <a:pPr marL="171450" indent="-171450">
              <a:buFont typeface="Arial" panose="020B0604020202020204" pitchFamily="34" charset="0"/>
              <a:buChar char="•"/>
            </a:pPr>
            <a:r>
              <a:rPr lang="en-US" sz="1000" dirty="0"/>
              <a:t>To insert the logo for the company, pick the logo shape that best fits their logo (delete the one that does not) and then right click on the image, select “change picture,” then select “from a file,” and choose the customer’s logo that you have saved on your computer</a:t>
            </a:r>
          </a:p>
          <a:p>
            <a:pPr marL="171450" indent="-171450">
              <a:buFont typeface="Arial" panose="020B0604020202020204" pitchFamily="34" charset="0"/>
              <a:buChar char="•"/>
            </a:pPr>
            <a:r>
              <a:rPr lang="en-US" sz="1000" dirty="0"/>
              <a:t>Replace customer images with photos of the customer attendees who will be in the meeting; follow the same process as above, right clicking on the image, clicking “change picture,” and selecting from a file on your computer</a:t>
            </a:r>
          </a:p>
          <a:p>
            <a:pPr marL="171450" indent="-171450">
              <a:buFont typeface="Arial" panose="020B0604020202020204" pitchFamily="34" charset="0"/>
              <a:buChar char="•"/>
            </a:pPr>
            <a:r>
              <a:rPr lang="en-US" sz="1000" dirty="0"/>
              <a:t>When pasting in text, right click on the field that you would like to paste the text into; choose “keep text only” to keep the formatting of the table</a:t>
            </a:r>
          </a:p>
          <a:p>
            <a:pPr marL="171450" indent="-171450">
              <a:buFont typeface="Arial" panose="020B0604020202020204" pitchFamily="34" charset="0"/>
              <a:buChar char="•"/>
            </a:pPr>
            <a:r>
              <a:rPr lang="en-US" sz="1000" dirty="0"/>
              <a:t>Ensure Oracle Sans font is used throughout the document</a:t>
            </a:r>
          </a:p>
          <a:p>
            <a:endParaRPr lang="en-US" sz="1000" dirty="0"/>
          </a:p>
          <a:p>
            <a:r>
              <a:rPr lang="en-US" sz="1000" b="1" dirty="0"/>
              <a:t>Additional information:</a:t>
            </a:r>
          </a:p>
          <a:p>
            <a:pPr marL="171450" indent="-171450">
              <a:buFont typeface="Arial" panose="020B0604020202020204" pitchFamily="34" charset="0"/>
              <a:buChar char="•"/>
            </a:pPr>
            <a:r>
              <a:rPr lang="en-US" sz="1000" dirty="0"/>
              <a:t>License Management Services (LMS) Homepage: </a:t>
            </a:r>
            <a:r>
              <a:rPr lang="en-US" sz="1000" dirty="0">
                <a:hlinkClick r:id="rId5"/>
              </a:rPr>
              <a:t>https://mysites.oracle.com/license-compliance/</a:t>
            </a:r>
            <a:endParaRPr lang="en-US" sz="1000" dirty="0"/>
          </a:p>
          <a:p>
            <a:pPr marL="171450" indent="-171450">
              <a:buFont typeface="Arial" panose="020B0604020202020204" pitchFamily="34" charset="0"/>
              <a:buChar char="•"/>
            </a:pPr>
            <a:r>
              <a:rPr lang="en-US" sz="1000" dirty="0"/>
              <a:t>Software Investment Advisor (SIA) Homepage: </a:t>
            </a:r>
            <a:r>
              <a:rPr lang="en-US" sz="1000" dirty="0">
                <a:hlinkClick r:id="rId6"/>
              </a:rPr>
              <a:t>https://mysites.oracle.com/SIA-Companywide/</a:t>
            </a:r>
            <a:r>
              <a:rPr lang="en-US" sz="1000" dirty="0"/>
              <a:t> </a:t>
            </a:r>
          </a:p>
        </p:txBody>
      </p:sp>
    </p:spTree>
    <p:extLst>
      <p:ext uri="{BB962C8B-B14F-4D97-AF65-F5344CB8AC3E}">
        <p14:creationId xmlns:p14="http://schemas.microsoft.com/office/powerpoint/2010/main" val="192889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19">
            <a:extLst>
              <a:ext uri="{FF2B5EF4-FFF2-40B4-BE49-F238E27FC236}">
                <a16:creationId xmlns:a16="http://schemas.microsoft.com/office/drawing/2014/main" id="{BC585F01-6A6E-82E2-6550-17314EBCD64A}"/>
              </a:ext>
            </a:extLst>
          </p:cNvPr>
          <p:cNvGraphicFramePr>
            <a:graphicFrameLocks noGrp="1"/>
          </p:cNvGraphicFramePr>
          <p:nvPr>
            <p:extLst>
              <p:ext uri="{D42A27DB-BD31-4B8C-83A1-F6EECF244321}">
                <p14:modId xmlns:p14="http://schemas.microsoft.com/office/powerpoint/2010/main" val="2126370258"/>
              </p:ext>
            </p:extLst>
          </p:nvPr>
        </p:nvGraphicFramePr>
        <p:xfrm>
          <a:off x="111653" y="814360"/>
          <a:ext cx="7549094" cy="8429680"/>
        </p:xfrm>
        <a:graphic>
          <a:graphicData uri="http://schemas.openxmlformats.org/drawingml/2006/table">
            <a:tbl>
              <a:tblPr firstRow="1" bandRow="1">
                <a:tableStyleId>{2D5ABB26-0587-4C30-8999-92F81FD0307C}</a:tableStyleId>
              </a:tblPr>
              <a:tblGrid>
                <a:gridCol w="1774091">
                  <a:extLst>
                    <a:ext uri="{9D8B030D-6E8A-4147-A177-3AD203B41FA5}">
                      <a16:colId xmlns:a16="http://schemas.microsoft.com/office/drawing/2014/main" val="291925485"/>
                    </a:ext>
                  </a:extLst>
                </a:gridCol>
                <a:gridCol w="923942">
                  <a:extLst>
                    <a:ext uri="{9D8B030D-6E8A-4147-A177-3AD203B41FA5}">
                      <a16:colId xmlns:a16="http://schemas.microsoft.com/office/drawing/2014/main" val="4243254253"/>
                    </a:ext>
                  </a:extLst>
                </a:gridCol>
                <a:gridCol w="1957667">
                  <a:extLst>
                    <a:ext uri="{9D8B030D-6E8A-4147-A177-3AD203B41FA5}">
                      <a16:colId xmlns:a16="http://schemas.microsoft.com/office/drawing/2014/main" val="869386441"/>
                    </a:ext>
                  </a:extLst>
                </a:gridCol>
                <a:gridCol w="2893394">
                  <a:extLst>
                    <a:ext uri="{9D8B030D-6E8A-4147-A177-3AD203B41FA5}">
                      <a16:colId xmlns:a16="http://schemas.microsoft.com/office/drawing/2014/main" val="3713650747"/>
                    </a:ext>
                  </a:extLst>
                </a:gridCol>
              </a:tblGrid>
              <a:tr h="859369">
                <a:tc gridSpan="2">
                  <a:txBody>
                    <a:bodyPr/>
                    <a:lstStyle/>
                    <a:p>
                      <a:pPr algn="ctr"/>
                      <a:endParaRPr lang="en-US" sz="900" i="1" dirty="0">
                        <a:solidFill>
                          <a:srgbClr val="8B8580"/>
                        </a:solidFill>
                      </a:endParaRPr>
                    </a:p>
                  </a:txBody>
                  <a:tcPr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pPr marL="0" marR="0" lvl="0" indent="0" algn="ctr" defTabSz="195517" rtl="0" eaLnBrk="1" fontAlgn="auto" latinLnBrk="0" hangingPunct="1">
                        <a:lnSpc>
                          <a:spcPct val="100000"/>
                        </a:lnSpc>
                        <a:spcBef>
                          <a:spcPts val="0"/>
                        </a:spcBef>
                        <a:spcAft>
                          <a:spcPts val="0"/>
                        </a:spcAft>
                        <a:buClrTx/>
                        <a:buSzTx/>
                        <a:buFontTx/>
                        <a:buNone/>
                        <a:tabLst/>
                        <a:defRPr/>
                      </a:pPr>
                      <a:r>
                        <a:rPr lang="en-US" sz="1800" b="1" i="0" kern="1200" dirty="0">
                          <a:solidFill>
                            <a:schemeClr val="tx1"/>
                          </a:solidFill>
                          <a:latin typeface="+mn-lt"/>
                          <a:ea typeface="+mn-ea"/>
                          <a:cs typeface="Oracle Sans" panose="020B0503020204020204" pitchFamily="34" charset="0"/>
                        </a:rPr>
                        <a:t>&lt;Company Name&gt;</a:t>
                      </a:r>
                    </a:p>
                    <a:p>
                      <a:pPr marL="0" marR="0" lvl="0" indent="0" algn="ctr" defTabSz="195517"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latin typeface="+mn-lt"/>
                          <a:ea typeface="+mn-ea"/>
                          <a:cs typeface="Oracle Sans" panose="020B0503020204020204" pitchFamily="34" charset="0"/>
                        </a:rPr>
                        <a:t>&lt;Industry&gt;</a:t>
                      </a:r>
                    </a:p>
                    <a:p>
                      <a:pPr algn="r"/>
                      <a:endParaRPr lang="en-US" sz="500" dirty="0"/>
                    </a:p>
                  </a:txBody>
                  <a:tcPr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86691244"/>
                  </a:ext>
                </a:extLst>
              </a:tr>
              <a:tr h="274320">
                <a:tc rowSpan="3" gridSpan="2">
                  <a:txBody>
                    <a:bodyPr/>
                    <a:lstStyle/>
                    <a:p>
                      <a:r>
                        <a:rPr lang="en-US" sz="900" dirty="0">
                          <a:solidFill>
                            <a:schemeClr val="tx1"/>
                          </a:solidFill>
                          <a:latin typeface="+mn-lt"/>
                        </a:rPr>
                        <a:t>&lt;Address&gt;</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hMerge="1">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tcPr>
                </a:tc>
                <a:tc>
                  <a:txBody>
                    <a:bodyPr/>
                    <a:lstStyle/>
                    <a:p>
                      <a:pPr algn="r"/>
                      <a:r>
                        <a:rPr lang="en-US" sz="900" b="1" dirty="0">
                          <a:solidFill>
                            <a:srgbClr val="2C5967"/>
                          </a:solidFill>
                        </a:rPr>
                        <a:t>Meeting Date/Time</a:t>
                      </a:r>
                      <a:endParaRPr lang="en-US" dirty="0"/>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6059242"/>
                  </a:ext>
                </a:extLst>
              </a:tr>
              <a:tr h="429768">
                <a:tc gridSpan="2" vMerge="1">
                  <a:txBody>
                    <a:bodyPr/>
                    <a:lstStyle/>
                    <a:p>
                      <a:endParaRPr lang="en-US" sz="900" dirty="0">
                        <a:solidFill>
                          <a:schemeClr val="tx1"/>
                        </a:solidFill>
                        <a:latin typeface="+mn-lt"/>
                      </a:endParaRPr>
                    </a:p>
                  </a:txBody>
                  <a:tcPr marL="45720" marR="45720" marT="0" marB="0" anchor="ctr">
                    <a:lnT w="12700" cap="flat" cmpd="sng" algn="ctr">
                      <a:no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vMerge="1">
                  <a:txBody>
                    <a:bodyPr/>
                    <a:lstStyle/>
                    <a:p>
                      <a:endParaRPr lang="en-US" sz="900" dirty="0">
                        <a:solidFill>
                          <a:schemeClr val="tx1"/>
                        </a:solidFill>
                        <a:latin typeface="+mn-lt"/>
                      </a:endParaRPr>
                    </a:p>
                  </a:txBody>
                  <a:tcPr marL="45720" marR="45720" marT="0" marB="0" anchor="ctr"/>
                </a:tc>
                <a:tc>
                  <a:txBody>
                    <a:bodyPr/>
                    <a:lstStyle/>
                    <a:p>
                      <a:pPr algn="r"/>
                      <a:r>
                        <a:rPr lang="en-US" sz="900" b="1" dirty="0">
                          <a:solidFill>
                            <a:srgbClr val="2C5967"/>
                          </a:solidFill>
                        </a:rPr>
                        <a:t>Meeting Location</a:t>
                      </a:r>
                      <a:endParaRPr lang="en-US"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77019104"/>
                  </a:ext>
                </a:extLst>
              </a:tr>
              <a:tr h="467903">
                <a:tc gridSpan="2" vMerge="1">
                  <a:txBody>
                    <a:bodyPr/>
                    <a:lstStyle/>
                    <a:p>
                      <a:r>
                        <a:rPr lang="en-US" sz="900" dirty="0">
                          <a:solidFill>
                            <a:schemeClr val="tx1"/>
                          </a:solidFill>
                          <a:latin typeface="+mn-lt"/>
                        </a:rPr>
                        <a:t>&lt;Address&gt;</a:t>
                      </a:r>
                    </a:p>
                  </a:txBody>
                  <a:tcPr marL="45720" marR="4572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endParaRPr lang="en-US" sz="900" dirty="0">
                        <a:solidFill>
                          <a:schemeClr val="tx1"/>
                        </a:solidFill>
                        <a:latin typeface="+mn-lt"/>
                      </a:endParaRPr>
                    </a:p>
                  </a:txBody>
                  <a:tcPr marL="45720" marR="45720"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r"/>
                      <a:r>
                        <a:rPr lang="en-US" sz="900" b="1" dirty="0">
                          <a:solidFill>
                            <a:srgbClr val="2C5967"/>
                          </a:solidFill>
                        </a:rPr>
                        <a:t>Engagement Type</a:t>
                      </a:r>
                    </a:p>
                    <a:p>
                      <a:pPr algn="r"/>
                      <a:r>
                        <a:rPr lang="en-US" sz="700" b="0" dirty="0">
                          <a:solidFill>
                            <a:srgbClr val="2C5967"/>
                          </a:solidFill>
                        </a:rPr>
                        <a:t>(1:1, CVC, Oracle Playbook)</a:t>
                      </a:r>
                      <a:endParaRPr lang="en-US" sz="200" b="0" dirty="0"/>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mn-lt"/>
                        <a:ea typeface="+mn-ea"/>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28421276"/>
                  </a:ext>
                </a:extLst>
              </a:tr>
              <a:tr h="274320">
                <a:tc rowSpan="3" gridSpan="2">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Oracle Sans" panose="020B0503020204020204" pitchFamily="34" charset="0"/>
                        </a:rPr>
                        <a:t>&lt;Website&gt;</a:t>
                      </a:r>
                    </a:p>
                  </a:txBody>
                  <a:tcPr marL="45720" marR="4572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h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mn-lt"/>
                        <a:ea typeface="+mn-ea"/>
                        <a:cs typeface="Oracle Sans" panose="020B0503020204020204" pitchFamily="34" charset="0"/>
                      </a:endParaRPr>
                    </a:p>
                  </a:txBody>
                  <a:tcPr marL="45720" marR="45720"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tcPr>
                </a:tc>
                <a:tc>
                  <a:txBody>
                    <a:bodyPr/>
                    <a:lstStyle/>
                    <a:p>
                      <a:pPr algn="r"/>
                      <a:r>
                        <a:rPr lang="en-US" sz="900" b="1" dirty="0">
                          <a:solidFill>
                            <a:srgbClr val="2C5967"/>
                          </a:solidFill>
                        </a:rPr>
                        <a:t>EBD/Meeting Point of Contact</a:t>
                      </a:r>
                    </a:p>
                    <a:p>
                      <a:pPr algn="r"/>
                      <a:r>
                        <a:rPr lang="en-US" sz="700" b="0" dirty="0">
                          <a:solidFill>
                            <a:srgbClr val="2C5967"/>
                          </a:solidFill>
                        </a:rPr>
                        <a:t>(Name, title, email, phone)</a:t>
                      </a:r>
                      <a:endParaRPr lang="en-US" sz="200" b="0" dirty="0"/>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6116238"/>
                  </a:ext>
                </a:extLst>
              </a:tr>
              <a:tr h="382016">
                <a:tc gridSpan="2" vMerge="1">
                  <a:txBody>
                    <a:bodyPr/>
                    <a:lstStyle/>
                    <a:p>
                      <a:endParaRPr lang="en-US" sz="900" dirty="0">
                        <a:solidFill>
                          <a:schemeClr val="tx1"/>
                        </a:solidFill>
                        <a:latin typeface="+mn-lt"/>
                      </a:endParaRPr>
                    </a:p>
                  </a:txBody>
                  <a:tcPr marL="45720" marR="4572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lang="en-US" sz="900" dirty="0">
                        <a:solidFill>
                          <a:schemeClr val="tx1"/>
                        </a:solidFill>
                        <a:latin typeface="+mn-lt"/>
                      </a:endParaRPr>
                    </a:p>
                  </a:txBody>
                  <a:tcPr marL="45720" marR="45720" marT="0" marB="0" anchor="ct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900" b="1" dirty="0">
                          <a:solidFill>
                            <a:srgbClr val="2C5967"/>
                          </a:solidFill>
                        </a:rPr>
                        <a:t>Oracle Meeting Attendees</a:t>
                      </a:r>
                    </a:p>
                    <a:p>
                      <a:pPr algn="r"/>
                      <a:r>
                        <a:rPr lang="en-US" sz="700" b="0" dirty="0">
                          <a:solidFill>
                            <a:srgbClr val="2C5967"/>
                          </a:solidFill>
                        </a:rPr>
                        <a:t>(Name, title, email, phone)</a:t>
                      </a:r>
                      <a:endParaRPr lang="en-US" sz="200" b="0" dirty="0"/>
                    </a:p>
                  </a:txBody>
                  <a:tcPr marT="0" marB="0" anchor="ctr">
                    <a:lnL>
                      <a:noFill/>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4143921"/>
                  </a:ext>
                </a:extLst>
              </a:tr>
              <a:tr h="392744">
                <a:tc gridSpan="2" vMerge="1">
                  <a:txBody>
                    <a:bodyPr/>
                    <a:lstStyle/>
                    <a:p>
                      <a:pPr marL="0" algn="l" defTabSz="195517" rtl="0" eaLnBrk="1" latinLnBrk="0" hangingPunct="1">
                        <a:lnSpc>
                          <a:spcPct val="90000"/>
                        </a:lnSpc>
                      </a:pPr>
                      <a:endParaRPr lang="en-US" sz="900" b="0" i="0" kern="1200" dirty="0">
                        <a:solidFill>
                          <a:schemeClr val="tx1"/>
                        </a:solidFill>
                        <a:latin typeface="+mn-lt"/>
                        <a:ea typeface="+mn-ea"/>
                        <a:cs typeface="Oracle Sans" panose="020B0503020204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lang="en-US" sz="900" dirty="0">
                        <a:latin typeface="+mn-lt"/>
                      </a:endParaRPr>
                    </a:p>
                  </a:txBody>
                  <a:tcPr marL="45720" marR="45720" marT="0" marB="0" anchor="ctr">
                    <a:lnT w="12700" cap="flat" cmpd="sng" algn="ctr">
                      <a:solidFill>
                        <a:schemeClr val="tx1"/>
                      </a:solidFill>
                      <a:prstDash val="solid"/>
                      <a:round/>
                      <a:headEnd type="none" w="med" len="med"/>
                      <a:tailEnd type="none" w="med" len="med"/>
                    </a:lnT>
                  </a:tcPr>
                </a:tc>
                <a:tc>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a:t>
                      </a:r>
                      <a:r>
                        <a:rPr lang="en-US" sz="900" dirty="0"/>
                        <a:t> </a:t>
                      </a:r>
                      <a:r>
                        <a:rPr lang="en-US" sz="900" b="1" kern="1200" dirty="0">
                          <a:solidFill>
                            <a:srgbClr val="2C5967"/>
                          </a:solidFill>
                          <a:latin typeface="+mn-lt"/>
                          <a:ea typeface="+mn-ea"/>
                          <a:cs typeface="+mn-cs"/>
                        </a:rPr>
                        <a:t>Meeting</a:t>
                      </a:r>
                      <a:r>
                        <a:rPr lang="en-US" sz="900" dirty="0"/>
                        <a:t> </a:t>
                      </a:r>
                      <a:r>
                        <a:rPr lang="en-US" sz="900" b="1" kern="1200" dirty="0">
                          <a:solidFill>
                            <a:srgbClr val="2C5967"/>
                          </a:solidFill>
                          <a:latin typeface="+mn-lt"/>
                          <a:ea typeface="+mn-ea"/>
                          <a:cs typeface="+mn-cs"/>
                        </a:rPr>
                        <a:t>Attendees</a:t>
                      </a:r>
                    </a:p>
                    <a:p>
                      <a:pPr marL="0" marR="0" lvl="0" indent="0" algn="r" defTabSz="195517" rtl="0" eaLnBrk="1" fontAlgn="auto" latinLnBrk="0" hangingPunct="1">
                        <a:lnSpc>
                          <a:spcPct val="100000"/>
                        </a:lnSpc>
                        <a:spcBef>
                          <a:spcPts val="0"/>
                        </a:spcBef>
                        <a:spcAft>
                          <a:spcPts val="0"/>
                        </a:spcAft>
                        <a:buClrTx/>
                        <a:buSzTx/>
                        <a:buFontTx/>
                        <a:buNone/>
                        <a:tabLst/>
                        <a:defRPr/>
                      </a:pPr>
                      <a:r>
                        <a:rPr lang="en-US" sz="700" b="0" kern="1200" dirty="0">
                          <a:solidFill>
                            <a:srgbClr val="2C5967"/>
                          </a:solidFill>
                          <a:latin typeface="+mn-lt"/>
                          <a:ea typeface="+mn-ea"/>
                          <a:cs typeface="+mn-cs"/>
                        </a:rPr>
                        <a:t>(Name, title)</a:t>
                      </a:r>
                    </a:p>
                  </a:txBody>
                  <a:tcPr marT="0" marB="0" anchor="ctr">
                    <a:lnL>
                      <a:noFill/>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3714262"/>
                  </a:ext>
                </a:extLst>
              </a:tr>
              <a:tr h="329455">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Company Description:</a:t>
                      </a:r>
                      <a:r>
                        <a:rPr lang="en-US" sz="900" b="0" kern="1200" dirty="0">
                          <a:solidFill>
                            <a:schemeClr val="tx1"/>
                          </a:solidFill>
                          <a:latin typeface="+mn-lt"/>
                          <a:ea typeface="+mn-ea"/>
                          <a:cs typeface="+mn-cs"/>
                        </a:rPr>
                        <a:t> </a:t>
                      </a: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dirty="0">
                        <a:solidFill>
                          <a:schemeClr val="tx1"/>
                        </a:solidFill>
                        <a:latin typeface="Oracle Sans" panose="020B0503020204020204" pitchFamily="34" charset="0"/>
                        <a:cs typeface="Oracle Sans" panose="020B0503020204020204" pitchFamily="34"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extLst>
                  <a:ext uri="{0D108BD9-81ED-4DB2-BD59-A6C34878D82A}">
                    <a16:rowId xmlns:a16="http://schemas.microsoft.com/office/drawing/2014/main" val="4200647729"/>
                  </a:ext>
                </a:extLst>
              </a:tr>
              <a:tr h="662644">
                <a:tc>
                  <a:txBody>
                    <a:bodyPr/>
                    <a:lstStyle/>
                    <a:p>
                      <a:pPr algn="l"/>
                      <a:r>
                        <a:rPr lang="en-US" sz="900" b="1" kern="1200" dirty="0">
                          <a:solidFill>
                            <a:srgbClr val="2C5967"/>
                          </a:solidFill>
                          <a:latin typeface="+mn-lt"/>
                          <a:ea typeface="+mn-ea"/>
                          <a:cs typeface="+mn-cs"/>
                        </a:rPr>
                        <a:t>Meeting Objectives / </a:t>
                      </a:r>
                    </a:p>
                    <a:p>
                      <a:pPr algn="l"/>
                      <a:r>
                        <a:rPr lang="en-US" sz="900" b="1" kern="1200" dirty="0">
                          <a:solidFill>
                            <a:srgbClr val="2C5967"/>
                          </a:solidFill>
                          <a:latin typeface="+mn-lt"/>
                          <a:ea typeface="+mn-ea"/>
                          <a:cs typeface="+mn-cs"/>
                        </a:rPr>
                        <a:t>Customer Expectations</a:t>
                      </a:r>
                    </a:p>
                    <a:p>
                      <a:pPr algn="l"/>
                      <a:r>
                        <a:rPr lang="en-US" sz="700" b="0" kern="1200" dirty="0">
                          <a:solidFill>
                            <a:schemeClr val="tx1"/>
                          </a:solidFill>
                          <a:latin typeface="+mn-lt"/>
                          <a:ea typeface="+mn-ea"/>
                          <a:cs typeface="+mn-cs"/>
                        </a:rPr>
                        <a:t>(Main purpose of engagement, desired outcomes - focus on the customer perspective)</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endParaRPr lang="en-US" sz="900" dirty="0">
                        <a:solidFill>
                          <a:schemeClr val="tx1"/>
                        </a:solidFill>
                      </a:endParaRPr>
                    </a:p>
                    <a:p>
                      <a:endParaRPr lang="en-US" sz="900" dirty="0">
                        <a:solidFill>
                          <a:schemeClr val="tx1"/>
                        </a:solidFill>
                      </a:endParaRPr>
                    </a:p>
                    <a:p>
                      <a:endParaRPr lang="en-US" sz="900" dirty="0">
                        <a:solidFill>
                          <a:schemeClr val="tx1"/>
                        </a:solidFill>
                      </a:endParaRPr>
                    </a:p>
                    <a:p>
                      <a:endParaRPr lang="en-US" sz="900" dirty="0">
                        <a:solidFill>
                          <a:schemeClr val="tx1"/>
                        </a:solidFill>
                      </a:endParaRPr>
                    </a:p>
                    <a:p>
                      <a:endParaRPr lang="en-US" sz="900" dirty="0">
                        <a:solidFill>
                          <a:schemeClr val="tx1"/>
                        </a:solidFill>
                      </a:endParaRPr>
                    </a:p>
                    <a:p>
                      <a:endParaRPr lang="en-US" sz="900" dirty="0">
                        <a:solidFill>
                          <a:schemeClr val="tx1"/>
                        </a:solidFill>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algn="r"/>
                      <a:r>
                        <a:rPr lang="en-US" sz="900" kern="1200">
                          <a:solidFill>
                            <a:srgbClr val="67605B"/>
                          </a:solidFill>
                          <a:effectLst/>
                          <a:latin typeface="+mn-lt"/>
                          <a:ea typeface="+mn-ea"/>
                          <a:cs typeface="+mn-cs"/>
                        </a:rPr>
                        <a:t>&lt;e.g. ABC is evaluating ERP/HCM solutions as part of their transformation initiative, which has been narrowed down to Oracle and Workday. Discuss the benefits of Oracle and how ABC stands to benefit in the areas of architecture and integration, security, automation capabilities, and the cost-benefit related to reduced IT dependency.&gt;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583825254"/>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Top Business Challenges / Where Oracle Can Help</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(Customer’s challenges - how Oracle can help – both near term and long term, top 3 things to know about the customer)</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endParaRPr lang="en-US" sz="900" dirty="0">
                        <a:solidFill>
                          <a:schemeClr val="tx1"/>
                        </a:solidFill>
                      </a:endParaRPr>
                    </a:p>
                    <a:p>
                      <a:endParaRPr lang="en-US" sz="900" dirty="0">
                        <a:solidFill>
                          <a:schemeClr val="tx1"/>
                        </a:solidFill>
                      </a:endParaRPr>
                    </a:p>
                    <a:p>
                      <a:endParaRPr lang="en-US" sz="900" dirty="0">
                        <a:solidFill>
                          <a:schemeClr val="tx1"/>
                        </a:solidFill>
                      </a:endParaRPr>
                    </a:p>
                    <a:p>
                      <a:endParaRPr lang="en-US" sz="900" dirty="0">
                        <a:solidFill>
                          <a:schemeClr val="tx1"/>
                        </a:solidFill>
                      </a:endParaRPr>
                    </a:p>
                    <a:p>
                      <a:endParaRPr lang="en-US" sz="900" dirty="0">
                        <a:solidFill>
                          <a:schemeClr val="tx1"/>
                        </a:solidFill>
                      </a:endParaRPr>
                    </a:p>
                    <a:p>
                      <a:endParaRPr lang="en-US" sz="900" dirty="0">
                        <a:solidFill>
                          <a:schemeClr val="tx1"/>
                        </a:solidFill>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transformation, mergers / acquisitions, growth strategy.</a:t>
                      </a:r>
                      <a:r>
                        <a:rPr lang="en-US" sz="900" baseline="0">
                          <a:solidFill>
                            <a:srgbClr val="67605B"/>
                          </a:solidFill>
                          <a:latin typeface="Oracle Sans" panose="020B0503020204020204" pitchFamily="34" charset="0"/>
                          <a:cs typeface="Oracle Sans" panose="020B0503020204020204" pitchFamily="34" charset="0"/>
                        </a:rPr>
                        <a:t> </a:t>
                      </a:r>
                      <a:r>
                        <a:rPr lang="en-US" sz="900">
                          <a:solidFill>
                            <a:srgbClr val="67605B"/>
                          </a:solidFill>
                          <a:latin typeface="Oracle Sans" panose="020B0503020204020204" pitchFamily="34" charset="0"/>
                          <a:cs typeface="Oracle Sans" panose="020B0503020204020204" pitchFamily="34" charset="0"/>
                        </a:rPr>
                        <a:t>Multiple ERP systems being leveraged across the company with no common data repository, which is both cumbersome and costly to manage.&gt;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666727208"/>
                  </a:ext>
                </a:extLst>
              </a:tr>
              <a:tr h="605216">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Customer’s Business / </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IT Strategy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(High-level CEO and IT strategy)</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endParaRPr lang="en-US" sz="900" dirty="0">
                        <a:solidFill>
                          <a:schemeClr val="tx1"/>
                        </a:solidFill>
                      </a:endParaRPr>
                    </a:p>
                    <a:p>
                      <a:endParaRPr lang="en-US" sz="900" dirty="0">
                        <a:solidFill>
                          <a:schemeClr val="tx1"/>
                        </a:solidFill>
                      </a:endParaRPr>
                    </a:p>
                    <a:p>
                      <a:endParaRPr lang="en-US" sz="900" dirty="0">
                        <a:solidFill>
                          <a:schemeClr val="tx1"/>
                        </a:solidFill>
                      </a:endParaRPr>
                    </a:p>
                    <a:p>
                      <a:endParaRPr lang="en-US" sz="900" dirty="0">
                        <a:solidFill>
                          <a:schemeClr val="tx1"/>
                        </a:solidFill>
                      </a:endParaRPr>
                    </a:p>
                    <a:p>
                      <a:endParaRPr lang="en-US" sz="900" dirty="0">
                        <a:solidFill>
                          <a:schemeClr val="tx1"/>
                        </a:solidFill>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Identify</a:t>
                      </a:r>
                      <a:r>
                        <a:rPr lang="en-US" sz="900" baseline="0">
                          <a:solidFill>
                            <a:srgbClr val="67605B"/>
                          </a:solidFill>
                          <a:latin typeface="Oracle Sans" panose="020B0503020204020204" pitchFamily="34" charset="0"/>
                          <a:cs typeface="Oracle Sans" panose="020B0503020204020204" pitchFamily="34" charset="0"/>
                        </a:rPr>
                        <a:t> an integrated ERP/HCM solution that does not require high customization and reduces IT dependency.&gt;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264032628"/>
                  </a:ext>
                </a:extLst>
              </a:tr>
              <a:tr h="605216">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 Lifecycle</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(Where we are in sales process, where customer is in their lifecycle, why they chose Oracle, what value has been realized, recent go-lives and implementations)</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endParaRPr lang="en-US" sz="900" dirty="0">
                        <a:solidFill>
                          <a:schemeClr val="tx1"/>
                        </a:solidFill>
                      </a:endParaRPr>
                    </a:p>
                    <a:p>
                      <a:endParaRPr lang="en-US" sz="900" dirty="0">
                        <a:solidFill>
                          <a:schemeClr val="tx1"/>
                        </a:solidFill>
                      </a:endParaRPr>
                    </a:p>
                    <a:p>
                      <a:endParaRPr lang="en-US" sz="900" dirty="0">
                        <a:solidFill>
                          <a:schemeClr val="tx1"/>
                        </a:solidFill>
                      </a:endParaRPr>
                    </a:p>
                    <a:p>
                      <a:endParaRPr lang="en-US" sz="900" dirty="0">
                        <a:solidFill>
                          <a:schemeClr val="tx1"/>
                        </a:solidFill>
                      </a:endParaRPr>
                    </a:p>
                    <a:p>
                      <a:endParaRPr lang="en-US" sz="900" dirty="0">
                        <a:solidFill>
                          <a:schemeClr val="tx1"/>
                        </a:solidFill>
                      </a:endParaRPr>
                    </a:p>
                    <a:p>
                      <a:endParaRPr lang="en-US" sz="900" dirty="0">
                        <a:solidFill>
                          <a:schemeClr val="tx1"/>
                        </a:solidFill>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dirty="0">
                          <a:solidFill>
                            <a:srgbClr val="67605B"/>
                          </a:solidFill>
                          <a:latin typeface="Oracle Sans" panose="020B0503020204020204" pitchFamily="34" charset="0"/>
                          <a:cs typeface="Oracle Sans" panose="020B0503020204020204" pitchFamily="34" charset="0"/>
                        </a:rPr>
                        <a:t>&lt;What is the overall relationship strength and customer view of Oracle?&gt;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90646698"/>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Account Status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(Red, yellow, green health status,  customer’s feeling towards Oracle - positive, negative, or neutral, issues to highlight and potential derailers)</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endParaRPr lang="en-US" sz="900" dirty="0">
                        <a:solidFill>
                          <a:schemeClr val="tx1"/>
                        </a:solidFill>
                      </a:endParaRPr>
                    </a:p>
                    <a:p>
                      <a:endParaRPr lang="en-US" sz="900" dirty="0">
                        <a:solidFill>
                          <a:schemeClr val="tx1"/>
                        </a:solidFill>
                      </a:endParaRPr>
                    </a:p>
                    <a:p>
                      <a:endParaRPr lang="en-US" sz="900" dirty="0">
                        <a:solidFill>
                          <a:schemeClr val="tx1"/>
                        </a:solidFill>
                      </a:endParaRPr>
                    </a:p>
                    <a:p>
                      <a:endParaRPr lang="en-US" sz="900" dirty="0">
                        <a:solidFill>
                          <a:schemeClr val="tx1"/>
                        </a:solidFill>
                      </a:endParaRPr>
                    </a:p>
                    <a:p>
                      <a:endParaRPr lang="en-US" sz="900" dirty="0">
                        <a:solidFill>
                          <a:schemeClr val="tx1"/>
                        </a:solidFill>
                      </a:endParaRPr>
                    </a:p>
                    <a:p>
                      <a:endParaRPr lang="en-US" sz="900" dirty="0">
                        <a:solidFill>
                          <a:schemeClr val="tx1"/>
                        </a:solidFill>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965154558"/>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Oracle Talking Points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(3 main talking points Oracle exec should cover)</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3">
                  <a:txBody>
                    <a:bodyPr/>
                    <a:lstStyle/>
                    <a:p>
                      <a:endParaRPr lang="en-US" sz="900" dirty="0">
                        <a:solidFill>
                          <a:schemeClr val="tx1"/>
                        </a:solidFill>
                      </a:endParaRPr>
                    </a:p>
                    <a:p>
                      <a:endParaRPr lang="en-US" sz="900" dirty="0">
                        <a:solidFill>
                          <a:schemeClr val="tx1"/>
                        </a:solidFill>
                      </a:endParaRPr>
                    </a:p>
                    <a:p>
                      <a:endParaRPr lang="en-US" sz="900" dirty="0">
                        <a:solidFill>
                          <a:schemeClr val="tx1"/>
                        </a:solidFill>
                      </a:endParaRPr>
                    </a:p>
                    <a:p>
                      <a:endParaRPr lang="en-US" sz="900" dirty="0">
                        <a:solidFill>
                          <a:schemeClr val="tx1"/>
                        </a:solidFill>
                      </a:endParaRPr>
                    </a:p>
                    <a:p>
                      <a:endParaRPr lang="en-US" sz="900" dirty="0">
                        <a:solidFill>
                          <a:schemeClr val="tx1"/>
                        </a:solidFill>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transformation, mergers / acquisitions, growth strategy.</a:t>
                      </a:r>
                      <a:r>
                        <a:rPr lang="en-US" sz="900" baseline="0">
                          <a:solidFill>
                            <a:srgbClr val="67605B"/>
                          </a:solidFill>
                          <a:latin typeface="Oracle Sans" panose="020B0503020204020204" pitchFamily="34" charset="0"/>
                          <a:cs typeface="Oracle Sans" panose="020B0503020204020204" pitchFamily="34" charset="0"/>
                        </a:rPr>
                        <a:t> </a:t>
                      </a:r>
                      <a:r>
                        <a:rPr lang="en-US" sz="900">
                          <a:solidFill>
                            <a:srgbClr val="67605B"/>
                          </a:solidFill>
                          <a:latin typeface="Oracle Sans" panose="020B0503020204020204" pitchFamily="34" charset="0"/>
                          <a:cs typeface="Oracle Sans" panose="020B0503020204020204" pitchFamily="34" charset="0"/>
                        </a:rPr>
                        <a:t>Multiple ERP systems being leveraged across the company with no common data repository, which is both cumbersome and costly to manage.&gt;</a:t>
                      </a:r>
                      <a:endParaRPr lang="en-US" sz="900" b="1" kern="1200" dirty="0">
                        <a:solidFill>
                          <a:srgbClr val="2C5967"/>
                        </a:solidFill>
                        <a:latin typeface="+mn-lt"/>
                        <a:ea typeface="+mn-ea"/>
                        <a:cs typeface="+mn-cs"/>
                      </a:endParaRPr>
                    </a:p>
                  </a:txBody>
                  <a:tcPr marT="0" marB="0" anchor="ctr"/>
                </a:tc>
                <a:tc hMerge="1">
                  <a:txBody>
                    <a:bodyPr/>
                    <a:lstStyle/>
                    <a:p>
                      <a:endParaRPr lang="en-US"/>
                    </a:p>
                  </a:txBody>
                  <a:tcPr/>
                </a:tc>
                <a:extLst>
                  <a:ext uri="{0D108BD9-81ED-4DB2-BD59-A6C34878D82A}">
                    <a16:rowId xmlns:a16="http://schemas.microsoft.com/office/drawing/2014/main" val="3430135698"/>
                  </a:ext>
                </a:extLst>
              </a:tr>
            </a:tbl>
          </a:graphicData>
        </a:graphic>
      </p:graphicFrame>
      <p:pic>
        <p:nvPicPr>
          <p:cNvPr id="21" name="Picture 20">
            <a:extLst>
              <a:ext uri="{FF2B5EF4-FFF2-40B4-BE49-F238E27FC236}">
                <a16:creationId xmlns:a16="http://schemas.microsoft.com/office/drawing/2014/main" id="{F1993DF2-0200-0E81-A2DC-844CC34078FC}"/>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3333" r="22222"/>
          <a:stretch/>
        </p:blipFill>
        <p:spPr>
          <a:xfrm>
            <a:off x="306948" y="909378"/>
            <a:ext cx="757450" cy="731520"/>
          </a:xfrm>
          <a:prstGeom prst="rect">
            <a:avLst/>
          </a:prstGeom>
        </p:spPr>
      </p:pic>
      <p:pic>
        <p:nvPicPr>
          <p:cNvPr id="22" name="Picture 21">
            <a:extLst>
              <a:ext uri="{FF2B5EF4-FFF2-40B4-BE49-F238E27FC236}">
                <a16:creationId xmlns:a16="http://schemas.microsoft.com/office/drawing/2014/main" id="{6C2806C5-B1B2-E7A3-42D8-5BE2FF39492B}"/>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3333" r="22222"/>
          <a:stretch/>
        </p:blipFill>
        <p:spPr>
          <a:xfrm>
            <a:off x="1259692" y="909378"/>
            <a:ext cx="1604858" cy="731520"/>
          </a:xfrm>
          <a:prstGeom prst="rect">
            <a:avLst/>
          </a:prstGeom>
        </p:spPr>
      </p:pic>
    </p:spTree>
    <p:extLst>
      <p:ext uri="{BB962C8B-B14F-4D97-AF65-F5344CB8AC3E}">
        <p14:creationId xmlns:p14="http://schemas.microsoft.com/office/powerpoint/2010/main" val="3492236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0851D5C-0391-8C3C-CFDA-9B26DD635BBC}"/>
              </a:ext>
            </a:extLst>
          </p:cNvPr>
          <p:cNvGraphicFramePr>
            <a:graphicFrameLocks noGrp="1"/>
          </p:cNvGraphicFramePr>
          <p:nvPr>
            <p:extLst>
              <p:ext uri="{D42A27DB-BD31-4B8C-83A1-F6EECF244321}">
                <p14:modId xmlns:p14="http://schemas.microsoft.com/office/powerpoint/2010/main" val="3483581123"/>
              </p:ext>
            </p:extLst>
          </p:nvPr>
        </p:nvGraphicFramePr>
        <p:xfrm>
          <a:off x="163793" y="7185907"/>
          <a:ext cx="7315201" cy="2458197"/>
        </p:xfrm>
        <a:graphic>
          <a:graphicData uri="http://schemas.openxmlformats.org/drawingml/2006/table">
            <a:tbl>
              <a:tblPr firstRow="1" bandRow="1">
                <a:tableStyleId>{2D5ABB26-0587-4C30-8999-92F81FD0307C}</a:tableStyleId>
              </a:tblPr>
              <a:tblGrid>
                <a:gridCol w="1560257">
                  <a:extLst>
                    <a:ext uri="{9D8B030D-6E8A-4147-A177-3AD203B41FA5}">
                      <a16:colId xmlns:a16="http://schemas.microsoft.com/office/drawing/2014/main" val="1823716183"/>
                    </a:ext>
                  </a:extLst>
                </a:gridCol>
                <a:gridCol w="263334">
                  <a:extLst>
                    <a:ext uri="{9D8B030D-6E8A-4147-A177-3AD203B41FA5}">
                      <a16:colId xmlns:a16="http://schemas.microsoft.com/office/drawing/2014/main" val="1711870494"/>
                    </a:ext>
                  </a:extLst>
                </a:gridCol>
                <a:gridCol w="1790672">
                  <a:extLst>
                    <a:ext uri="{9D8B030D-6E8A-4147-A177-3AD203B41FA5}">
                      <a16:colId xmlns:a16="http://schemas.microsoft.com/office/drawing/2014/main" val="3368796299"/>
                    </a:ext>
                  </a:extLst>
                </a:gridCol>
                <a:gridCol w="1857698">
                  <a:extLst>
                    <a:ext uri="{9D8B030D-6E8A-4147-A177-3AD203B41FA5}">
                      <a16:colId xmlns:a16="http://schemas.microsoft.com/office/drawing/2014/main" val="1078110989"/>
                    </a:ext>
                  </a:extLst>
                </a:gridCol>
                <a:gridCol w="1843240">
                  <a:extLst>
                    <a:ext uri="{9D8B030D-6E8A-4147-A177-3AD203B41FA5}">
                      <a16:colId xmlns:a16="http://schemas.microsoft.com/office/drawing/2014/main" val="2233156983"/>
                    </a:ext>
                  </a:extLst>
                </a:gridCol>
              </a:tblGrid>
              <a:tr h="187656">
                <a:tc gridSpan="5">
                  <a:txBody>
                    <a:bodyPr/>
                    <a:lstStyle/>
                    <a:p>
                      <a:pPr marL="0" marR="0" lvl="0" indent="0" algn="ctr" defTabSz="195517" rtl="0" eaLnBrk="1" fontAlgn="auto" latinLnBrk="0" hangingPunct="1">
                        <a:lnSpc>
                          <a:spcPct val="100000"/>
                        </a:lnSpc>
                        <a:spcBef>
                          <a:spcPts val="0"/>
                        </a:spcBef>
                        <a:spcAft>
                          <a:spcPts val="0"/>
                        </a:spcAft>
                        <a:buClrTx/>
                        <a:buSzTx/>
                        <a:buFontTx/>
                        <a:buNone/>
                        <a:tabLst/>
                        <a:defRPr/>
                      </a:pPr>
                      <a:r>
                        <a:rPr lang="en-US" sz="900" b="1" kern="1200" dirty="0">
                          <a:solidFill>
                            <a:schemeClr val="tx1"/>
                          </a:solidFill>
                          <a:latin typeface="+mn-lt"/>
                          <a:ea typeface="+mn-ea"/>
                          <a:cs typeface="+mn-cs"/>
                        </a:rPr>
                        <a:t>Most Recent Oracle Executive Engagements (within the last 24 months)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1381816085"/>
                  </a:ext>
                </a:extLst>
              </a:tr>
              <a:tr h="229653">
                <a:tc gridSpan="2">
                  <a:txBody>
                    <a:bodyPr/>
                    <a:lstStyle/>
                    <a:p>
                      <a:pPr algn="ctr"/>
                      <a:r>
                        <a:rPr lang="en-US" sz="900" b="1" dirty="0">
                          <a:solidFill>
                            <a:srgbClr val="2C5967"/>
                          </a:solidFill>
                        </a:rPr>
                        <a:t>Engagement Type</a:t>
                      </a:r>
                    </a:p>
                  </a:txBody>
                  <a:tcPr marL="45720" marR="45720" marT="0" marB="0" anchor="ctr">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solidFill>
                            <a:srgbClr val="2C5967"/>
                          </a:solidFill>
                        </a:rPr>
                        <a:t>Engagement Date/Location</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solidFill>
                            <a:srgbClr val="2C5967"/>
                          </a:solidFill>
                          <a:latin typeface="+mn-lt"/>
                          <a:ea typeface="+mn-ea"/>
                          <a:cs typeface="+mn-cs"/>
                        </a:rPr>
                        <a:t>Main Oracle Executive Attendee</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solidFill>
                            <a:srgbClr val="2C5967"/>
                          </a:solidFill>
                          <a:latin typeface="+mn-lt"/>
                          <a:ea typeface="+mn-ea"/>
                          <a:cs typeface="+mn-cs"/>
                        </a:rPr>
                        <a:t>Main Customer Attendee(s)</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738558021"/>
                  </a:ext>
                </a:extLst>
              </a:tr>
              <a:tr h="189866">
                <a:tc gridSpan="2">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4021392085"/>
                  </a:ext>
                </a:extLst>
              </a:tr>
              <a:tr h="184150">
                <a:tc gridSpan="2">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3030098202"/>
                  </a:ext>
                </a:extLst>
              </a:tr>
              <a:tr h="196850">
                <a:tc gridSpan="2">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1477610"/>
                  </a:ext>
                </a:extLst>
              </a:tr>
              <a:tr h="189752">
                <a:tc gridSpan="5">
                  <a:txBody>
                    <a:bodyPr/>
                    <a:lstStyle/>
                    <a:p>
                      <a:pPr algn="ctr"/>
                      <a:r>
                        <a:rPr lang="en-US" sz="900" b="1" dirty="0">
                          <a:solidFill>
                            <a:schemeClr val="tx1"/>
                          </a:solidFill>
                        </a:rPr>
                        <a:t>Account Team</a:t>
                      </a:r>
                    </a:p>
                  </a:txBody>
                  <a:tcPr marL="45720" marR="45720" marT="0"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hMerge="1">
                  <a:txBody>
                    <a:bodyPr/>
                    <a:lstStyle/>
                    <a:p>
                      <a:endParaRPr lang="en-US"/>
                    </a:p>
                  </a:txBody>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261076206"/>
                  </a:ext>
                </a:extLst>
              </a:tr>
              <a:tr h="229653">
                <a:tc>
                  <a:txBody>
                    <a:bodyPr/>
                    <a:lstStyle/>
                    <a:p>
                      <a:pPr algn="l"/>
                      <a:r>
                        <a:rPr lang="en-US" sz="900" b="1" dirty="0">
                          <a:solidFill>
                            <a:srgbClr val="2C5967"/>
                          </a:solidFill>
                        </a:rPr>
                        <a:t>SCD / LAM</a:t>
                      </a:r>
                    </a:p>
                    <a:p>
                      <a:pPr algn="l"/>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Oracle Sans" panose="020B0503020204020204" pitchFamily="34" charset="0"/>
                        <a:ea typeface="+mn-ea"/>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285386381"/>
                  </a:ext>
                </a:extLst>
              </a:tr>
              <a:tr h="229653">
                <a:tc>
                  <a:txBody>
                    <a:bodyPr/>
                    <a:lstStyle/>
                    <a:p>
                      <a:pPr algn="l"/>
                      <a:r>
                        <a:rPr lang="en-US" sz="900" b="1" dirty="0">
                          <a:solidFill>
                            <a:srgbClr val="2C5967"/>
                          </a:solidFill>
                        </a:rPr>
                        <a:t>Other Account Manager(s)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Oracle Sans" panose="020B0503020204020204" pitchFamily="34" charset="0"/>
                        <a:ea typeface="+mn-ea"/>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1885292419"/>
                  </a:ext>
                </a:extLst>
              </a:tr>
              <a:tr h="229653">
                <a:tc>
                  <a:txBody>
                    <a:bodyPr/>
                    <a:lstStyle/>
                    <a:p>
                      <a:pPr algn="l"/>
                      <a:r>
                        <a:rPr lang="en-US" sz="900" b="1" dirty="0">
                          <a:solidFill>
                            <a:srgbClr val="2C5967"/>
                          </a:solidFill>
                        </a:rPr>
                        <a:t>CSE / CSM</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Oracle Sans" panose="020B0503020204020204" pitchFamily="34" charset="0"/>
                        <a:ea typeface="+mn-ea"/>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extLst>
                  <a:ext uri="{0D108BD9-81ED-4DB2-BD59-A6C34878D82A}">
                    <a16:rowId xmlns:a16="http://schemas.microsoft.com/office/drawing/2014/main" val="189300571"/>
                  </a:ext>
                </a:extLst>
              </a:tr>
              <a:tr h="229653">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dirty="0">
                          <a:solidFill>
                            <a:srgbClr val="2C5967"/>
                          </a:solidFill>
                        </a:rPr>
                        <a:t>Executive Sponsor</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Oracle Sans" panose="020B0503020204020204" pitchFamily="34" charset="0"/>
                        <a:ea typeface="+mn-ea"/>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62320209"/>
                  </a:ext>
                </a:extLst>
              </a:tr>
              <a:tr h="304910">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dirty="0">
                          <a:solidFill>
                            <a:srgbClr val="2C5967"/>
                          </a:solidFill>
                        </a:rPr>
                        <a:t>Implementation Partner</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(Partner name and relevant info)</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Oracle Sans" panose="020B0503020204020204" pitchFamily="34" charset="0"/>
                        <a:ea typeface="+mn-ea"/>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05904968"/>
                  </a:ext>
                </a:extLst>
              </a:tr>
            </a:tbl>
          </a:graphicData>
        </a:graphic>
      </p:graphicFrame>
      <p:graphicFrame>
        <p:nvGraphicFramePr>
          <p:cNvPr id="4" name="Table 3">
            <a:extLst>
              <a:ext uri="{FF2B5EF4-FFF2-40B4-BE49-F238E27FC236}">
                <a16:creationId xmlns:a16="http://schemas.microsoft.com/office/drawing/2014/main" id="{128D44B6-3897-02DF-B6AF-7FA0950E93B9}"/>
              </a:ext>
            </a:extLst>
          </p:cNvPr>
          <p:cNvGraphicFramePr>
            <a:graphicFrameLocks noGrp="1"/>
          </p:cNvGraphicFramePr>
          <p:nvPr>
            <p:extLst>
              <p:ext uri="{D42A27DB-BD31-4B8C-83A1-F6EECF244321}">
                <p14:modId xmlns:p14="http://schemas.microsoft.com/office/powerpoint/2010/main" val="992411780"/>
              </p:ext>
            </p:extLst>
          </p:nvPr>
        </p:nvGraphicFramePr>
        <p:xfrm>
          <a:off x="163793" y="5967930"/>
          <a:ext cx="7311601" cy="1012893"/>
        </p:xfrm>
        <a:graphic>
          <a:graphicData uri="http://schemas.openxmlformats.org/drawingml/2006/table">
            <a:tbl>
              <a:tblPr firstRow="1" bandRow="1">
                <a:tableStyleId>{2D5ABB26-0587-4C30-8999-92F81FD0307C}</a:tableStyleId>
              </a:tblPr>
              <a:tblGrid>
                <a:gridCol w="1218600">
                  <a:extLst>
                    <a:ext uri="{9D8B030D-6E8A-4147-A177-3AD203B41FA5}">
                      <a16:colId xmlns:a16="http://schemas.microsoft.com/office/drawing/2014/main" val="1865643287"/>
                    </a:ext>
                  </a:extLst>
                </a:gridCol>
                <a:gridCol w="1493450">
                  <a:extLst>
                    <a:ext uri="{9D8B030D-6E8A-4147-A177-3AD203B41FA5}">
                      <a16:colId xmlns:a16="http://schemas.microsoft.com/office/drawing/2014/main" val="3872007410"/>
                    </a:ext>
                  </a:extLst>
                </a:gridCol>
                <a:gridCol w="1666615">
                  <a:extLst>
                    <a:ext uri="{9D8B030D-6E8A-4147-A177-3AD203B41FA5}">
                      <a16:colId xmlns:a16="http://schemas.microsoft.com/office/drawing/2014/main" val="2966371849"/>
                    </a:ext>
                  </a:extLst>
                </a:gridCol>
                <a:gridCol w="1714336">
                  <a:extLst>
                    <a:ext uri="{9D8B030D-6E8A-4147-A177-3AD203B41FA5}">
                      <a16:colId xmlns:a16="http://schemas.microsoft.com/office/drawing/2014/main" val="1743445744"/>
                    </a:ext>
                  </a:extLst>
                </a:gridCol>
                <a:gridCol w="1218600">
                  <a:extLst>
                    <a:ext uri="{9D8B030D-6E8A-4147-A177-3AD203B41FA5}">
                      <a16:colId xmlns:a16="http://schemas.microsoft.com/office/drawing/2014/main" val="3111226398"/>
                    </a:ext>
                  </a:extLst>
                </a:gridCol>
              </a:tblGrid>
              <a:tr h="318309">
                <a:tc>
                  <a:txBody>
                    <a:bodyPr/>
                    <a:lstStyle/>
                    <a:p>
                      <a:pPr algn="ctr"/>
                      <a:r>
                        <a:rPr lang="en-US" sz="900" b="1" dirty="0">
                          <a:ln>
                            <a:noFill/>
                          </a:ln>
                        </a:rPr>
                        <a:t>Last Audit Date</a:t>
                      </a:r>
                    </a:p>
                  </a:txBody>
                  <a:tcPr marL="0" marR="0" marT="0" marB="0" anchor="ctr">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Audit Active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Is </a:t>
                      </a:r>
                      <a:r>
                        <a:rPr lang="en-US" sz="900" b="1" dirty="0">
                          <a:ln>
                            <a:noFill/>
                          </a:ln>
                          <a:hlinkClick r:id="rId3"/>
                        </a:rPr>
                        <a:t>LMS Legal </a:t>
                      </a:r>
                      <a:r>
                        <a:rPr lang="en-US" sz="900" b="1" dirty="0">
                          <a:ln>
                            <a:noFill/>
                          </a:ln>
                        </a:rPr>
                        <a:t>Involved?</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ln>
                            <a:noFill/>
                          </a:ln>
                          <a:solidFill>
                            <a:schemeClr val="tx1"/>
                          </a:solidFill>
                          <a:latin typeface="+mn-lt"/>
                          <a:ea typeface="+mn-ea"/>
                          <a:cs typeface="+mn-cs"/>
                        </a:rPr>
                        <a:t>ULA Certification Active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LMS Contact</a:t>
                      </a:r>
                    </a:p>
                  </a:txBody>
                  <a:tcPr marL="0" marR="0" marT="0" marB="0" anchor="ctr">
                    <a:lnL w="12700" cap="flat" cmpd="sng" algn="ctr">
                      <a:solidFill>
                        <a:schemeClr val="bg2"/>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839229030"/>
                  </a:ext>
                </a:extLst>
              </a:tr>
              <a:tr h="213888">
                <a:tc>
                  <a:txBody>
                    <a:bodyPr/>
                    <a:lstStyle/>
                    <a:p>
                      <a:endParaRPr lang="en-US" sz="900" dirty="0">
                        <a:ln>
                          <a:noFill/>
                        </a:ln>
                        <a:solidFill>
                          <a:schemeClr val="tx1"/>
                        </a:solidFill>
                        <a:latin typeface="+mn-lt"/>
                        <a:cs typeface="Oracle Sans" panose="020B0503020204020204" pitchFamily="34" charset="0"/>
                      </a:endParaRP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endParaRPr lang="en-US" sz="900" dirty="0">
                        <a:ln>
                          <a:noFill/>
                        </a:ln>
                        <a:solidFill>
                          <a:schemeClr val="tx1"/>
                        </a:solidFill>
                        <a:latin typeface="+mn-lt"/>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endParaRPr lang="en-US" sz="900" dirty="0">
                        <a:ln>
                          <a:noFill/>
                        </a:ln>
                        <a:solidFill>
                          <a:schemeClr val="tx1"/>
                        </a:solidFill>
                        <a:latin typeface="+mn-lt"/>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endParaRPr lang="en-US" sz="900" b="0" kern="1200" dirty="0">
                        <a:ln>
                          <a:noFill/>
                        </a:ln>
                        <a:solidFill>
                          <a:schemeClr val="tx1"/>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endParaRPr lang="en-US" sz="900" b="0" dirty="0">
                        <a:ln>
                          <a:noFill/>
                        </a:ln>
                        <a:solidFill>
                          <a:schemeClr val="tx1"/>
                        </a:solidFill>
                        <a:latin typeface="+mn-lt"/>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912910007"/>
                  </a:ext>
                </a:extLst>
              </a:tr>
              <a:tr h="240348">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ln>
                            <a:noFill/>
                          </a:ln>
                          <a:solidFill>
                            <a:schemeClr val="tx1"/>
                          </a:solidFill>
                          <a:latin typeface="+mn-lt"/>
                          <a:ea typeface="+mn-ea"/>
                          <a:cs typeface="+mn-cs"/>
                          <a:hlinkClick r:id="rId4"/>
                        </a:rPr>
                        <a:t>Software Investment Advisor</a:t>
                      </a:r>
                      <a:r>
                        <a:rPr lang="en-US" sz="900" b="1" kern="1200" dirty="0">
                          <a:ln>
                            <a:noFill/>
                          </a:ln>
                          <a:solidFill>
                            <a:schemeClr val="tx1"/>
                          </a:solidFill>
                          <a:latin typeface="+mn-lt"/>
                          <a:ea typeface="+mn-ea"/>
                          <a:cs typeface="+mn-cs"/>
                        </a:rPr>
                        <a:t> (SIA) Engaged</a:t>
                      </a:r>
                    </a:p>
                  </a:txBody>
                  <a:tcPr marT="0" marB="0" anchor="ctr">
                    <a:lnR w="12700" cap="flat" cmpd="sng" algn="ctr">
                      <a:solidFill>
                        <a:schemeClr val="bg2"/>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sz="1000"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sz="1000" dirty="0"/>
                    </a:p>
                  </a:txBody>
                  <a:tcPr marT="0" marB="0" anchor="ctr">
                    <a:lnL w="12700" cap="flat" cmpd="sng" algn="ctr">
                      <a:solidFill>
                        <a:schemeClr val="bg2"/>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bg2"/>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a:txBody>
                    <a:bodyPr/>
                    <a:lstStyle/>
                    <a:p>
                      <a:pPr marL="0" algn="ctr" defTabSz="195517" rtl="0" eaLnBrk="1" latinLnBrk="0" hangingPunct="1"/>
                      <a:r>
                        <a:rPr lang="en-US" sz="900" b="1" kern="1200" dirty="0">
                          <a:ln>
                            <a:noFill/>
                          </a:ln>
                          <a:solidFill>
                            <a:schemeClr val="tx1"/>
                          </a:solidFill>
                          <a:latin typeface="+mn-lt"/>
                          <a:ea typeface="+mn-ea"/>
                          <a:cs typeface="+mn-cs"/>
                        </a:rPr>
                        <a:t>SIA Contact</a:t>
                      </a:r>
                    </a:p>
                  </a:txBody>
                  <a:tcPr marT="0" marB="0" anchor="ctr">
                    <a:lnL w="12700" cap="flat" cmpd="sng" algn="ctr">
                      <a:solidFill>
                        <a:schemeClr val="bg2"/>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024768492"/>
                  </a:ext>
                </a:extLst>
              </a:tr>
              <a:tr h="240348">
                <a:tc gridSpan="4">
                  <a:txBody>
                    <a:bodyPr/>
                    <a:lstStyle/>
                    <a:p>
                      <a:endParaRPr lang="en-US" sz="900" b="0" kern="1200" dirty="0">
                        <a:ln>
                          <a:noFill/>
                        </a:ln>
                        <a:solidFill>
                          <a:schemeClr val="tx1"/>
                        </a:solidFill>
                        <a:latin typeface="+mn-lt"/>
                        <a:ea typeface="+mn-ea"/>
                        <a:cs typeface="+mn-cs"/>
                      </a:endParaRP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900"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sz="900" dirty="0"/>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a:txBody>
                    <a:bodyPr/>
                    <a:lstStyle/>
                    <a:p>
                      <a:endParaRPr lang="en-US" sz="900" b="0" dirty="0">
                        <a:ln>
                          <a:noFill/>
                        </a:ln>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8495261"/>
                  </a:ext>
                </a:extLst>
              </a:tr>
            </a:tbl>
          </a:graphicData>
        </a:graphic>
      </p:graphicFrame>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EF274413-8361-3A83-5E67-963DD8B4A72E}"/>
                  </a:ext>
                </a:extLst>
              </p14:cNvPr>
              <p14:cNvContentPartPr/>
              <p14:nvPr/>
            </p14:nvContentPartPr>
            <p14:xfrm>
              <a:off x="283821" y="866301"/>
              <a:ext cx="360" cy="360"/>
            </p14:xfrm>
          </p:contentPart>
        </mc:Choice>
        <mc:Fallback xmlns="">
          <p:pic>
            <p:nvPicPr>
              <p:cNvPr id="5" name="Ink 4">
                <a:extLst>
                  <a:ext uri="{FF2B5EF4-FFF2-40B4-BE49-F238E27FC236}">
                    <a16:creationId xmlns:a16="http://schemas.microsoft.com/office/drawing/2014/main" id="{EF274413-8361-3A83-5E67-963DD8B4A72E}"/>
                  </a:ext>
                </a:extLst>
              </p:cNvPr>
              <p:cNvPicPr/>
              <p:nvPr/>
            </p:nvPicPr>
            <p:blipFill>
              <a:blip r:embed="rId6"/>
              <a:stretch>
                <a:fillRect/>
              </a:stretch>
            </p:blipFill>
            <p:spPr>
              <a:xfrm>
                <a:off x="279501" y="861981"/>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9941224A-9B37-D514-4413-28344FEC0053}"/>
                  </a:ext>
                </a:extLst>
              </p14:cNvPr>
              <p14:cNvContentPartPr/>
              <p14:nvPr/>
            </p14:nvContentPartPr>
            <p14:xfrm>
              <a:off x="307941" y="858381"/>
              <a:ext cx="3600" cy="360"/>
            </p14:xfrm>
          </p:contentPart>
        </mc:Choice>
        <mc:Fallback xmlns="">
          <p:pic>
            <p:nvPicPr>
              <p:cNvPr id="6" name="Ink 5">
                <a:extLst>
                  <a:ext uri="{FF2B5EF4-FFF2-40B4-BE49-F238E27FC236}">
                    <a16:creationId xmlns:a16="http://schemas.microsoft.com/office/drawing/2014/main" id="{9941224A-9B37-D514-4413-28344FEC0053}"/>
                  </a:ext>
                </a:extLst>
              </p:cNvPr>
              <p:cNvPicPr/>
              <p:nvPr/>
            </p:nvPicPr>
            <p:blipFill>
              <a:blip r:embed="rId6"/>
              <a:stretch>
                <a:fillRect/>
              </a:stretch>
            </p:blipFill>
            <p:spPr>
              <a:xfrm>
                <a:off x="303621" y="854061"/>
                <a:ext cx="12240" cy="9000"/>
              </a:xfrm>
              <a:prstGeom prst="rect">
                <a:avLst/>
              </a:prstGeom>
            </p:spPr>
          </p:pic>
        </mc:Fallback>
      </mc:AlternateContent>
      <p:graphicFrame>
        <p:nvGraphicFramePr>
          <p:cNvPr id="7" name="Table 6">
            <a:extLst>
              <a:ext uri="{FF2B5EF4-FFF2-40B4-BE49-F238E27FC236}">
                <a16:creationId xmlns:a16="http://schemas.microsoft.com/office/drawing/2014/main" id="{C4990E67-9C3E-FD00-7895-E2EFB5B3B9D2}"/>
              </a:ext>
            </a:extLst>
          </p:cNvPr>
          <p:cNvGraphicFramePr>
            <a:graphicFrameLocks noGrp="1"/>
          </p:cNvGraphicFramePr>
          <p:nvPr>
            <p:extLst>
              <p:ext uri="{D42A27DB-BD31-4B8C-83A1-F6EECF244321}">
                <p14:modId xmlns:p14="http://schemas.microsoft.com/office/powerpoint/2010/main" val="2399448383"/>
              </p:ext>
            </p:extLst>
          </p:nvPr>
        </p:nvGraphicFramePr>
        <p:xfrm>
          <a:off x="163793" y="839114"/>
          <a:ext cx="7278998" cy="4937760"/>
        </p:xfrm>
        <a:graphic>
          <a:graphicData uri="http://schemas.openxmlformats.org/drawingml/2006/table">
            <a:tbl>
              <a:tblPr firstRow="1" bandRow="1">
                <a:tableStyleId>{2D5ABB26-0587-4C30-8999-92F81FD0307C}</a:tableStyleId>
              </a:tblPr>
              <a:tblGrid>
                <a:gridCol w="1198663">
                  <a:extLst>
                    <a:ext uri="{9D8B030D-6E8A-4147-A177-3AD203B41FA5}">
                      <a16:colId xmlns:a16="http://schemas.microsoft.com/office/drawing/2014/main" val="934969453"/>
                    </a:ext>
                  </a:extLst>
                </a:gridCol>
                <a:gridCol w="1946209">
                  <a:extLst>
                    <a:ext uri="{9D8B030D-6E8A-4147-A177-3AD203B41FA5}">
                      <a16:colId xmlns:a16="http://schemas.microsoft.com/office/drawing/2014/main" val="1382363182"/>
                    </a:ext>
                  </a:extLst>
                </a:gridCol>
                <a:gridCol w="4134126">
                  <a:extLst>
                    <a:ext uri="{9D8B030D-6E8A-4147-A177-3AD203B41FA5}">
                      <a16:colId xmlns:a16="http://schemas.microsoft.com/office/drawing/2014/main" val="3769453652"/>
                    </a:ext>
                  </a:extLst>
                </a:gridCol>
              </a:tblGrid>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195517" rtl="0" eaLnBrk="1" latinLnBrk="0" hangingPunct="1"/>
                      <a:r>
                        <a:rPr lang="en-US" sz="900" b="1" kern="1200" dirty="0">
                          <a:solidFill>
                            <a:srgbClr val="2C5967"/>
                          </a:solidFill>
                          <a:latin typeface="+mn-lt"/>
                          <a:ea typeface="+mn-ea"/>
                          <a:cs typeface="+mn-cs"/>
                        </a:rPr>
                        <a:t>Customer Name, Title, Email</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145389527"/>
                  </a:ext>
                </a:extLst>
              </a:tr>
              <a:tr h="349337">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pPr marL="0" algn="l" defTabSz="195517" rtl="0" eaLnBrk="1" latinLnBrk="0" hangingPunct="1"/>
                      <a:r>
                        <a:rPr lang="en-US" sz="900" b="1" kern="1200" dirty="0">
                          <a:solidFill>
                            <a:srgbClr val="2C5967"/>
                          </a:solidFill>
                          <a:latin typeface="+mn-lt"/>
                          <a:ea typeface="+mn-ea"/>
                          <a:cs typeface="+mn-cs"/>
                        </a:rPr>
                        <a:t>Perspective</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rgbClr val="67605B"/>
                          </a:solidFill>
                          <a:latin typeface="Oracle Sans" panose="020B0503020204020204" pitchFamily="34" charset="0"/>
                          <a:cs typeface="Oracle Sans" panose="020B0503020204020204" pitchFamily="34" charset="0"/>
                        </a:rPr>
                        <a:t>(Executive’s priorities, view of Oracle, </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rgbClr val="67605B"/>
                          </a:solidFill>
                          <a:latin typeface="Oracle Sans" panose="020B0503020204020204" pitchFamily="34" charset="0"/>
                          <a:cs typeface="Oracle Sans" panose="020B0503020204020204" pitchFamily="34" charset="0"/>
                        </a:rPr>
                        <a:t>top concerns about journey with Oracle)</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693680188"/>
                  </a:ext>
                </a:extLst>
              </a:tr>
              <a:tr h="349337">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195517" rtl="0" eaLnBrk="1" latinLnBrk="0" hangingPunct="1"/>
                      <a:r>
                        <a:rPr lang="en-US" sz="900" b="1" kern="1200" dirty="0">
                          <a:solidFill>
                            <a:srgbClr val="2C5967"/>
                          </a:solidFill>
                          <a:latin typeface="+mn-lt"/>
                          <a:ea typeface="+mn-ea"/>
                          <a:cs typeface="+mn-cs"/>
                        </a:rPr>
                        <a:t> Bio</a:t>
                      </a:r>
                    </a:p>
                    <a:p>
                      <a:pPr marL="0" algn="l" defTabSz="195517" rtl="0" eaLnBrk="1" latinLnBrk="0" hangingPunct="1"/>
                      <a:r>
                        <a:rPr lang="en-US" sz="700" b="0" kern="1200" dirty="0">
                          <a:solidFill>
                            <a:srgbClr val="67605B"/>
                          </a:solidFill>
                          <a:latin typeface="+mn-lt"/>
                          <a:ea typeface="+mn-ea"/>
                          <a:cs typeface="+mn-cs"/>
                        </a:rPr>
                        <a:t>(Include a short bio and link to online bio)</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1524122"/>
                  </a:ext>
                </a:extLst>
              </a:tr>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195517" rtl="0" eaLnBrk="1" latinLnBrk="0" hangingPunct="1"/>
                      <a:r>
                        <a:rPr lang="en-US" sz="900" b="1" kern="1200" dirty="0">
                          <a:solidFill>
                            <a:srgbClr val="2C5967"/>
                          </a:solidFill>
                          <a:latin typeface="+mn-lt"/>
                          <a:ea typeface="+mn-ea"/>
                          <a:cs typeface="+mn-cs"/>
                        </a:rPr>
                        <a:t>Customer Name, Title, Email</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83417940"/>
                  </a:ext>
                </a:extLst>
              </a:tr>
              <a:tr h="349337">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pPr marL="0" algn="l" defTabSz="195517" rtl="0" eaLnBrk="1" latinLnBrk="0" hangingPunct="1"/>
                      <a:r>
                        <a:rPr lang="en-US" sz="900" b="1" kern="1200" dirty="0">
                          <a:solidFill>
                            <a:srgbClr val="2C5967"/>
                          </a:solidFill>
                          <a:latin typeface="+mn-lt"/>
                          <a:ea typeface="+mn-ea"/>
                          <a:cs typeface="+mn-cs"/>
                        </a:rPr>
                        <a:t>Perspective</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rgbClr val="67605B"/>
                          </a:solidFill>
                          <a:latin typeface="Oracle Sans" panose="020B0503020204020204" pitchFamily="34" charset="0"/>
                          <a:cs typeface="Oracle Sans" panose="020B0503020204020204" pitchFamily="34" charset="0"/>
                        </a:rPr>
                        <a:t>(Executive’s priorities, view of Oracle, </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rgbClr val="67605B"/>
                          </a:solidFill>
                          <a:latin typeface="Oracle Sans" panose="020B0503020204020204" pitchFamily="34" charset="0"/>
                          <a:cs typeface="Oracle Sans" panose="020B0503020204020204" pitchFamily="34" charset="0"/>
                        </a:rPr>
                        <a:t>top concerns about journey with Oracle)</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1040647383"/>
                  </a:ext>
                </a:extLst>
              </a:tr>
              <a:tr h="349337">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195517" rtl="0" eaLnBrk="1" latinLnBrk="0" hangingPunct="1"/>
                      <a:r>
                        <a:rPr lang="en-US" sz="900" b="1" kern="1200" dirty="0">
                          <a:solidFill>
                            <a:srgbClr val="2C5967"/>
                          </a:solidFill>
                          <a:latin typeface="+mn-lt"/>
                          <a:ea typeface="+mn-ea"/>
                          <a:cs typeface="+mn-cs"/>
                        </a:rPr>
                        <a:t> Bio</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rgbClr val="67605B"/>
                          </a:solidFill>
                          <a:latin typeface="+mn-lt"/>
                          <a:ea typeface="+mn-ea"/>
                          <a:cs typeface="+mn-cs"/>
                        </a:rPr>
                        <a:t>(Include a short bio and link to online bio)</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7414671"/>
                  </a:ext>
                </a:extLst>
              </a:tr>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195517" rtl="0" eaLnBrk="1" latinLnBrk="0" hangingPunct="1"/>
                      <a:r>
                        <a:rPr lang="en-US" sz="900" b="1" kern="1200" dirty="0">
                          <a:solidFill>
                            <a:srgbClr val="2C5967"/>
                          </a:solidFill>
                          <a:latin typeface="+mn-lt"/>
                          <a:ea typeface="+mn-ea"/>
                          <a:cs typeface="+mn-cs"/>
                        </a:rPr>
                        <a:t>Customer Name, Title, Email</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290201">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pPr marL="0" algn="l" defTabSz="195517" rtl="0" eaLnBrk="1" latinLnBrk="0" hangingPunct="1"/>
                      <a:r>
                        <a:rPr lang="en-US" sz="900" b="1" kern="1200" dirty="0">
                          <a:solidFill>
                            <a:srgbClr val="2C5967"/>
                          </a:solidFill>
                          <a:latin typeface="+mn-lt"/>
                          <a:ea typeface="+mn-ea"/>
                          <a:cs typeface="+mn-cs"/>
                        </a:rPr>
                        <a:t>Perspective</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rgbClr val="67605B"/>
                          </a:solidFill>
                          <a:latin typeface="Oracle Sans" panose="020B0503020204020204" pitchFamily="34" charset="0"/>
                          <a:cs typeface="Oracle Sans" panose="020B0503020204020204" pitchFamily="34" charset="0"/>
                        </a:rPr>
                        <a:t>(Executive’s priorities, view of Oracle, </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rgbClr val="67605B"/>
                          </a:solidFill>
                          <a:latin typeface="Oracle Sans" panose="020B0503020204020204" pitchFamily="34" charset="0"/>
                          <a:cs typeface="Oracle Sans" panose="020B0503020204020204" pitchFamily="34" charset="0"/>
                        </a:rPr>
                        <a:t>top concerns about journey with Oracle)</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201">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195517" rtl="0" eaLnBrk="1" latinLnBrk="0" hangingPunct="1"/>
                      <a:r>
                        <a:rPr lang="en-US" sz="900" b="1" kern="1200" dirty="0">
                          <a:solidFill>
                            <a:srgbClr val="2C5967"/>
                          </a:solidFill>
                          <a:latin typeface="+mn-lt"/>
                          <a:ea typeface="+mn-ea"/>
                          <a:cs typeface="+mn-cs"/>
                        </a:rPr>
                        <a:t> Bio</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rgbClr val="67605B"/>
                          </a:solidFill>
                          <a:latin typeface="+mn-lt"/>
                          <a:ea typeface="+mn-ea"/>
                          <a:cs typeface="+mn-cs"/>
                        </a:rPr>
                        <a:t>(Include a short bio and link to online bio)</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8918100"/>
                  </a:ext>
                </a:extLst>
              </a:tr>
            </a:tbl>
          </a:graphicData>
        </a:graphic>
      </p:graphicFrame>
      <p:pic>
        <p:nvPicPr>
          <p:cNvPr id="8" name="Picture 7" descr="A picture containing text&#10;&#10;Description automatically generated">
            <a:extLst>
              <a:ext uri="{FF2B5EF4-FFF2-40B4-BE49-F238E27FC236}">
                <a16:creationId xmlns:a16="http://schemas.microsoft.com/office/drawing/2014/main" id="{40F1D101-8E72-F518-2C92-B88D1D21AF82}"/>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00947" y="1187424"/>
            <a:ext cx="914400" cy="914400"/>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6C788A28-2438-E116-7642-79F36D1A0789}"/>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11580" y="2845729"/>
            <a:ext cx="914400" cy="9144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1FAFDF71-F32B-762E-7E79-A1DBDC97F03A}"/>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00947" y="4528440"/>
            <a:ext cx="914400" cy="914400"/>
          </a:xfrm>
          <a:prstGeom prst="rect">
            <a:avLst/>
          </a:prstGeom>
        </p:spPr>
      </p:pic>
    </p:spTree>
    <p:extLst>
      <p:ext uri="{BB962C8B-B14F-4D97-AF65-F5344CB8AC3E}">
        <p14:creationId xmlns:p14="http://schemas.microsoft.com/office/powerpoint/2010/main" val="1540515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5BE8610-820A-AC5A-88D4-B97659AA2400}"/>
              </a:ext>
            </a:extLst>
          </p:cNvPr>
          <p:cNvSpPr txBox="1"/>
          <p:nvPr/>
        </p:nvSpPr>
        <p:spPr>
          <a:xfrm>
            <a:off x="165100" y="699700"/>
            <a:ext cx="5753100" cy="276999"/>
          </a:xfrm>
          <a:prstGeom prst="rect">
            <a:avLst/>
          </a:prstGeom>
          <a:noFill/>
        </p:spPr>
        <p:txBody>
          <a:bodyPr wrap="square" lIns="0" rtlCol="0">
            <a:spAutoFit/>
          </a:bodyPr>
          <a:lstStyle/>
          <a:p>
            <a:r>
              <a:rPr lang="en-US" sz="1200" b="1" dirty="0">
                <a:solidFill>
                  <a:srgbClr val="2C5967"/>
                </a:solidFill>
              </a:rPr>
              <a:t>Customer References </a:t>
            </a:r>
            <a:r>
              <a:rPr lang="en-US" sz="1200" i="1" dirty="0"/>
              <a:t>&lt;Delete / Add as needed&gt;</a:t>
            </a:r>
          </a:p>
        </p:txBody>
      </p:sp>
      <p:graphicFrame>
        <p:nvGraphicFramePr>
          <p:cNvPr id="12" name="Table 11">
            <a:extLst>
              <a:ext uri="{FF2B5EF4-FFF2-40B4-BE49-F238E27FC236}">
                <a16:creationId xmlns:a16="http://schemas.microsoft.com/office/drawing/2014/main" id="{39A809CB-3909-41C5-DD19-0FE95177DB66}"/>
              </a:ext>
            </a:extLst>
          </p:cNvPr>
          <p:cNvGraphicFramePr>
            <a:graphicFrameLocks noGrp="1"/>
          </p:cNvGraphicFramePr>
          <p:nvPr>
            <p:extLst>
              <p:ext uri="{D42A27DB-BD31-4B8C-83A1-F6EECF244321}">
                <p14:modId xmlns:p14="http://schemas.microsoft.com/office/powerpoint/2010/main" val="898793170"/>
              </p:ext>
            </p:extLst>
          </p:nvPr>
        </p:nvGraphicFramePr>
        <p:xfrm>
          <a:off x="165100" y="1028291"/>
          <a:ext cx="7391400" cy="2641229"/>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4">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7">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graphicFrame>
        <p:nvGraphicFramePr>
          <p:cNvPr id="13" name="Table 12">
            <a:extLst>
              <a:ext uri="{FF2B5EF4-FFF2-40B4-BE49-F238E27FC236}">
                <a16:creationId xmlns:a16="http://schemas.microsoft.com/office/drawing/2014/main" id="{8FE09F1B-A6F4-9A2D-14A8-E18C921A3E02}"/>
              </a:ext>
            </a:extLst>
          </p:cNvPr>
          <p:cNvGraphicFramePr>
            <a:graphicFrameLocks noGrp="1"/>
          </p:cNvGraphicFramePr>
          <p:nvPr>
            <p:extLst>
              <p:ext uri="{D42A27DB-BD31-4B8C-83A1-F6EECF244321}">
                <p14:modId xmlns:p14="http://schemas.microsoft.com/office/powerpoint/2010/main" val="1597344447"/>
              </p:ext>
            </p:extLst>
          </p:nvPr>
        </p:nvGraphicFramePr>
        <p:xfrm>
          <a:off x="165100" y="4038318"/>
          <a:ext cx="7391399" cy="2641228"/>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3">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6">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graphicFrame>
        <p:nvGraphicFramePr>
          <p:cNvPr id="15" name="Table 14">
            <a:extLst>
              <a:ext uri="{FF2B5EF4-FFF2-40B4-BE49-F238E27FC236}">
                <a16:creationId xmlns:a16="http://schemas.microsoft.com/office/drawing/2014/main" id="{A61126C0-4ED0-BDDB-DA6B-2B848987F6A6}"/>
              </a:ext>
            </a:extLst>
          </p:cNvPr>
          <p:cNvGraphicFramePr>
            <a:graphicFrameLocks noGrp="1"/>
          </p:cNvGraphicFramePr>
          <p:nvPr>
            <p:extLst>
              <p:ext uri="{D42A27DB-BD31-4B8C-83A1-F6EECF244321}">
                <p14:modId xmlns:p14="http://schemas.microsoft.com/office/powerpoint/2010/main" val="2011324976"/>
              </p:ext>
            </p:extLst>
          </p:nvPr>
        </p:nvGraphicFramePr>
        <p:xfrm>
          <a:off x="165100" y="7027084"/>
          <a:ext cx="7391399" cy="2641229"/>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3">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7">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spTree>
    <p:extLst>
      <p:ext uri="{BB962C8B-B14F-4D97-AF65-F5344CB8AC3E}">
        <p14:creationId xmlns:p14="http://schemas.microsoft.com/office/powerpoint/2010/main" val="404484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FFDD695-A70C-C68B-AE05-B2F31B58D7E6}"/>
              </a:ext>
            </a:extLst>
          </p:cNvPr>
          <p:cNvGraphicFramePr>
            <a:graphicFrameLocks noGrp="1"/>
          </p:cNvGraphicFramePr>
          <p:nvPr>
            <p:extLst>
              <p:ext uri="{D42A27DB-BD31-4B8C-83A1-F6EECF244321}">
                <p14:modId xmlns:p14="http://schemas.microsoft.com/office/powerpoint/2010/main" val="3647879473"/>
              </p:ext>
            </p:extLst>
          </p:nvPr>
        </p:nvGraphicFramePr>
        <p:xfrm>
          <a:off x="228599" y="988622"/>
          <a:ext cx="7315201" cy="5701099"/>
        </p:xfrm>
        <a:graphic>
          <a:graphicData uri="http://schemas.openxmlformats.org/drawingml/2006/table">
            <a:tbl>
              <a:tblPr firstRow="1" bandRow="1">
                <a:tableStyleId>{2D5ABB26-0587-4C30-8999-92F81FD0307C}</a:tableStyleId>
              </a:tblPr>
              <a:tblGrid>
                <a:gridCol w="862422">
                  <a:extLst>
                    <a:ext uri="{9D8B030D-6E8A-4147-A177-3AD203B41FA5}">
                      <a16:colId xmlns:a16="http://schemas.microsoft.com/office/drawing/2014/main" val="1823716183"/>
                    </a:ext>
                  </a:extLst>
                </a:gridCol>
                <a:gridCol w="222078">
                  <a:extLst>
                    <a:ext uri="{9D8B030D-6E8A-4147-A177-3AD203B41FA5}">
                      <a16:colId xmlns:a16="http://schemas.microsoft.com/office/drawing/2014/main" val="2807854026"/>
                    </a:ext>
                  </a:extLst>
                </a:gridCol>
                <a:gridCol w="1003618">
                  <a:extLst>
                    <a:ext uri="{9D8B030D-6E8A-4147-A177-3AD203B41FA5}">
                      <a16:colId xmlns:a16="http://schemas.microsoft.com/office/drawing/2014/main" val="1088514063"/>
                    </a:ext>
                  </a:extLst>
                </a:gridCol>
                <a:gridCol w="420143">
                  <a:extLst>
                    <a:ext uri="{9D8B030D-6E8A-4147-A177-3AD203B41FA5}">
                      <a16:colId xmlns:a16="http://schemas.microsoft.com/office/drawing/2014/main" val="97867412"/>
                    </a:ext>
                  </a:extLst>
                </a:gridCol>
                <a:gridCol w="1106002">
                  <a:extLst>
                    <a:ext uri="{9D8B030D-6E8A-4147-A177-3AD203B41FA5}">
                      <a16:colId xmlns:a16="http://schemas.microsoft.com/office/drawing/2014/main" val="3345351580"/>
                    </a:ext>
                  </a:extLst>
                </a:gridCol>
                <a:gridCol w="134172">
                  <a:extLst>
                    <a:ext uri="{9D8B030D-6E8A-4147-A177-3AD203B41FA5}">
                      <a16:colId xmlns:a16="http://schemas.microsoft.com/office/drawing/2014/main" val="1078110989"/>
                    </a:ext>
                  </a:extLst>
                </a:gridCol>
                <a:gridCol w="1274666">
                  <a:extLst>
                    <a:ext uri="{9D8B030D-6E8A-4147-A177-3AD203B41FA5}">
                      <a16:colId xmlns:a16="http://schemas.microsoft.com/office/drawing/2014/main" val="3620614086"/>
                    </a:ext>
                  </a:extLst>
                </a:gridCol>
                <a:gridCol w="448860">
                  <a:extLst>
                    <a:ext uri="{9D8B030D-6E8A-4147-A177-3AD203B41FA5}">
                      <a16:colId xmlns:a16="http://schemas.microsoft.com/office/drawing/2014/main" val="3990942346"/>
                    </a:ext>
                  </a:extLst>
                </a:gridCol>
                <a:gridCol w="1104810">
                  <a:extLst>
                    <a:ext uri="{9D8B030D-6E8A-4147-A177-3AD203B41FA5}">
                      <a16:colId xmlns:a16="http://schemas.microsoft.com/office/drawing/2014/main" val="2233156983"/>
                    </a:ext>
                  </a:extLst>
                </a:gridCol>
                <a:gridCol w="738430">
                  <a:extLst>
                    <a:ext uri="{9D8B030D-6E8A-4147-A177-3AD203B41FA5}">
                      <a16:colId xmlns:a16="http://schemas.microsoft.com/office/drawing/2014/main" val="3363955813"/>
                    </a:ext>
                  </a:extLst>
                </a:gridCol>
              </a:tblGrid>
              <a:tr h="187453">
                <a:tc gridSpan="10">
                  <a:txBody>
                    <a:bodyPr/>
                    <a:lstStyle/>
                    <a:p>
                      <a:pPr algn="ctr"/>
                      <a:r>
                        <a:rPr lang="en-US" sz="900" b="1" dirty="0"/>
                        <a:t>Open Opportunities 12-18 Months ($M USD)</a:t>
                      </a: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pPr algn="ctr"/>
                      <a:endParaRPr lang="en-US" sz="900" b="1" dirty="0"/>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pPr algn="ctr"/>
                      <a:endParaRPr lang="en-US" sz="900" b="1"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a:endParaRPr lang="en-US" sz="900" b="1" dirty="0"/>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2483486"/>
                  </a:ext>
                </a:extLst>
              </a:tr>
              <a:tr h="150243">
                <a:tc rowSpan="2" gridSpan="2">
                  <a:txBody>
                    <a:bodyPr/>
                    <a:lstStyle/>
                    <a:p>
                      <a:pPr algn="ctr"/>
                      <a:r>
                        <a:rPr lang="en-US" sz="900" b="1" dirty="0">
                          <a:solidFill>
                            <a:srgbClr val="2C5967"/>
                          </a:solidFill>
                        </a:rPr>
                        <a:t>Product Pillar</a:t>
                      </a:r>
                    </a:p>
                  </a:txBody>
                  <a:tcPr marL="0" marR="0" marT="0" marB="0" anchor="ctr">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rowSpan="2"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gridSpan="2">
                  <a:txBody>
                    <a:bodyPr/>
                    <a:lstStyle/>
                    <a:p>
                      <a:pPr algn="ctr"/>
                      <a:r>
                        <a:rPr lang="en-US" sz="900" b="1" dirty="0">
                          <a:solidFill>
                            <a:srgbClr val="2C5967"/>
                          </a:solidFill>
                        </a:rPr>
                        <a:t>Product Line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3">
                  <a:txBody>
                    <a:bodyPr/>
                    <a:lstStyle/>
                    <a:p>
                      <a:pPr algn="ctr"/>
                      <a:r>
                        <a:rPr lang="en-US" sz="900" b="1" dirty="0">
                          <a:solidFill>
                            <a:srgbClr val="2C5967"/>
                          </a:solidFill>
                        </a:rPr>
                        <a:t>Top Open Opportunities (40% &amp; Above)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bg1"/>
                      </a:solidFill>
                      <a:prstDash val="solid"/>
                      <a:round/>
                      <a:headEnd type="none" w="med" len="med"/>
                      <a:tailEnd type="none" w="med" len="med"/>
                    </a:lnL>
                  </a:tcPr>
                </a:tc>
                <a:tc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solidFill>
                      <a:schemeClr val="tx1">
                        <a:lumMod val="10000"/>
                        <a:lumOff val="90000"/>
                      </a:schemeClr>
                    </a:solidFill>
                  </a:tcPr>
                </a:tc>
                <a:tc rowSpan="2" gridSpan="3">
                  <a:txBody>
                    <a:bodyPr/>
                    <a:lstStyle/>
                    <a:p>
                      <a:pPr algn="ctr"/>
                      <a:r>
                        <a:rPr lang="en-US" sz="900" b="1" dirty="0">
                          <a:solidFill>
                            <a:srgbClr val="2C5967"/>
                          </a:solidFill>
                        </a:rPr>
                        <a:t>Recent Wins ($M</a:t>
                      </a:r>
                      <a:r>
                        <a:rPr lang="en-US" sz="900" b="1" baseline="0" dirty="0">
                          <a:solidFill>
                            <a:srgbClr val="2C5967"/>
                          </a:solidFill>
                        </a:rPr>
                        <a:t> USD)</a:t>
                      </a: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hMerge="1">
                  <a:txBody>
                    <a:bodyPr/>
                    <a:lstStyle/>
                    <a:p>
                      <a:endParaRPr lang="en-US"/>
                    </a:p>
                  </a:txBody>
                  <a:tcPr/>
                </a:tc>
                <a:tc rowSpan="2" hMerge="1">
                  <a:txBody>
                    <a:bodyPr/>
                    <a:lstStyle/>
                    <a:p>
                      <a:endParaRPr lang="en-US"/>
                    </a:p>
                  </a:txBody>
                  <a:tcPr/>
                </a:tc>
                <a:extLst>
                  <a:ext uri="{0D108BD9-81ED-4DB2-BD59-A6C34878D82A}">
                    <a16:rowId xmlns:a16="http://schemas.microsoft.com/office/drawing/2014/main" val="3282156939"/>
                  </a:ext>
                </a:extLst>
              </a:tr>
              <a:tr h="150243">
                <a:tc gridSpan="2"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gridSpan="2">
                  <a:txBody>
                    <a:bodyPr/>
                    <a:lstStyle/>
                    <a:p>
                      <a:pPr algn="ctr"/>
                      <a:r>
                        <a:rPr lang="en-US" sz="800" b="0" dirty="0">
                          <a:solidFill>
                            <a:schemeClr val="tx1"/>
                          </a:solidFill>
                        </a:rPr>
                        <a:t>Deal Size ($M USD)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800" b="0" dirty="0">
                          <a:solidFill>
                            <a:schemeClr val="tx1"/>
                          </a:solidFill>
                        </a:rPr>
                        <a:t>Revenue Probability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800" b="0" dirty="0">
                          <a:solidFill>
                            <a:schemeClr val="tx1"/>
                          </a:solidFill>
                        </a:rPr>
                        <a:t>Revenue Probability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3666276628"/>
                  </a:ext>
                </a:extLst>
              </a:tr>
              <a:tr h="150243">
                <a:tc gridSpan="2">
                  <a:txBody>
                    <a:bodyPr/>
                    <a:lstStyle/>
                    <a:p>
                      <a:pPr algn="l"/>
                      <a:r>
                        <a:rPr lang="en-US" sz="900" b="1" dirty="0">
                          <a:solidFill>
                            <a:schemeClr val="tx1"/>
                          </a:solidFill>
                        </a:rPr>
                        <a:t>On Premise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49900936"/>
                  </a:ext>
                </a:extLst>
              </a:tr>
              <a:tr h="150243">
                <a:tc gridSpan="2">
                  <a:txBody>
                    <a:bodyPr/>
                    <a:lstStyle/>
                    <a:p>
                      <a:pPr algn="l"/>
                      <a:r>
                        <a:rPr lang="en-US" sz="900" b="1" dirty="0">
                          <a:solidFill>
                            <a:srgbClr val="67605B"/>
                          </a:solidFill>
                        </a:rPr>
                        <a:t>Applications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9839696"/>
                  </a:ext>
                </a:extLst>
              </a:tr>
              <a:tr h="150243">
                <a:tc gridSpan="2">
                  <a:txBody>
                    <a:bodyPr/>
                    <a:lstStyle/>
                    <a:p>
                      <a:pPr algn="l"/>
                      <a:r>
                        <a:rPr lang="en-US" sz="900" b="1" dirty="0">
                          <a:solidFill>
                            <a:srgbClr val="67605B"/>
                          </a:solidFill>
                        </a:rPr>
                        <a:t>Database</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98146532"/>
                  </a:ext>
                </a:extLst>
              </a:tr>
              <a:tr h="150243">
                <a:tc gridSpan="2">
                  <a:txBody>
                    <a:bodyPr/>
                    <a:lstStyle/>
                    <a:p>
                      <a:pPr algn="l"/>
                      <a:r>
                        <a:rPr lang="en-US" sz="900" b="1" dirty="0">
                          <a:solidFill>
                            <a:srgbClr val="67605B"/>
                          </a:solidFill>
                        </a:rPr>
                        <a:t>Middleware</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53108882"/>
                  </a:ext>
                </a:extLst>
              </a:tr>
              <a:tr h="150243">
                <a:tc gridSpan="2">
                  <a:txBody>
                    <a:bodyPr/>
                    <a:lstStyle/>
                    <a:p>
                      <a:pPr algn="l"/>
                      <a:r>
                        <a:rPr lang="en-US" sz="900" b="1" dirty="0">
                          <a:solidFill>
                            <a:schemeClr val="tx1"/>
                          </a:solidFill>
                        </a:rPr>
                        <a:t>Cloud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1835710"/>
                  </a:ext>
                </a:extLst>
              </a:tr>
              <a:tr h="150243">
                <a:tc gridSpan="2">
                  <a:txBody>
                    <a:bodyPr/>
                    <a:lstStyle/>
                    <a:p>
                      <a:pPr algn="l"/>
                      <a:r>
                        <a:rPr lang="en-US" sz="900" b="1" dirty="0">
                          <a:solidFill>
                            <a:srgbClr val="67605B"/>
                          </a:solidFill>
                        </a:rPr>
                        <a:t>SaaS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48939904"/>
                  </a:ext>
                </a:extLst>
              </a:tr>
              <a:tr h="150243">
                <a:tc gridSpan="2">
                  <a:txBody>
                    <a:bodyPr/>
                    <a:lstStyle/>
                    <a:p>
                      <a:pPr algn="l"/>
                      <a:r>
                        <a:rPr lang="en-US" sz="900" b="1" dirty="0">
                          <a:solidFill>
                            <a:srgbClr val="67605B"/>
                          </a:solidFill>
                        </a:rPr>
                        <a:t>PaaS/IaaS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71210498"/>
                  </a:ext>
                </a:extLst>
              </a:tr>
              <a:tr h="150243">
                <a:tc gridSpan="2">
                  <a:txBody>
                    <a:bodyPr/>
                    <a:lstStyle/>
                    <a:p>
                      <a:pPr algn="l"/>
                      <a:r>
                        <a:rPr lang="en-US" sz="900" b="1" dirty="0">
                          <a:solidFill>
                            <a:srgbClr val="67605B"/>
                          </a:solidFill>
                        </a:rPr>
                        <a:t>Other</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8274853"/>
                  </a:ext>
                </a:extLst>
              </a:tr>
              <a:tr h="150243">
                <a:tc gridSpan="2">
                  <a:txBody>
                    <a:bodyPr/>
                    <a:lstStyle/>
                    <a:p>
                      <a:pPr algn="l"/>
                      <a:r>
                        <a:rPr lang="en-US" sz="900" b="1" dirty="0">
                          <a:solidFill>
                            <a:schemeClr val="tx1"/>
                          </a:solidFill>
                        </a:rPr>
                        <a:t>GBU</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0505797"/>
                  </a:ext>
                </a:extLst>
              </a:tr>
              <a:tr h="150243">
                <a:tc gridSpan="2">
                  <a:txBody>
                    <a:bodyPr/>
                    <a:lstStyle/>
                    <a:p>
                      <a:pPr algn="l"/>
                      <a:r>
                        <a:rPr lang="en-US" sz="900" b="1" dirty="0">
                          <a:solidFill>
                            <a:schemeClr val="tx1"/>
                          </a:solidFill>
                        </a:rPr>
                        <a:t>Hardware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7692486"/>
                  </a:ext>
                </a:extLst>
              </a:tr>
              <a:tr h="150243">
                <a:tc gridSpan="2">
                  <a:txBody>
                    <a:bodyPr/>
                    <a:lstStyle/>
                    <a:p>
                      <a:pPr algn="l"/>
                      <a:r>
                        <a:rPr lang="en-US" sz="900" b="1" dirty="0">
                          <a:solidFill>
                            <a:schemeClr val="tx1"/>
                          </a:solidFill>
                        </a:rPr>
                        <a:t>Services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87955604"/>
                  </a:ext>
                </a:extLst>
              </a:tr>
              <a:tr h="258934">
                <a:tc gridSpan="4">
                  <a:txBody>
                    <a:bodyPr/>
                    <a:lstStyle/>
                    <a:p>
                      <a:pPr algn="l"/>
                      <a:r>
                        <a:rPr lang="en-US" sz="900" b="1" dirty="0">
                          <a:solidFill>
                            <a:schemeClr val="tx1"/>
                          </a:solidFill>
                        </a:rPr>
                        <a:t>Total Deals Size (License &amp; Cloud TCV)</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pPr algn="ctr"/>
                      <a:r>
                        <a:rPr lang="en-US" sz="900" dirty="0">
                          <a:solidFill>
                            <a:srgbClr val="67605B"/>
                          </a:solidFill>
                          <a:latin typeface="Oracle Sans" panose="020B0503020204020204" pitchFamily="34" charset="0"/>
                          <a:cs typeface="Oracle Sans" panose="020B0503020204020204" pitchFamily="34" charset="0"/>
                        </a:rPr>
                        <a:t>$M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25000"/>
                          <a:lumOff val="75000"/>
                        </a:schemeClr>
                      </a:solidFill>
                      <a:prstDash val="solid"/>
                      <a:round/>
                      <a:headEnd type="none" w="med" len="med"/>
                      <a:tailEnd type="none" w="med" len="med"/>
                    </a:lnT>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l"/>
                      <a:r>
                        <a:rPr lang="en-US" sz="900" b="1" dirty="0">
                          <a:solidFill>
                            <a:schemeClr val="tx1"/>
                          </a:solidFill>
                        </a:rPr>
                        <a:t>Customer Segment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lumMod val="10000"/>
                        <a:lumOff val="90000"/>
                      </a:schemeClr>
                    </a:solidFill>
                  </a:tcPr>
                </a:tc>
                <a:tc>
                  <a:txBody>
                    <a:bodyPr/>
                    <a:lstStyle/>
                    <a:p>
                      <a:pPr algn="ctr"/>
                      <a:r>
                        <a:rPr lang="en-US" sz="800" baseline="0" dirty="0">
                          <a:solidFill>
                            <a:srgbClr val="67605B"/>
                          </a:solidFill>
                          <a:latin typeface="Oracle Sans" panose="020B0503020204020204" pitchFamily="34" charset="0"/>
                          <a:cs typeface="Oracle Sans" panose="020B0503020204020204" pitchFamily="34" charset="0"/>
                        </a:rPr>
                        <a:t>)</a:t>
                      </a:r>
                      <a:endParaRPr lang="en-US" sz="8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125458006"/>
                  </a:ext>
                </a:extLst>
              </a:tr>
              <a:tr h="150243">
                <a:tc gridSpan="4">
                  <a:txBody>
                    <a:bodyPr/>
                    <a:lstStyle/>
                    <a:p>
                      <a:pPr algn="l"/>
                      <a:r>
                        <a:rPr lang="en-US" sz="900" b="1" dirty="0">
                          <a:solidFill>
                            <a:schemeClr val="tx1"/>
                          </a:solidFill>
                        </a:rPr>
                        <a:t>Total Addressable Market (TAM)</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pPr algn="ctr"/>
                      <a:r>
                        <a:rPr lang="en-US" sz="900" dirty="0">
                          <a:solidFill>
                            <a:srgbClr val="67605B"/>
                          </a:solidFill>
                          <a:latin typeface="Oracle Sans" panose="020B0503020204020204" pitchFamily="34" charset="0"/>
                          <a:cs typeface="Oracle Sans" panose="020B0503020204020204" pitchFamily="34" charset="0"/>
                        </a:rPr>
                        <a:t>$M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l"/>
                      <a:r>
                        <a:rPr lang="en-US" sz="900" b="1" dirty="0">
                          <a:solidFill>
                            <a:schemeClr val="tx1"/>
                          </a:solidFill>
                        </a:rPr>
                        <a:t>Avg Annual Oracle Spend</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a:txBody>
                    <a:bodyPr/>
                    <a:lstStyle/>
                    <a:p>
                      <a:pPr marL="0" marR="0" lvl="0" indent="0" algn="ctr" defTabSz="195517" rtl="0" eaLnBrk="1" fontAlgn="auto" latinLnBrk="0" hangingPunct="1">
                        <a:lnSpc>
                          <a:spcPct val="100000"/>
                        </a:lnSpc>
                        <a:spcBef>
                          <a:spcPts val="0"/>
                        </a:spcBef>
                        <a:spcAft>
                          <a:spcPts val="0"/>
                        </a:spcAft>
                        <a:buClrTx/>
                        <a:buSzTx/>
                        <a:buFontTx/>
                        <a:buNone/>
                        <a:tabLst/>
                        <a:defRPr/>
                      </a:pPr>
                      <a:r>
                        <a:rPr lang="en-US" sz="900" dirty="0">
                          <a:solidFill>
                            <a:srgbClr val="67605B"/>
                          </a:solidFill>
                          <a:latin typeface="Oracle Sans" panose="020B0503020204020204" pitchFamily="34" charset="0"/>
                          <a:cs typeface="Oracle Sans" panose="020B0503020204020204" pitchFamily="34" charset="0"/>
                        </a:rPr>
                        <a:t>$M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569600413"/>
                  </a:ext>
                </a:extLst>
              </a:tr>
              <a:tr h="150243">
                <a:tc gridSpan="4">
                  <a:txBody>
                    <a:bodyPr/>
                    <a:lstStyle/>
                    <a:p>
                      <a:pPr algn="l"/>
                      <a:r>
                        <a:rPr lang="en-US" sz="900" b="1" dirty="0">
                          <a:solidFill>
                            <a:schemeClr val="tx1"/>
                          </a:solidFill>
                        </a:rPr>
                        <a:t>Annual Company Revenue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gridSpan="3">
                  <a:txBody>
                    <a:bodyPr/>
                    <a:lstStyle/>
                    <a:p>
                      <a:pPr algn="ctr"/>
                      <a:r>
                        <a:rPr lang="en-US" sz="900" dirty="0">
                          <a:solidFill>
                            <a:srgbClr val="67605B"/>
                          </a:solidFill>
                          <a:latin typeface="Oracle Sans" panose="020B0503020204020204" pitchFamily="34" charset="0"/>
                          <a:cs typeface="Oracle Sans" panose="020B0503020204020204" pitchFamily="34" charset="0"/>
                        </a:rPr>
                        <a:t>$M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gridSpan="2">
                  <a:txBody>
                    <a:bodyPr/>
                    <a:lstStyle/>
                    <a:p>
                      <a:pPr algn="l"/>
                      <a:r>
                        <a:rPr lang="en-US" sz="900" b="1" dirty="0">
                          <a:solidFill>
                            <a:schemeClr val="tx1"/>
                          </a:solidFill>
                        </a:rPr>
                        <a:t>Share of Wallet (SOW) %</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a:txBody>
                    <a:bodyPr/>
                    <a:lstStyle/>
                    <a:p>
                      <a:pPr marL="0" marR="0" lvl="0" indent="0" algn="ctr" defTabSz="195517" rtl="0" eaLnBrk="1" fontAlgn="auto" latinLnBrk="0" hangingPunct="1">
                        <a:lnSpc>
                          <a:spcPct val="100000"/>
                        </a:lnSpc>
                        <a:spcBef>
                          <a:spcPts val="0"/>
                        </a:spcBef>
                        <a:spcAft>
                          <a:spcPts val="0"/>
                        </a:spcAft>
                        <a:buClrTx/>
                        <a:buSzTx/>
                        <a:buFontTx/>
                        <a:buNone/>
                        <a:tabLst/>
                        <a:defRPr/>
                      </a:pPr>
                      <a:r>
                        <a:rPr lang="en-US" sz="900" dirty="0">
                          <a:solidFill>
                            <a:srgbClr val="67605B"/>
                          </a:solidFill>
                          <a:latin typeface="Oracle Sans" panose="020B0503020204020204" pitchFamily="34" charset="0"/>
                          <a:cs typeface="Oracle Sans" panose="020B0503020204020204" pitchFamily="34" charset="0"/>
                        </a:rPr>
                        <a: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extLst>
                  <a:ext uri="{0D108BD9-81ED-4DB2-BD59-A6C34878D82A}">
                    <a16:rowId xmlns:a16="http://schemas.microsoft.com/office/drawing/2014/main" val="951474957"/>
                  </a:ext>
                </a:extLst>
              </a:tr>
              <a:tr h="183583">
                <a:tc gridSpan="10">
                  <a:txBody>
                    <a:bodyPr/>
                    <a:lstStyle/>
                    <a:p>
                      <a:pPr algn="ctr"/>
                      <a:r>
                        <a:rPr lang="en-US" sz="900" b="1" dirty="0">
                          <a:solidFill>
                            <a:schemeClr val="tx1"/>
                          </a:solidFill>
                        </a:rPr>
                        <a:t>Product Footprint ($M USD)</a:t>
                      </a: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l"/>
                      <a:endParaRPr lang="en-US" sz="900" b="1" dirty="0">
                        <a:solidFill>
                          <a:schemeClr val="tx1"/>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T w="12700" cap="flat" cmpd="sng" algn="ctr">
                      <a:solidFill>
                        <a:srgbClr val="2C5967"/>
                      </a:solidFill>
                      <a:prstDash val="solid"/>
                      <a:round/>
                      <a:headEnd type="none" w="med" len="med"/>
                      <a:tailEnd type="none" w="med" len="med"/>
                    </a:lnT>
                  </a:tcPr>
                </a:tc>
                <a:tc hMerge="1">
                  <a:txBody>
                    <a:bodyPr/>
                    <a:lstStyle/>
                    <a:p>
                      <a:pPr algn="ctr"/>
                      <a:endParaRPr lang="en-US" sz="900" dirty="0">
                        <a:solidFill>
                          <a:srgbClr val="67605B"/>
                        </a:solidFill>
                      </a:endParaRP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662027050"/>
                  </a:ext>
                </a:extLst>
              </a:tr>
              <a:tr h="291301">
                <a:tc gridSpan="3">
                  <a:txBody>
                    <a:bodyPr/>
                    <a:lstStyle/>
                    <a:p>
                      <a:pPr algn="ctr"/>
                      <a:r>
                        <a:rPr lang="en-US" sz="900" b="1" dirty="0">
                          <a:solidFill>
                            <a:srgbClr val="2C5967"/>
                          </a:solidFill>
                        </a:rPr>
                        <a:t>Product Pillar</a:t>
                      </a:r>
                    </a:p>
                  </a:txBody>
                  <a:tcPr marL="45720" marR="4572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endParaRPr lang="en-US"/>
                    </a:p>
                  </a:txBody>
                  <a:tcPr>
                    <a:lnL w="12700" cap="flat" cmpd="sng" algn="ctr">
                      <a:solidFill>
                        <a:schemeClr val="bg1"/>
                      </a:solidFill>
                      <a:prstDash val="solid"/>
                      <a:round/>
                      <a:headEnd type="none" w="med" len="med"/>
                      <a:tailEnd type="none" w="med" len="med"/>
                    </a:lnL>
                  </a:tcPr>
                </a:tc>
                <a:tc gridSpan="2">
                  <a:txBody>
                    <a:bodyPr/>
                    <a:lstStyle/>
                    <a:p>
                      <a:pPr algn="ctr"/>
                      <a:r>
                        <a:rPr lang="en-US" sz="900" b="1" dirty="0">
                          <a:solidFill>
                            <a:srgbClr val="2C5967"/>
                          </a:solidFill>
                        </a:rPr>
                        <a:t>Current Annual Support Spend ($M USD)</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900" b="1" dirty="0">
                          <a:solidFill>
                            <a:srgbClr val="2C5967"/>
                          </a:solidFill>
                        </a:rPr>
                        <a:t>Current Annual Support Spend ($M USD)</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tcPr>
                </a:tc>
                <a:tc gridSpan="3">
                  <a:txBody>
                    <a:bodyPr/>
                    <a:lstStyle/>
                    <a:p>
                      <a:pPr algn="ctr"/>
                      <a:r>
                        <a:rPr lang="en-US" sz="900" b="1" dirty="0">
                          <a:solidFill>
                            <a:srgbClr val="2C5967"/>
                          </a:solidFill>
                        </a:rPr>
                        <a:t>Existing Footprint</a:t>
                      </a:r>
                      <a:br>
                        <a:rPr lang="en-US" sz="900" b="1" dirty="0">
                          <a:solidFill>
                            <a:srgbClr val="2C5967"/>
                          </a:solidFill>
                        </a:rPr>
                      </a:br>
                      <a:r>
                        <a:rPr lang="en-US" sz="900" b="1" dirty="0">
                          <a:solidFill>
                            <a:srgbClr val="2C5967"/>
                          </a:solidFill>
                        </a:rPr>
                        <a:t>(Product)</a:t>
                      </a:r>
                      <a:endParaRPr lang="en-US" sz="10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r>
                        <a:rPr lang="en-US" sz="900" b="1">
                          <a:solidFill>
                            <a:srgbClr val="2C5967"/>
                          </a:solidFill>
                        </a:rPr>
                        <a:t>Existing Footprint (Product)</a:t>
                      </a:r>
                      <a:endParaRPr lang="en-US" sz="9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lumMod val="10000"/>
                        <a:lumOff val="90000"/>
                      </a:schemeClr>
                    </a:solidFill>
                  </a:tcPr>
                </a:tc>
                <a:tc gridSpan="2">
                  <a:txBody>
                    <a:bodyPr/>
                    <a:lstStyle/>
                    <a:p>
                      <a:pPr algn="ctr"/>
                      <a:r>
                        <a:rPr lang="en-US" sz="900" b="1" dirty="0">
                          <a:solidFill>
                            <a:srgbClr val="2C5967"/>
                          </a:solidFill>
                        </a:rPr>
                        <a:t>Competitors</a:t>
                      </a:r>
                      <a:br>
                        <a:rPr lang="en-US" sz="900" b="1" dirty="0">
                          <a:solidFill>
                            <a:srgbClr val="2C5967"/>
                          </a:solidFill>
                        </a:rPr>
                      </a:br>
                      <a:r>
                        <a:rPr lang="en-US" sz="900" b="1" dirty="0">
                          <a:solidFill>
                            <a:srgbClr val="2C5967"/>
                          </a:solidFill>
                        </a:rPr>
                        <a:t>(Product)</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900" b="1" dirty="0">
                          <a:solidFill>
                            <a:srgbClr val="2C5967"/>
                          </a:solidFill>
                        </a:rPr>
                        <a:t>Competitors (</a:t>
                      </a:r>
                      <a:r>
                        <a:rPr lang="en-US" sz="900" b="1" dirty="0" err="1">
                          <a:solidFill>
                            <a:srgbClr val="2C5967"/>
                          </a:solidFill>
                        </a:rPr>
                        <a:t>Productr</a:t>
                      </a:r>
                      <a:r>
                        <a:rPr lang="en-US" sz="900" b="1" dirty="0">
                          <a:solidFill>
                            <a:srgbClr val="2C5967"/>
                          </a:solidFill>
                        </a:rPr>
                        <a: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02860817"/>
                  </a:ext>
                </a:extLst>
              </a:tr>
              <a:tr h="229653">
                <a:tc rowSpan="5">
                  <a:txBody>
                    <a:bodyPr/>
                    <a:lstStyle/>
                    <a:p>
                      <a:pPr algn="ctr"/>
                      <a:r>
                        <a:rPr lang="en-US" sz="900" b="1" dirty="0">
                          <a:solidFill>
                            <a:schemeClr val="tx1"/>
                          </a:solidFill>
                        </a:rPr>
                        <a:t>Software &amp; Cloud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r"/>
                      <a:r>
                        <a:rPr lang="en-US" sz="900" b="1" dirty="0">
                          <a:solidFill>
                            <a:srgbClr val="67605B"/>
                          </a:solidFill>
                        </a:rPr>
                        <a:t>Applications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lnT>
                      <a:noFill/>
                    </a:lnT>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lnT>
                      <a:noFill/>
                    </a:lnT>
                  </a:tcPr>
                </a:tc>
                <a:extLst>
                  <a:ext uri="{0D108BD9-81ED-4DB2-BD59-A6C34878D82A}">
                    <a16:rowId xmlns:a16="http://schemas.microsoft.com/office/drawing/2014/main" val="924429248"/>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Database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353199780"/>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Middleware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24432615"/>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SaaS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814629311"/>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PaaS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endParaRPr lang="en-US" dirty="0"/>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860978898"/>
                  </a:ext>
                </a:extLst>
              </a:tr>
              <a:tr h="229653">
                <a:tc gridSpan="3">
                  <a:txBody>
                    <a:bodyPr/>
                    <a:lstStyle/>
                    <a:p>
                      <a:pPr algn="r"/>
                      <a:r>
                        <a:rPr lang="en-US" sz="900" b="1" dirty="0">
                          <a:solidFill>
                            <a:schemeClr val="tx1"/>
                          </a:solidFill>
                        </a:rPr>
                        <a:t>IaaS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57218750"/>
                  </a:ext>
                </a:extLst>
              </a:tr>
              <a:tr h="229653">
                <a:tc rowSpan="3">
                  <a:txBody>
                    <a:bodyPr/>
                    <a:lstStyle/>
                    <a:p>
                      <a:pPr algn="ctr"/>
                      <a:r>
                        <a:rPr lang="en-US" sz="900" b="1" dirty="0">
                          <a:solidFill>
                            <a:schemeClr val="tx1"/>
                          </a:solidFill>
                        </a:rPr>
                        <a:t>Hardware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r"/>
                      <a:r>
                        <a:rPr lang="en-US" sz="900" b="1" dirty="0">
                          <a:solidFill>
                            <a:srgbClr val="67605B"/>
                          </a:solidFill>
                        </a:rPr>
                        <a:t>Engineered Systems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16407640"/>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Servers – Exclude ES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061991599"/>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Storage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612838464"/>
                  </a:ext>
                </a:extLst>
              </a:tr>
              <a:tr h="229653">
                <a:tc gridSpan="3">
                  <a:txBody>
                    <a:bodyPr/>
                    <a:lstStyle/>
                    <a:p>
                      <a:pPr algn="r"/>
                      <a:r>
                        <a:rPr lang="en-US" sz="900" b="1" dirty="0">
                          <a:solidFill>
                            <a:schemeClr val="tx1"/>
                          </a:solidFill>
                        </a:rPr>
                        <a:t>Services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517550448"/>
                  </a:ext>
                </a:extLst>
              </a:tr>
              <a:tr h="229653">
                <a:tc gridSpan="3">
                  <a:txBody>
                    <a:bodyPr/>
                    <a:lstStyle/>
                    <a:p>
                      <a:pPr algn="r"/>
                      <a:r>
                        <a:rPr lang="en-US" sz="900" b="1" dirty="0">
                          <a:solidFill>
                            <a:schemeClr val="tx1"/>
                          </a:solidFill>
                        </a:rPr>
                        <a:t>Other</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530364602"/>
                  </a:ext>
                </a:extLst>
              </a:tr>
            </a:tbl>
          </a:graphicData>
        </a:graphic>
      </p:graphicFrame>
      <p:sp>
        <p:nvSpPr>
          <p:cNvPr id="2" name="TextBox 1">
            <a:extLst>
              <a:ext uri="{FF2B5EF4-FFF2-40B4-BE49-F238E27FC236}">
                <a16:creationId xmlns:a16="http://schemas.microsoft.com/office/drawing/2014/main" id="{88067B93-6AB8-723F-6ED4-82078C4B168C}"/>
              </a:ext>
            </a:extLst>
          </p:cNvPr>
          <p:cNvSpPr txBox="1"/>
          <p:nvPr/>
        </p:nvSpPr>
        <p:spPr>
          <a:xfrm>
            <a:off x="4978400" y="0"/>
            <a:ext cx="2794000" cy="369332"/>
          </a:xfrm>
          <a:prstGeom prst="rect">
            <a:avLst/>
          </a:prstGeom>
          <a:solidFill>
            <a:schemeClr val="accent2">
              <a:lumMod val="40000"/>
              <a:lumOff val="60000"/>
            </a:schemeClr>
          </a:solidFill>
        </p:spPr>
        <p:txBody>
          <a:bodyPr wrap="square" rtlCol="0">
            <a:spAutoFit/>
          </a:bodyPr>
          <a:lstStyle/>
          <a:p>
            <a:pPr algn="r"/>
            <a:r>
              <a:rPr lang="en-US" sz="900" b="1" i="1" dirty="0"/>
              <a:t>NOTE: Financials are planned to be available via a Customer Profile / Exec Dashboard in FY24</a:t>
            </a:r>
          </a:p>
        </p:txBody>
      </p:sp>
    </p:spTree>
    <p:extLst>
      <p:ext uri="{BB962C8B-B14F-4D97-AF65-F5344CB8AC3E}">
        <p14:creationId xmlns:p14="http://schemas.microsoft.com/office/powerpoint/2010/main" val="11348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Redwood_stripped">
  <a:themeElements>
    <a:clrScheme name="Redwood">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Lst>
  <a:extLst>
    <a:ext uri="{05A4C25C-085E-4340-85A3-A5531E510DB2}">
      <thm15:themeFamily xmlns:thm15="http://schemas.microsoft.com/office/thememl/2012/main" name="Executive Briefing Document Template" id="{AF9E81D2-4060-5849-94C1-99B370E0B450}" vid="{6B0EACC5-4AF0-7547-89FC-E147119284B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29476</TotalTime>
  <Words>3118</Words>
  <Application>Microsoft Macintosh PowerPoint</Application>
  <PresentationFormat>Custom</PresentationFormat>
  <Paragraphs>277</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Oracle Sans</vt:lpstr>
      <vt:lpstr>Oracle Sans Tab</vt:lpstr>
      <vt:lpstr>System Font Regular</vt:lpstr>
      <vt:lpstr>1_Redwood_stripped</vt:lpstr>
      <vt:lpstr>PowerPoint Presentation</vt:lpstr>
      <vt:lpstr>PowerPoint Presentation</vt:lpstr>
      <vt:lpstr>PowerPoint Presentation</vt:lpstr>
      <vt:lpstr>PowerPoint Presentation</vt:lpstr>
      <vt:lpstr>PowerPoint Presentation</vt:lpstr>
    </vt:vector>
  </TitlesOfParts>
  <Company>Oracle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Brittany Schmigel</dc:creator>
  <cp:lastModifiedBy>Lisa Kalfayan</cp:lastModifiedBy>
  <cp:revision>130</cp:revision>
  <dcterms:created xsi:type="dcterms:W3CDTF">2020-07-31T18:38:26Z</dcterms:created>
  <dcterms:modified xsi:type="dcterms:W3CDTF">2023-06-13T22:47:40Z</dcterms:modified>
</cp:coreProperties>
</file>