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
  </p:notesMasterIdLst>
  <p:sldIdLst>
    <p:sldId id="262" r:id="rId2"/>
    <p:sldId id="266" r:id="rId3"/>
    <p:sldId id="263" r:id="rId4"/>
    <p:sldId id="264" r:id="rId5"/>
    <p:sldId id="265" r:id="rId6"/>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E8"/>
    <a:srgbClr val="567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49" autoAdjust="0"/>
    <p:restoredTop sz="93792" autoAdjust="0"/>
  </p:normalViewPr>
  <p:slideViewPr>
    <p:cSldViewPr snapToGrid="0">
      <p:cViewPr varScale="1">
        <p:scale>
          <a:sx n="84" d="100"/>
          <a:sy n="84" d="100"/>
        </p:scale>
        <p:origin x="3752" y="200"/>
      </p:cViewPr>
      <p:guideLst/>
    </p:cSldViewPr>
  </p:slideViewPr>
  <p:notesTextViewPr>
    <p:cViewPr>
      <p:scale>
        <a:sx n="1" d="1"/>
        <a:sy n="1" d="1"/>
      </p:scale>
      <p:origin x="0" y="0"/>
    </p:cViewPr>
  </p:notesTextViewPr>
  <p:notesViewPr>
    <p:cSldViewPr snapToGrid="0" showGuides="1">
      <p:cViewPr varScale="1">
        <p:scale>
          <a:sx n="97" d="100"/>
          <a:sy n="97" d="100"/>
        </p:scale>
        <p:origin x="432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6"/>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8"/>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1,'4'0,"1"0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81B0A-E192-416E-A90F-59D34D9F0B49}" type="datetimeFigureOut">
              <a:rPr lang="en-US" smtClean="0"/>
              <a:t>6/13/23</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8E823-96DC-4430-91CE-09AFABFC50B8}" type="slidenum">
              <a:rPr lang="en-US" smtClean="0"/>
              <a:t>‹#›</a:t>
            </a:fld>
            <a:endParaRPr lang="en-US" dirty="0"/>
          </a:p>
        </p:txBody>
      </p:sp>
    </p:spTree>
    <p:extLst>
      <p:ext uri="{BB962C8B-B14F-4D97-AF65-F5344CB8AC3E}">
        <p14:creationId xmlns:p14="http://schemas.microsoft.com/office/powerpoint/2010/main" val="110959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970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752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33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36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6610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y.oracle.com/site/fin/gfo/GlobalProcesses/LMS/index.htm" TargetMode="External"/><Relationship Id="rId3" Type="http://schemas.openxmlformats.org/officeDocument/2006/relationships/hyperlink" Target="https://my.oracle.com/site/fin/gfo/SIA/index.html"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w to Use this Template">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9F47F-6DEF-B917-1507-E5FFAD84B913}"/>
              </a:ext>
            </a:extLst>
          </p:cNvPr>
          <p:cNvSpPr txBox="1"/>
          <p:nvPr userDrawn="1"/>
        </p:nvSpPr>
        <p:spPr>
          <a:xfrm>
            <a:off x="190501" y="1021424"/>
            <a:ext cx="7391398" cy="276999"/>
          </a:xfrm>
          <a:prstGeom prst="rect">
            <a:avLst/>
          </a:prstGeom>
          <a:noFill/>
        </p:spPr>
        <p:txBody>
          <a:bodyPr wrap="square" lIns="0" tIns="0" rIns="0" bIns="0" rtlCol="0">
            <a:spAutoFit/>
          </a:bodyPr>
          <a:lstStyle/>
          <a:p>
            <a:r>
              <a:rPr lang="en-US" b="1" dirty="0">
                <a:solidFill>
                  <a:srgbClr val="2C5967"/>
                </a:solidFill>
                <a:latin typeface="Oracle Sans Tab" panose="020B0503020204020204" pitchFamily="34" charset="0"/>
                <a:cs typeface="Oracle Sans Tab" panose="020B0503020204020204" pitchFamily="34" charset="0"/>
              </a:rPr>
              <a:t>Best Practices</a:t>
            </a:r>
          </a:p>
        </p:txBody>
      </p:sp>
      <p:sp>
        <p:nvSpPr>
          <p:cNvPr id="6" name="TextBox 5">
            <a:extLst>
              <a:ext uri="{FF2B5EF4-FFF2-40B4-BE49-F238E27FC236}">
                <a16:creationId xmlns:a16="http://schemas.microsoft.com/office/drawing/2014/main" id="{B441DECE-FA24-F40C-5172-4D877DF27D7B}"/>
              </a:ext>
            </a:extLst>
          </p:cNvPr>
          <p:cNvSpPr txBox="1"/>
          <p:nvPr userDrawn="1"/>
        </p:nvSpPr>
        <p:spPr>
          <a:xfrm>
            <a:off x="190500" y="1487374"/>
            <a:ext cx="7391399" cy="7699544"/>
          </a:xfrm>
          <a:prstGeom prst="rect">
            <a:avLst/>
          </a:prstGeom>
          <a:noFill/>
        </p:spPr>
        <p:txBody>
          <a:bodyPr wrap="square" lIns="0" rIns="0" rtlCol="0">
            <a:spAutoFit/>
          </a:bodyPr>
          <a:lstStyle/>
          <a:p>
            <a:pPr>
              <a:spcAft>
                <a:spcPts val="1000"/>
              </a:spcAft>
            </a:pPr>
            <a:r>
              <a:rPr lang="en-US" sz="1200" dirty="0">
                <a:latin typeface="Oracle Sans Tab" panose="020B0503020204020204" pitchFamily="34" charset="0"/>
                <a:cs typeface="Oracle Sans Tab" panose="020B0503020204020204" pitchFamily="34" charset="0"/>
              </a:rPr>
              <a:t>The Executive Briefing Document is required to qualify a meeting request both by the Oracle executive management teams and the CVC. This document provides pertinent and valuable insights detailing meeting objectives, current business condition, and strategy, along with any challenges. Providing complete and accurate information will create an effective and targeted meeting, fully addressing the Customer’s meeting objectives</a:t>
            </a:r>
            <a:endParaRPr lang="en-US" sz="1600" dirty="0">
              <a:latin typeface="Oracle Sans Tab" panose="020B0503020204020204" pitchFamily="34" charset="0"/>
              <a:cs typeface="Oracle Sans Tab" panose="020B0503020204020204" pitchFamily="34" charset="0"/>
            </a:endParaRPr>
          </a:p>
          <a:p>
            <a:pPr>
              <a:spcAft>
                <a:spcPts val="1000"/>
              </a:spcAft>
            </a:pPr>
            <a:endParaRPr lang="en-US" sz="1200" b="1"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Best Practices:  Filling out the Document</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Please delete this page prior to submitting.</a:t>
            </a:r>
          </a:p>
          <a:p>
            <a:pPr marL="176213" indent="-168275">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Please submit this completed document with your engagement request. This document is required for all executive engagements.</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Make sure meeting objectives, business challenges, topics of interest, etc.  are concise.</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Provide the most up-to-date opportunity and product footprint info.</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Include customer reference proof points that are relevant to the customer’s transformation and industry.</a:t>
            </a:r>
          </a:p>
          <a:p>
            <a:pPr marL="7938">
              <a:spcAft>
                <a:spcPts val="1000"/>
              </a:spcAft>
            </a:pPr>
            <a:endParaRPr lang="en-US" sz="1200" b="1" dirty="0">
              <a:latin typeface="Oracle Sans Tab" panose="020B0503020204020204" pitchFamily="34" charset="0"/>
              <a:cs typeface="Oracle Sans Tab" panose="020B0503020204020204" pitchFamily="34" charset="0"/>
            </a:endParaRPr>
          </a:p>
          <a:p>
            <a:pPr marL="7938">
              <a:spcAft>
                <a:spcPts val="1000"/>
              </a:spcAft>
            </a:pPr>
            <a:r>
              <a:rPr lang="en-US" sz="1200" b="1" dirty="0">
                <a:latin typeface="Oracle Sans Tab" panose="020B0503020204020204" pitchFamily="34" charset="0"/>
                <a:cs typeface="Oracle Sans Tab" panose="020B0503020204020204" pitchFamily="34" charset="0"/>
              </a:rPr>
              <a:t>Best Practices:  Formatting the Document</a:t>
            </a:r>
            <a:endParaRPr lang="en-US" sz="1200" dirty="0">
              <a:latin typeface="Oracle Sans Tab" panose="020B0503020204020204" pitchFamily="34" charset="0"/>
              <a:cs typeface="Oracle Sans Tab" panose="020B0503020204020204" pitchFamily="34" charset="0"/>
            </a:endParaRP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If you do not need any of the additional spaces for your customer meeting, then delete any of the items you do not need.</a:t>
            </a: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Pasting text:</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Right click on the field that you would like to paste text into. </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Choose the option all the way on the right under paste – “Keep Text Only”. </a:t>
            </a:r>
          </a:p>
          <a:p>
            <a:pPr lvl="1">
              <a:spcAft>
                <a:spcPts val="1000"/>
              </a:spcAft>
            </a:pPr>
            <a:r>
              <a:rPr lang="en-US" sz="1200" dirty="0">
                <a:latin typeface="Oracle Sans Tab" panose="020B0503020204020204" pitchFamily="34" charset="0"/>
                <a:cs typeface="Oracle Sans Tab" panose="020B0503020204020204" pitchFamily="34" charset="0"/>
              </a:rPr>
              <a:t>    This will allow you to insert the text and keep the formatting in the table.</a:t>
            </a:r>
          </a:p>
          <a:p>
            <a:pPr marL="171450" lvl="0" indent="-171450">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The font type should be Oracle Sans throughout.</a:t>
            </a:r>
          </a:p>
          <a:p>
            <a:pPr lvl="0">
              <a:spcAft>
                <a:spcPts val="1000"/>
              </a:spcAft>
            </a:pPr>
            <a:endParaRPr lang="en-US" sz="1200"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Additional information:</a:t>
            </a: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License Management Services Homepage: </a:t>
            </a:r>
            <a:r>
              <a:rPr lang="en-US" sz="1200" dirty="0">
                <a:latin typeface="Oracle Sans Tab" panose="020B0503020204020204" pitchFamily="34" charset="0"/>
                <a:cs typeface="Oracle Sans Tab" panose="020B0503020204020204" pitchFamily="34" charset="0"/>
                <a:hlinkClick r:id="rId2"/>
              </a:rPr>
              <a:t>https://my.oracle.com/site/fin/gfo/GlobalProcesses/LMS/index.htm</a:t>
            </a:r>
            <a:endParaRPr lang="en-US" sz="1200" dirty="0">
              <a:latin typeface="Oracle Sans Tab" panose="020B0503020204020204" pitchFamily="34" charset="0"/>
              <a:cs typeface="Oracle Sans Tab" panose="020B0503020204020204" pitchFamily="34" charset="0"/>
            </a:endParaRP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Software Investment Advisor Homepage: </a:t>
            </a:r>
            <a:r>
              <a:rPr lang="en-US" sz="1200" dirty="0">
                <a:latin typeface="Oracle Sans Tab" panose="020B0503020204020204" pitchFamily="34" charset="0"/>
                <a:cs typeface="Oracle Sans Tab" panose="020B0503020204020204" pitchFamily="34" charset="0"/>
                <a:hlinkClick r:id="rId3"/>
              </a:rPr>
              <a:t>https://my.oracle.com/site/fin/gfo/SIA/index.html</a:t>
            </a:r>
            <a:endParaRPr lang="en-US" sz="1200" dirty="0">
              <a:latin typeface="Oracle Sans Tab" panose="020B0503020204020204" pitchFamily="34" charset="0"/>
              <a:cs typeface="Oracle Sans Tab" panose="020B0503020204020204" pitchFamily="34" charset="0"/>
            </a:endParaRPr>
          </a:p>
        </p:txBody>
      </p:sp>
    </p:spTree>
    <p:extLst>
      <p:ext uri="{BB962C8B-B14F-4D97-AF65-F5344CB8AC3E}">
        <p14:creationId xmlns:p14="http://schemas.microsoft.com/office/powerpoint/2010/main" val="309906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11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emf"/><Relationship Id="rId7" Type="http://schemas.openxmlformats.org/officeDocument/2006/relationships/image" Target="../media/image9.png"/><Relationship Id="rId8" Type="http://schemas.openxmlformats.org/officeDocument/2006/relationships/image" Target="../media/image10.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230FEE-C563-4D59-AC5A-2772635D4915}"/>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7206728" y="9674318"/>
            <a:ext cx="384082" cy="384082"/>
          </a:xfrm>
          <a:prstGeom prst="rect">
            <a:avLst/>
          </a:prstGeom>
        </p:spPr>
      </p:pic>
      <p:pic>
        <p:nvPicPr>
          <p:cNvPr id="8" name="Picture 7">
            <a:extLst>
              <a:ext uri="{FF2B5EF4-FFF2-40B4-BE49-F238E27FC236}">
                <a16:creationId xmlns:a16="http://schemas.microsoft.com/office/drawing/2014/main" id="{B3C71360-1220-3AAC-BF2E-BD55DF1DA28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0" y="-1"/>
            <a:ext cx="7772400" cy="207193"/>
          </a:xfrm>
          <a:prstGeom prst="rect">
            <a:avLst/>
          </a:prstGeom>
        </p:spPr>
      </p:pic>
      <p:sp>
        <p:nvSpPr>
          <p:cNvPr id="4" name="TextBox 3">
            <a:extLst>
              <a:ext uri="{FF2B5EF4-FFF2-40B4-BE49-F238E27FC236}">
                <a16:creationId xmlns:a16="http://schemas.microsoft.com/office/drawing/2014/main" id="{F2E08B6F-149E-5F07-CF1D-93DCAB8C04E4}"/>
              </a:ext>
            </a:extLst>
          </p:cNvPr>
          <p:cNvSpPr txBox="1"/>
          <p:nvPr userDrawn="1"/>
        </p:nvSpPr>
        <p:spPr>
          <a:xfrm>
            <a:off x="179389" y="9674317"/>
            <a:ext cx="3758184" cy="169164"/>
          </a:xfrm>
          <a:prstGeom prst="rect">
            <a:avLst/>
          </a:prstGeom>
        </p:spPr>
        <p:txBody>
          <a:bodyPr vert="horz" lIns="0" tIns="0" rIns="0" bIns="0" rtlCol="0" anchor="b"/>
          <a:lstStyle>
            <a:defPPr>
              <a:defRPr lang="en-US"/>
            </a:defPPr>
            <a:lvl1pPr>
              <a:defRPr sz="900">
                <a:solidFill>
                  <a:srgbClr val="8B8580"/>
                </a:solidFill>
              </a:defRPr>
            </a:lvl1pPr>
          </a:lstStyle>
          <a:p>
            <a:pPr lvl="0"/>
            <a:r>
              <a:rPr lang="en-US" dirty="0"/>
              <a:t>Copyright © 2023, Oracle and/or its affiliates  |  Confidential: Restricted</a:t>
            </a:r>
          </a:p>
        </p:txBody>
      </p:sp>
      <p:sp>
        <p:nvSpPr>
          <p:cNvPr id="10" name="TextBox 9">
            <a:extLst>
              <a:ext uri="{FF2B5EF4-FFF2-40B4-BE49-F238E27FC236}">
                <a16:creationId xmlns:a16="http://schemas.microsoft.com/office/drawing/2014/main" id="{38071B4B-6207-75E4-E82D-26827A33F24D}"/>
              </a:ext>
            </a:extLst>
          </p:cNvPr>
          <p:cNvSpPr txBox="1"/>
          <p:nvPr userDrawn="1"/>
        </p:nvSpPr>
        <p:spPr>
          <a:xfrm>
            <a:off x="4084086" y="9674318"/>
            <a:ext cx="2502924" cy="169164"/>
          </a:xfrm>
          <a:prstGeom prst="rect">
            <a:avLst/>
          </a:prstGeom>
        </p:spPr>
        <p:txBody>
          <a:bodyPr vert="horz" lIns="0" tIns="0" rIns="0" bIns="0" rtlCol="0" anchor="b"/>
          <a:lstStyle>
            <a:defPPr>
              <a:defRPr lang="en-US"/>
            </a:defPPr>
            <a:lvl1pPr>
              <a:defRPr sz="900">
                <a:solidFill>
                  <a:srgbClr val="8B8580"/>
                </a:solidFill>
              </a:defRPr>
            </a:lvl1pPr>
          </a:lstStyle>
          <a:p>
            <a:pPr lvl="0"/>
            <a:fld id="{409578D9-D361-A046-B7E4-191350565D45}" type="datetime8">
              <a:rPr lang="en-US" smtClean="0"/>
              <a:t>6/13/23 3:47 PM</a:t>
            </a:fld>
            <a:endParaRPr lang="en-US" dirty="0"/>
          </a:p>
        </p:txBody>
      </p:sp>
      <p:sp>
        <p:nvSpPr>
          <p:cNvPr id="11" name="TextBox 10">
            <a:extLst>
              <a:ext uri="{FF2B5EF4-FFF2-40B4-BE49-F238E27FC236}">
                <a16:creationId xmlns:a16="http://schemas.microsoft.com/office/drawing/2014/main" id="{48732693-C342-472B-843E-82C1C4AE94D3}"/>
              </a:ext>
            </a:extLst>
          </p:cNvPr>
          <p:cNvSpPr txBox="1"/>
          <p:nvPr userDrawn="1"/>
        </p:nvSpPr>
        <p:spPr>
          <a:xfrm>
            <a:off x="179389" y="420034"/>
            <a:ext cx="5990406" cy="307777"/>
          </a:xfrm>
          <a:prstGeom prst="rect">
            <a:avLst/>
          </a:prstGeom>
          <a:noFill/>
        </p:spPr>
        <p:txBody>
          <a:bodyPr wrap="square" lIns="0" tIns="0" rIns="0" bIns="0" rtlCol="0">
            <a:spAutoFit/>
          </a:bodyPr>
          <a:lstStyle/>
          <a:p>
            <a:r>
              <a:rPr lang="en-US" sz="2000" i="1" dirty="0">
                <a:solidFill>
                  <a:srgbClr val="2C5967"/>
                </a:solidFill>
                <a:latin typeface="Oracle Sans" panose="020B0503020204020204" pitchFamily="34" charset="0"/>
                <a:cs typeface="Oracle Sans" panose="020B0503020204020204" pitchFamily="34" charset="0"/>
              </a:rPr>
              <a:t>Executive Briefing Document</a:t>
            </a:r>
          </a:p>
        </p:txBody>
      </p:sp>
      <p:pic>
        <p:nvPicPr>
          <p:cNvPr id="13" name="Picture 12">
            <a:extLst>
              <a:ext uri="{FF2B5EF4-FFF2-40B4-BE49-F238E27FC236}">
                <a16:creationId xmlns:a16="http://schemas.microsoft.com/office/drawing/2014/main" id="{1D1FE7FF-B443-2D54-49B0-FFADA3A41F17}"/>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6380503" y="421171"/>
            <a:ext cx="1210307" cy="338328"/>
          </a:xfrm>
          <a:prstGeom prst="rect">
            <a:avLst/>
          </a:prstGeom>
        </p:spPr>
      </p:pic>
    </p:spTree>
    <p:extLst>
      <p:ext uri="{BB962C8B-B14F-4D97-AF65-F5344CB8AC3E}">
        <p14:creationId xmlns:p14="http://schemas.microsoft.com/office/powerpoint/2010/main" val="2968834506"/>
      </p:ext>
    </p:extLst>
  </p:cSld>
  <p:clrMap bg1="lt1" tx1="dk1" bg2="lt2" tx2="dk2" accent1="accent1" accent2="accent2" accent3="accent3" accent4="accent4" accent5="accent5" accent6="accent6" hlink="hlink" folHlink="folHlink"/>
  <p:sldLayoutIdLst>
    <p:sldLayoutId id="2147483664" r:id="rId1"/>
    <p:sldLayoutId id="2147483665" r:id="rId2"/>
  </p:sldLayoutIdLst>
  <p:hf sldNum="0" hdr="0"/>
  <p:txStyles>
    <p:titleStyle>
      <a:lvl1pPr algn="l" defTabSz="195517" rtl="0" eaLnBrk="1" latinLnBrk="0" hangingPunct="1">
        <a:lnSpc>
          <a:spcPct val="95000"/>
        </a:lnSpc>
        <a:spcBef>
          <a:spcPct val="0"/>
        </a:spcBef>
        <a:buNone/>
        <a:defRPr sz="1642" kern="1200">
          <a:solidFill>
            <a:schemeClr val="tx1"/>
          </a:solidFill>
          <a:latin typeface="+mj-lt"/>
          <a:ea typeface="+mj-ea"/>
          <a:cs typeface="+mj-cs"/>
        </a:defRPr>
      </a:lvl1pPr>
    </p:titleStyle>
    <p:bodyStyle>
      <a:lvl1pPr marL="0" marR="0" indent="0" algn="l" defTabSz="195517" rtl="0" eaLnBrk="1" fontAlgn="auto" latinLnBrk="0" hangingPunct="1">
        <a:lnSpc>
          <a:spcPct val="95000"/>
        </a:lnSpc>
        <a:spcBef>
          <a:spcPts val="127"/>
        </a:spcBef>
        <a:spcAft>
          <a:spcPts val="0"/>
        </a:spcAft>
        <a:buClrTx/>
        <a:buSzTx/>
        <a:buFont typeface="System Font Regular"/>
        <a:buNone/>
        <a:tabLst/>
        <a:defRPr sz="821" b="0" i="0" kern="1200">
          <a:solidFill>
            <a:schemeClr val="tx1"/>
          </a:solidFill>
          <a:latin typeface="Oracle Sans" panose="020B0503020204020204" pitchFamily="34" charset="0"/>
          <a:ea typeface="+mn-ea"/>
          <a:cs typeface="Oracle Sans" panose="020B0503020204020204" pitchFamily="34" charset="0"/>
        </a:defRPr>
      </a:lvl1pPr>
      <a:lvl2pPr marL="78206" marR="0" indent="-39104" algn="l" defTabSz="195517" rtl="0" eaLnBrk="1" fontAlgn="auto" latinLnBrk="0" hangingPunct="1">
        <a:lnSpc>
          <a:spcPct val="95000"/>
        </a:lnSpc>
        <a:spcBef>
          <a:spcPts val="127"/>
        </a:spcBef>
        <a:spcAft>
          <a:spcPts val="0"/>
        </a:spcAft>
        <a:buClrTx/>
        <a:buSzPct val="100000"/>
        <a:buFont typeface="Arial" panose="020B0604020202020204" pitchFamily="34" charset="0"/>
        <a:buChar char="•"/>
        <a:tabLst/>
        <a:defRPr sz="821" b="0" i="0" kern="1200">
          <a:solidFill>
            <a:schemeClr val="tx1"/>
          </a:solidFill>
          <a:latin typeface="Oracle Sans" panose="020B0503020204020204" pitchFamily="34" charset="0"/>
          <a:ea typeface="+mn-ea"/>
          <a:cs typeface="Oracle Sans" panose="020B0503020204020204" pitchFamily="34" charset="0"/>
        </a:defRPr>
      </a:lvl2pPr>
      <a:lvl3pPr marL="156413" marR="0" indent="-39104" algn="l" defTabSz="195517" rtl="0" eaLnBrk="1" fontAlgn="auto" latinLnBrk="0" hangingPunct="1">
        <a:lnSpc>
          <a:spcPct val="95000"/>
        </a:lnSpc>
        <a:spcBef>
          <a:spcPts val="86"/>
        </a:spcBef>
        <a:spcAft>
          <a:spcPts val="0"/>
        </a:spcAft>
        <a:buClrTx/>
        <a:buSzPct val="120000"/>
        <a:buFont typeface="System Font Regular"/>
        <a:buChar char="-"/>
        <a:tabLst/>
        <a:defRPr sz="821" kern="1200">
          <a:solidFill>
            <a:schemeClr val="tx1"/>
          </a:solidFill>
          <a:latin typeface="Oracle Sans" panose="020B0503020204020204" pitchFamily="34" charset="0"/>
          <a:ea typeface="+mn-ea"/>
          <a:cs typeface="Oracle Sans" panose="020B0503020204020204" pitchFamily="34" charset="0"/>
        </a:defRPr>
      </a:lvl3pPr>
      <a:lvl4pPr marL="234621" marR="0" indent="-39104" algn="l" defTabSz="195517" rtl="0" eaLnBrk="1" fontAlgn="auto" latinLnBrk="0" hangingPunct="1">
        <a:lnSpc>
          <a:spcPct val="95000"/>
        </a:lnSpc>
        <a:spcBef>
          <a:spcPts val="86"/>
        </a:spcBef>
        <a:spcAft>
          <a:spcPts val="0"/>
        </a:spcAft>
        <a:buClrTx/>
        <a:buSzPct val="100000"/>
        <a:buFont typeface="System Font Regular"/>
        <a:buChar char="◦"/>
        <a:tabLst/>
        <a:defRPr sz="720" kern="1200">
          <a:solidFill>
            <a:schemeClr val="tx1"/>
          </a:solidFill>
          <a:latin typeface="Oracle Sans" panose="020B0503020204020204" pitchFamily="34" charset="0"/>
          <a:ea typeface="+mn-ea"/>
          <a:cs typeface="Oracle Sans" panose="020B0503020204020204" pitchFamily="34" charset="0"/>
        </a:defRPr>
      </a:lvl4pPr>
      <a:lvl5pPr marL="312828" marR="0" indent="-39104" algn="l" defTabSz="195517" rtl="0" eaLnBrk="1" fontAlgn="auto" latinLnBrk="0" hangingPunct="1">
        <a:lnSpc>
          <a:spcPct val="95000"/>
        </a:lnSpc>
        <a:spcBef>
          <a:spcPts val="86"/>
        </a:spcBef>
        <a:spcAft>
          <a:spcPts val="0"/>
        </a:spcAft>
        <a:buClrTx/>
        <a:buSzTx/>
        <a:buFont typeface="System Font Regular"/>
        <a:buChar char="•"/>
        <a:tabLst/>
        <a:defRPr sz="615" kern="1200">
          <a:solidFill>
            <a:schemeClr val="tx1"/>
          </a:solidFill>
          <a:latin typeface="Oracle Sans" panose="020B0503020204020204" pitchFamily="34" charset="0"/>
          <a:ea typeface="+mn-ea"/>
          <a:cs typeface="Oracle Sans" panose="020B0503020204020204" pitchFamily="34" charset="0"/>
        </a:defRPr>
      </a:lvl5pPr>
      <a:lvl6pPr marL="391034" indent="-39104" algn="l" defTabSz="195517" rtl="0" eaLnBrk="1" latinLnBrk="0" hangingPunct="1">
        <a:lnSpc>
          <a:spcPct val="95000"/>
        </a:lnSpc>
        <a:spcBef>
          <a:spcPts val="86"/>
        </a:spcBef>
        <a:spcAft>
          <a:spcPts val="0"/>
        </a:spcAft>
        <a:buSzPct val="120000"/>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6pPr>
      <a:lvl7pPr marL="469242" indent="-39104" algn="l" defTabSz="195517" rtl="0" eaLnBrk="1" latinLnBrk="0" hangingPunct="1">
        <a:lnSpc>
          <a:spcPct val="95000"/>
        </a:lnSpc>
        <a:spcBef>
          <a:spcPts val="86"/>
        </a:spcBef>
        <a:spcAft>
          <a:spcPts val="0"/>
        </a:spcAft>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7pPr>
      <a:lvl8pPr marL="733189"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8pPr>
      <a:lvl9pPr marL="830950"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9pPr>
    </p:bodyStyle>
    <p:otherStyle>
      <a:defPPr>
        <a:defRPr lang="en-US"/>
      </a:defPPr>
      <a:lvl1pPr marL="0" algn="l" defTabSz="195517" rtl="0" eaLnBrk="1" latinLnBrk="0" hangingPunct="1">
        <a:defRPr sz="386" kern="1200">
          <a:solidFill>
            <a:schemeClr val="tx1"/>
          </a:solidFill>
          <a:latin typeface="+mn-lt"/>
          <a:ea typeface="+mn-ea"/>
          <a:cs typeface="+mn-cs"/>
        </a:defRPr>
      </a:lvl1pPr>
      <a:lvl2pPr marL="97760" algn="l" defTabSz="195517" rtl="0" eaLnBrk="1" latinLnBrk="0" hangingPunct="1">
        <a:defRPr sz="386" kern="1200">
          <a:solidFill>
            <a:schemeClr val="tx1"/>
          </a:solidFill>
          <a:latin typeface="+mn-lt"/>
          <a:ea typeface="+mn-ea"/>
          <a:cs typeface="+mn-cs"/>
        </a:defRPr>
      </a:lvl2pPr>
      <a:lvl3pPr marL="195517" algn="l" defTabSz="195517" rtl="0" eaLnBrk="1" latinLnBrk="0" hangingPunct="1">
        <a:defRPr sz="386" kern="1200">
          <a:solidFill>
            <a:schemeClr val="tx1"/>
          </a:solidFill>
          <a:latin typeface="+mn-lt"/>
          <a:ea typeface="+mn-ea"/>
          <a:cs typeface="+mn-cs"/>
        </a:defRPr>
      </a:lvl3pPr>
      <a:lvl4pPr marL="293276" algn="l" defTabSz="195517" rtl="0" eaLnBrk="1" latinLnBrk="0" hangingPunct="1">
        <a:defRPr sz="386" kern="1200">
          <a:solidFill>
            <a:schemeClr val="tx1"/>
          </a:solidFill>
          <a:latin typeface="+mn-lt"/>
          <a:ea typeface="+mn-ea"/>
          <a:cs typeface="+mn-cs"/>
        </a:defRPr>
      </a:lvl4pPr>
      <a:lvl5pPr marL="391034" algn="l" defTabSz="195517" rtl="0" eaLnBrk="1" latinLnBrk="0" hangingPunct="1">
        <a:defRPr sz="386" kern="1200">
          <a:solidFill>
            <a:schemeClr val="tx1"/>
          </a:solidFill>
          <a:latin typeface="+mn-lt"/>
          <a:ea typeface="+mn-ea"/>
          <a:cs typeface="+mn-cs"/>
        </a:defRPr>
      </a:lvl5pPr>
      <a:lvl6pPr marL="488794" algn="l" defTabSz="195517" rtl="0" eaLnBrk="1" latinLnBrk="0" hangingPunct="1">
        <a:defRPr sz="386" kern="1200">
          <a:solidFill>
            <a:schemeClr val="tx1"/>
          </a:solidFill>
          <a:latin typeface="+mn-lt"/>
          <a:ea typeface="+mn-ea"/>
          <a:cs typeface="+mn-cs"/>
        </a:defRPr>
      </a:lvl6pPr>
      <a:lvl7pPr marL="586551" algn="l" defTabSz="195517" rtl="0" eaLnBrk="1" latinLnBrk="0" hangingPunct="1">
        <a:defRPr sz="386" kern="1200">
          <a:solidFill>
            <a:schemeClr val="tx1"/>
          </a:solidFill>
          <a:latin typeface="+mn-lt"/>
          <a:ea typeface="+mn-ea"/>
          <a:cs typeface="+mn-cs"/>
        </a:defRPr>
      </a:lvl7pPr>
      <a:lvl8pPr marL="684312" algn="l" defTabSz="195517" rtl="0" eaLnBrk="1" latinLnBrk="0" hangingPunct="1">
        <a:defRPr sz="386" kern="1200">
          <a:solidFill>
            <a:schemeClr val="tx1"/>
          </a:solidFill>
          <a:latin typeface="+mn-lt"/>
          <a:ea typeface="+mn-ea"/>
          <a:cs typeface="+mn-cs"/>
        </a:defRPr>
      </a:lvl8pPr>
      <a:lvl9pPr marL="782070" algn="l" defTabSz="195517" rtl="0" eaLnBrk="1" latinLnBrk="0" hangingPunct="1">
        <a:defRPr sz="3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0">
          <p15:clr>
            <a:srgbClr val="F26B43"/>
          </p15:clr>
        </p15:guide>
        <p15:guide id="2" orient="horz" pos="6192">
          <p15:clr>
            <a:srgbClr val="F26B43"/>
          </p15:clr>
        </p15:guide>
        <p15:guide id="3" pos="4776">
          <p15:clr>
            <a:srgbClr val="F26B43"/>
          </p15:clr>
        </p15:guide>
        <p15:guide id="4" orient="horz" pos="1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mysites.oracle.com/cvc-global/" TargetMode="External"/><Relationship Id="rId4" Type="http://schemas.openxmlformats.org/officeDocument/2006/relationships/hyperlink" Target="https://oradocs-prodapp.cec.ocp.oraclecloud.com/documents/link/LDCC9DE792D6004DAD456BD977D95D9E3232DD4D0809/fileview/D03EB05CA79A7B4EB2C5ADFA783F488ACA8DD28E0700/_Designing_the_Interaction_Capture_Process_Manual_Lite_v1.0_(Lite_Beta).pdf" TargetMode="External"/><Relationship Id="rId5" Type="http://schemas.openxmlformats.org/officeDocument/2006/relationships/hyperlink" Target="https://mysites.oracle.com/license-compliance/" TargetMode="External"/><Relationship Id="rId6" Type="http://schemas.openxmlformats.org/officeDocument/2006/relationships/hyperlink" Target="https://mysites.oracle.com/SIA-Companywid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mysites.oracle.com/license-compliance/" TargetMode="External"/><Relationship Id="rId4" Type="http://schemas.openxmlformats.org/officeDocument/2006/relationships/hyperlink" Target="https://mysites.oracle.com/SIA-Companywide/" TargetMode="External"/><Relationship Id="rId5" Type="http://schemas.openxmlformats.org/officeDocument/2006/relationships/customXml" Target="../ink/ink1.xml"/><Relationship Id="rId6" Type="http://schemas.openxmlformats.org/officeDocument/2006/relationships/image" Target="../media/image5.png"/><Relationship Id="rId7" Type="http://schemas.openxmlformats.org/officeDocument/2006/relationships/customXml" Target="../ink/ink2.xml"/><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14CCB44F-7E3E-2F3E-1EF4-1BEC0ECB3A5C}"/>
              </a:ext>
            </a:extLst>
          </p:cNvPr>
          <p:cNvSpPr txBox="1"/>
          <p:nvPr/>
        </p:nvSpPr>
        <p:spPr>
          <a:xfrm>
            <a:off x="268925" y="959370"/>
            <a:ext cx="7255571" cy="6668492"/>
          </a:xfrm>
          <a:prstGeom prst="rect">
            <a:avLst/>
          </a:prstGeom>
          <a:noFill/>
        </p:spPr>
        <p:txBody>
          <a:bodyPr wrap="square" rtlCol="0">
            <a:spAutoFit/>
          </a:bodyPr>
          <a:lstStyle/>
          <a:p>
            <a:r>
              <a:rPr lang="en-US" sz="1400" i="1" dirty="0">
                <a:cs typeface="Oracle Sans" panose="020B0503020204020204" pitchFamily="34" charset="0"/>
              </a:rPr>
              <a:t>Best Practices</a:t>
            </a:r>
          </a:p>
          <a:p>
            <a:endParaRPr lang="en-US" sz="1000" dirty="0">
              <a:cs typeface="Oracle Sans" panose="020B0503020204020204" pitchFamily="34" charset="0"/>
            </a:endParaRPr>
          </a:p>
          <a:p>
            <a:r>
              <a:rPr lang="en-US" sz="1000" dirty="0">
                <a:cs typeface="Oracle Sans" panose="020B0503020204020204" pitchFamily="34" charset="0"/>
              </a:rPr>
              <a:t>The Executive Briefing Document (EBD) is required to qualify a meeting request both by the BriefingIQ executive management teams and the </a:t>
            </a:r>
            <a:r>
              <a:rPr lang="en-US" sz="1000" dirty="0">
                <a:cs typeface="Oracle Sans" panose="020B0503020204020204" pitchFamily="34" charset="0"/>
                <a:hlinkClick r:id="rId3"/>
              </a:rPr>
              <a:t>Executive Briefing Center</a:t>
            </a:r>
            <a:r>
              <a:rPr lang="en-US" sz="1000" dirty="0">
                <a:cs typeface="Oracle Sans" panose="020B0503020204020204" pitchFamily="34" charset="0"/>
              </a:rPr>
              <a:t> (EBC). This document provides pertinent and valuable insights detailing meeting objectives and desired outcomes, current business condition, and strategy, along with any challenges. Providing complete and accurate information will create an effective and targeted meeting, fully addressing the customer’s meeting objectives.</a:t>
            </a:r>
            <a:endParaRPr lang="en-US" sz="1000" dirty="0"/>
          </a:p>
          <a:p>
            <a:endParaRPr lang="en-US" sz="1000" dirty="0"/>
          </a:p>
          <a:p>
            <a:r>
              <a:rPr lang="en-US" sz="1000" b="1" dirty="0"/>
              <a:t>Best practices prior to, during, and post-EBD submission:</a:t>
            </a:r>
          </a:p>
          <a:p>
            <a:pPr marL="171450" indent="-171450">
              <a:buFont typeface="Arial" panose="020B0604020202020204" pitchFamily="34" charset="0"/>
              <a:buChar char="•"/>
            </a:pPr>
            <a:r>
              <a:rPr lang="en-US" sz="1000" dirty="0"/>
              <a:t>Delete this page prior to submitting</a:t>
            </a:r>
          </a:p>
          <a:p>
            <a:pPr marL="171450" indent="-171450">
              <a:buFont typeface="Arial" panose="020B0604020202020204" pitchFamily="34" charset="0"/>
              <a:buChar char="•"/>
            </a:pPr>
            <a:r>
              <a:rPr lang="en-US" sz="1000" dirty="0"/>
              <a:t>Please submit this completed document with your engagement request; this document is required for all executive engagements</a:t>
            </a:r>
          </a:p>
          <a:p>
            <a:pPr marL="171450" indent="-171450">
              <a:buFont typeface="Arial" panose="020B0604020202020204" pitchFamily="34" charset="0"/>
              <a:buChar char="•"/>
            </a:pPr>
            <a:r>
              <a:rPr lang="en-US" sz="1000" dirty="0"/>
              <a:t>Be sure to get the client’s perspective on their objectives for the engagement and their key talking points for discussion </a:t>
            </a:r>
          </a:p>
          <a:p>
            <a:pPr marL="171450" lvl="0" indent="-171450">
              <a:buSzPts val="900"/>
              <a:buFont typeface="Arial" panose="020B0604020202020204" pitchFamily="34" charset="0"/>
              <a:buChar char="•"/>
            </a:pPr>
            <a:r>
              <a:rPr lang="en-GB" sz="1000" dirty="0"/>
              <a:t>Host a 30-minute briefing call for the BriefingIQ participants who will be attending the client engagement</a:t>
            </a:r>
          </a:p>
          <a:p>
            <a:pPr marL="171450" lvl="0" indent="-171450">
              <a:buSzPts val="900"/>
              <a:buFont typeface="Arial" panose="020B0604020202020204" pitchFamily="34" charset="0"/>
              <a:buChar char="•"/>
            </a:pPr>
            <a:r>
              <a:rPr lang="en-GB" sz="1000" dirty="0"/>
              <a:t>If BriefingIQ is hosting the virtual meeting, please review the “Zoom checklist” below</a:t>
            </a:r>
          </a:p>
          <a:p>
            <a:pPr marL="171450" lvl="0" indent="-171450">
              <a:buSzPts val="900"/>
              <a:buFont typeface="Arial" panose="020B0604020202020204" pitchFamily="34" charset="0"/>
              <a:buChar char="•"/>
            </a:pPr>
            <a:r>
              <a:rPr lang="en-GB" sz="1000" dirty="0"/>
              <a:t>After the engagement, host a 15-minute call for BriefingIQ participants and executive(s) to reflect on the engagement and the agreed-upon actions </a:t>
            </a:r>
          </a:p>
          <a:p>
            <a:pPr marL="171450" lvl="0" indent="-171450">
              <a:buSzPts val="900"/>
              <a:buFont typeface="Arial" panose="020B0604020202020204" pitchFamily="34" charset="0"/>
              <a:buChar char="•"/>
            </a:pPr>
            <a:r>
              <a:rPr lang="en-GB" sz="1000" dirty="0"/>
              <a:t>Follow up with your client with a thank you email recapping takeaways and next steps; deliver on the agreed upon actions</a:t>
            </a:r>
          </a:p>
          <a:p>
            <a:pPr lvl="0">
              <a:buSzPts val="900"/>
            </a:pPr>
            <a:endParaRPr lang="en-GB" sz="1000" dirty="0">
              <a:solidFill>
                <a:srgbClr val="312D2A"/>
              </a:solidFill>
              <a:latin typeface="Oracle Sans" panose="020B0503020204020204" pitchFamily="34" charset="0"/>
              <a:ea typeface="Times New Roman" panose="02020603050405020304" pitchFamily="18" charset="0"/>
              <a:cs typeface="Oracle Sans" panose="020B0503020204020204" pitchFamily="34" charset="0"/>
            </a:endParaRPr>
          </a:p>
          <a:p>
            <a:pPr marL="171450" lvl="0" indent="-171450">
              <a:spcAft>
                <a:spcPts val="400"/>
              </a:spcAft>
              <a:buSzPts val="900"/>
              <a:buFont typeface="Arial" panose="020B0604020202020204" pitchFamily="34" charset="0"/>
              <a:buChar char="•"/>
            </a:pP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Use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hlinkClick r:id="rId4"/>
              </a:rPr>
              <a:t>Designing the Interaction</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 </a:t>
            </a: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self-paced guide to support you in completing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EBD</a:t>
            </a:r>
            <a:endParaRPr lang="en-GB" sz="1000" dirty="0">
              <a:effectLst/>
              <a:latin typeface="Oracle Sans" panose="020B0503020204020204" pitchFamily="34" charset="0"/>
              <a:ea typeface="Times New Roman" panose="02020603050405020304" pitchFamily="18" charset="0"/>
              <a:cs typeface="Oracle Sans" panose="020B0503020204020204" pitchFamily="34" charset="0"/>
            </a:endParaRPr>
          </a:p>
          <a:p>
            <a:pPr>
              <a:spcBef>
                <a:spcPts val="1200"/>
              </a:spcBef>
            </a:pPr>
            <a:r>
              <a:rPr lang="en-GB" sz="1000" b="1" kern="0" dirty="0">
                <a:effectLst/>
                <a:latin typeface="Oracle Sans" panose="020B0503020204020204" pitchFamily="34" charset="0"/>
                <a:cs typeface="Oracle Sans" panose="020B0503020204020204" pitchFamily="34" charset="0"/>
              </a:rPr>
              <a:t>Zoom checklist: </a:t>
            </a:r>
          </a:p>
          <a:p>
            <a:pPr marL="171450" lvl="0" indent="-171450">
              <a:buFont typeface="Arial" panose="020B0604020202020204" pitchFamily="34" charset="0"/>
              <a:buChar char="•"/>
            </a:pPr>
            <a:r>
              <a:rPr lang="en-GB" sz="1000" dirty="0"/>
              <a:t>Share agenda with assigned speakers</a:t>
            </a:r>
          </a:p>
          <a:p>
            <a:pPr marL="171450" lvl="0" indent="-171450">
              <a:buFont typeface="Arial" panose="020B0604020202020204" pitchFamily="34" charset="0"/>
              <a:buChar char="•"/>
            </a:pPr>
            <a:r>
              <a:rPr lang="en-GB" sz="1000" dirty="0"/>
              <a:t>Nominate a backup meeting facilitator</a:t>
            </a:r>
          </a:p>
          <a:p>
            <a:pPr marL="171450" lvl="0" indent="-171450">
              <a:buFont typeface="Arial" panose="020B0604020202020204" pitchFamily="34" charset="0"/>
              <a:buChar char="•"/>
            </a:pPr>
            <a:r>
              <a:rPr lang="en-GB" sz="1000" dirty="0"/>
              <a:t>Share slides in advance with backup facilitator</a:t>
            </a:r>
          </a:p>
          <a:p>
            <a:pPr marL="171450" lvl="0" indent="-171450">
              <a:buFont typeface="Arial" panose="020B0604020202020204" pitchFamily="34" charset="0"/>
              <a:buChar char="•"/>
            </a:pPr>
            <a:r>
              <a:rPr lang="en-GB" sz="1000" dirty="0"/>
              <a:t>Share slides in advance or pre-read with customer, if appropriate</a:t>
            </a:r>
          </a:p>
          <a:p>
            <a:pPr marL="171450" lvl="0" indent="-171450">
              <a:buFont typeface="Arial" panose="020B0604020202020204" pitchFamily="34" charset="0"/>
              <a:buChar char="•"/>
            </a:pPr>
            <a:r>
              <a:rPr lang="en-GB" sz="1000" dirty="0"/>
              <a:t>Enable “Waiting Room” functionality</a:t>
            </a:r>
          </a:p>
          <a:p>
            <a:pPr marL="171450" lvl="0" indent="-171450">
              <a:buFont typeface="Arial" panose="020B0604020202020204" pitchFamily="34" charset="0"/>
              <a:buChar char="•"/>
            </a:pPr>
            <a:r>
              <a:rPr lang="en-GB" sz="1000" dirty="0"/>
              <a:t>Have Zoom application available on your mobile device, as a backup</a:t>
            </a:r>
          </a:p>
          <a:p>
            <a:pPr marL="7938"/>
            <a:endParaRPr lang="en-US" sz="1000" dirty="0"/>
          </a:p>
          <a:p>
            <a:pPr marL="0" indent="0">
              <a:buFont typeface="Arial" panose="020B0604020202020204" pitchFamily="34" charset="0"/>
              <a:buNone/>
            </a:pPr>
            <a:r>
              <a:rPr lang="en-US" sz="1000" b="1" dirty="0"/>
              <a:t>Instructions and tips for template use:</a:t>
            </a:r>
          </a:p>
          <a:p>
            <a:pPr marL="171450" indent="-171450">
              <a:buFont typeface="Arial" panose="020B0604020202020204" pitchFamily="34" charset="0"/>
              <a:buChar char="•"/>
            </a:pPr>
            <a:r>
              <a:rPr lang="en-US" sz="1000" dirty="0"/>
              <a:t>To insert the logo for the company, pick the logo shape that best fits their logo (delete the one that does not) and then right click on the image, select “change picture,” then select “from a file,” and choose the customer’s logo that you have saved on your computer</a:t>
            </a:r>
          </a:p>
          <a:p>
            <a:pPr marL="171450" indent="-171450">
              <a:buFont typeface="Arial" panose="020B0604020202020204" pitchFamily="34" charset="0"/>
              <a:buChar char="•"/>
            </a:pPr>
            <a:r>
              <a:rPr lang="en-US" sz="1000" dirty="0"/>
              <a:t>Replace customer images with photos of the customer attendees who will be in the meeting; follow the same process as above, right clicking on the image, clicking “change picture,” and selecting from a file on your computer</a:t>
            </a:r>
          </a:p>
          <a:p>
            <a:pPr marL="171450" indent="-171450">
              <a:buFont typeface="Arial" panose="020B0604020202020204" pitchFamily="34" charset="0"/>
              <a:buChar char="•"/>
            </a:pPr>
            <a:r>
              <a:rPr lang="en-US" sz="1000" dirty="0"/>
              <a:t>When pasting in text, right click on the field that you would like to paste the text into; choose “keep text only” to keep the formatting of the table</a:t>
            </a:r>
          </a:p>
          <a:p>
            <a:pPr marL="171450" indent="-171450">
              <a:buFont typeface="Arial" panose="020B0604020202020204" pitchFamily="34" charset="0"/>
              <a:buChar char="•"/>
            </a:pPr>
            <a:r>
              <a:rPr lang="en-US" sz="1000" dirty="0"/>
              <a:t>Ensure BriefingIQ Sans font is used throughout the document</a:t>
            </a:r>
          </a:p>
          <a:p>
            <a:endParaRPr lang="en-US" sz="1000" dirty="0"/>
          </a:p>
          <a:p>
            <a:r>
              <a:rPr lang="en-US" sz="1000" b="1" dirty="0"/>
              <a:t>Additional information:</a:t>
            </a:r>
          </a:p>
          <a:p>
            <a:pPr marL="171450" indent="-171450">
              <a:buFont typeface="Arial" panose="020B0604020202020204" pitchFamily="34" charset="0"/>
              <a:buChar char="•"/>
            </a:pPr>
            <a:r>
              <a:rPr lang="en-US" sz="1000" dirty="0"/>
              <a:t>License Management Services (LMS) Homepage: </a:t>
            </a:r>
            <a:r>
              <a:rPr lang="en-US" sz="1000" dirty="0">
                <a:hlinkClick r:id="rId5"/>
              </a:rPr>
              <a:t>https://mysites.briefingiq.com/license-compliance/</a:t>
            </a:r>
            <a:endParaRPr lang="en-US" sz="1000" dirty="0"/>
          </a:p>
          <a:p>
            <a:pPr marL="171450" indent="-171450">
              <a:buFont typeface="Arial" panose="020B0604020202020204" pitchFamily="34" charset="0"/>
              <a:buChar char="•"/>
            </a:pPr>
            <a:r>
              <a:rPr lang="en-US" sz="1000" dirty="0"/>
              <a:t>Software Investment Advisor (SIA) Homepage: </a:t>
            </a:r>
            <a:r>
              <a:rPr lang="en-US" sz="1000" dirty="0">
                <a:hlinkClick r:id="rId6"/>
              </a:rPr>
              <a:t>https://mysites.briefingiq.com/SIA-Companywide/</a:t>
            </a:r>
            <a:r>
              <a:rPr lang="en-US" sz="1000" dirty="0"/>
              <a:t> </a:t>
            </a:r>
          </a:p>
        </p:txBody>
      </p:sp>
    </p:spTree>
    <p:extLst>
      <p:ext uri="{BB962C8B-B14F-4D97-AF65-F5344CB8AC3E}">
        <p14:creationId xmlns:p14="http://schemas.microsoft.com/office/powerpoint/2010/main" val="19288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BC585F01-6A6E-82E2-6550-17314EBCD64A}"/>
              </a:ext>
            </a:extLst>
          </p:cNvPr>
          <p:cNvGraphicFramePr>
            <a:graphicFrameLocks noGrp="1"/>
          </p:cNvGraphicFramePr>
          <p:nvPr>
            <p:extLst>
              <p:ext uri="{D42A27DB-BD31-4B8C-83A1-F6EECF244321}">
                <p14:modId xmlns:p14="http://schemas.microsoft.com/office/powerpoint/2010/main" val="2126370258"/>
              </p:ext>
            </p:extLst>
          </p:nvPr>
        </p:nvGraphicFramePr>
        <p:xfrm>
          <a:off x="111653" y="814360"/>
          <a:ext cx="7549094" cy="8429680"/>
        </p:xfrm>
        <a:graphic>
          <a:graphicData uri="http://schemas.openxmlformats.org/drawingml/2006/table">
            <a:tbl>
              <a:tblPr firstRow="1" bandRow="1">
                <a:tableStyleId>{2D5ABB26-0587-4C30-8999-92F81FD0307C}</a:tableStyleId>
              </a:tblPr>
              <a:tblGrid>
                <a:gridCol w="1774091">
                  <a:extLst>
                    <a:ext uri="{9D8B030D-6E8A-4147-A177-3AD203B41FA5}">
                      <a16:colId xmlns:a16="http://schemas.microsoft.com/office/drawing/2014/main" val="291925485"/>
                    </a:ext>
                  </a:extLst>
                </a:gridCol>
                <a:gridCol w="923942">
                  <a:extLst>
                    <a:ext uri="{9D8B030D-6E8A-4147-A177-3AD203B41FA5}">
                      <a16:colId xmlns:a16="http://schemas.microsoft.com/office/drawing/2014/main" val="4243254253"/>
                    </a:ext>
                  </a:extLst>
                </a:gridCol>
                <a:gridCol w="1957667">
                  <a:extLst>
                    <a:ext uri="{9D8B030D-6E8A-4147-A177-3AD203B41FA5}">
                      <a16:colId xmlns:a16="http://schemas.microsoft.com/office/drawing/2014/main" val="869386441"/>
                    </a:ext>
                  </a:extLst>
                </a:gridCol>
                <a:gridCol w="2893394">
                  <a:extLst>
                    <a:ext uri="{9D8B030D-6E8A-4147-A177-3AD203B41FA5}">
                      <a16:colId xmlns:a16="http://schemas.microsoft.com/office/drawing/2014/main" val="3713650747"/>
                    </a:ext>
                  </a:extLst>
                </a:gridCol>
              </a:tblGrid>
              <a:tr h="859369">
                <a:tc gridSpan="2">
                  <a:txBody>
                    <a:bodyPr/>
                    <a:lstStyle/>
                    <a:p>
                      <a:r>
                        <a:t>Vantage Retail Group</a:t>
                      </a:r>
                    </a:p>
                  </a:txBody>
                  <a:tcPr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t>Not For Profit</a:t>
                      </a:r>
                    </a:p>
                  </a:txBody>
                  <a:tcPr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r>
                        <a:t>No</a:t>
                      </a:r>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86691244"/>
                  </a:ext>
                </a:extLst>
              </a:tr>
              <a:tr h="274320">
                <a:tc rowSpan="3" gridSpan="2">
                  <a:txBody>
                    <a:bodyPr/>
                    <a:lstStyle/>
                    <a:p>
                      <a:r>
                        <a:t>88 Market Street, Chicago, IL 60603</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Meeting Date/Time</a:t>
                      </a:r>
                      <a:endParaRPr lang="en-US"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April 8, 2026 | 10:00 AM - 4:00 PM CST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6059242"/>
                  </a:ext>
                </a:extLst>
              </a:tr>
              <a:tr h="429768">
                <a:tc gridSpan="2" vMerge="1">
                  <a:txBody>
                    <a:bodyPr/>
                    <a:lstStyle/>
                    <a:p>
                      <a:endParaRPr lang="en-US" sz="900" dirty="0">
                        <a:solidFill>
                          <a:schemeClr val="tx1"/>
                        </a:solidFill>
                        <a:latin typeface="+mn-lt"/>
                      </a:endParaRPr>
                    </a:p>
                  </a:txBody>
                  <a:tcPr marL="45720" marR="45720" marT="0" marB="0" anchor="ct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tc>
                <a:tc>
                  <a:txBody>
                    <a:bodyPr/>
                    <a:lstStyle/>
                    <a:p>
                      <a:pPr algn="r"/>
                      <a:r>
                        <a:rPr lang="en-US" sz="900" b="1" dirty="0">
                          <a:solidFill>
                            <a:srgbClr val="2C5967"/>
                          </a:solidFill>
                        </a:rPr>
                        <a:t>Meeting Location</a:t>
                      </a:r>
                      <a:endParaRPr lang="en-US"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BriefingIQ Executive Briefing Center - Chicago</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7019104"/>
                  </a:ext>
                </a:extLst>
              </a:tr>
              <a:tr h="467903">
                <a:tc gridSpan="2" vMerge="1">
                  <a:txBody>
                    <a:bodyPr/>
                    <a:lstStyle/>
                    <a:p>
                      <a:r>
                        <a:rPr lang="en-US" sz="900" dirty="0">
                          <a:solidFill>
                            <a:schemeClr val="tx1"/>
                          </a:solidFill>
                          <a:latin typeface="+mn-lt"/>
                        </a:rPr>
                        <a:t>&lt;Address&gt;</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endParaRPr lang="en-US" sz="900" dirty="0">
                        <a:solidFill>
                          <a:schemeClr val="tx1"/>
                        </a:solidFill>
                        <a:latin typeface="+mn-lt"/>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Engagement Type</a:t>
                      </a:r>
                    </a:p>
                    <a:p>
                      <a:pPr algn="r"/>
                      <a:r>
                        <a:rPr lang="en-US" sz="700" b="0" dirty="0">
                          <a:solidFill>
                            <a:srgbClr val="2C5967"/>
                          </a:solidFill>
                        </a:rPr>
                        <a:t>(1:1, CVC, BriefingIQ Playbook)</a:t>
                      </a:r>
                      <a:endParaRPr lang="en-US" sz="200" b="0" dirty="0"/>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Customer Visit Center (CVC)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8421276"/>
                  </a:ext>
                </a:extLst>
              </a:tr>
              <a:tr h="274320">
                <a:tc rowSpan="3" gridSpan="2">
                  <a:txBody>
                    <a:bodyPr/>
                    <a:lstStyle/>
                    <a:p>
                      <a:r>
                        <a:t>www.vantageretail.com</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h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EBD/Meeting Point of Contact</a:t>
                      </a:r>
                    </a:p>
                    <a:p>
                      <a:pPr algn="r"/>
                      <a:r>
                        <a:rPr lang="en-US" sz="700" b="0" dirty="0">
                          <a:solidFill>
                            <a:srgbClr val="2C5967"/>
                          </a:solidFill>
                        </a:rPr>
                        <a:t>(Name, title, email, phone)</a:t>
                      </a:r>
                      <a:endParaRPr lang="en-US" sz="200" b="0" dirty="0"/>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Laura Chen, Sr. Account Executive, laura.chen@briefingiq.com, (312) 555-7788</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6116238"/>
                  </a:ext>
                </a:extLst>
              </a:tr>
              <a:tr h="382016">
                <a:tc gridSpan="2" vMerge="1">
                  <a:txBody>
                    <a:bodyPr/>
                    <a:lstStyle/>
                    <a:p>
                      <a:endParaRPr lang="en-US" sz="900" dirty="0">
                        <a:solidFill>
                          <a:schemeClr val="tx1"/>
                        </a:solidFill>
                        <a:latin typeface="+mn-lt"/>
                      </a:endParaRPr>
                    </a:p>
                  </a:txBody>
                  <a:tcPr marL="45720" marR="4572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900" b="1" dirty="0">
                          <a:solidFill>
                            <a:srgbClr val="2C5967"/>
                          </a:solidFill>
                        </a:rPr>
                        <a:t>BriefingIQ Meeting Attendees</a:t>
                      </a:r>
                    </a:p>
                    <a:p>
                      <a:pPr algn="r"/>
                      <a:r>
                        <a:rPr lang="en-US" sz="700" b="0" dirty="0">
                          <a:solidFill>
                            <a:srgbClr val="2C5967"/>
                          </a:solidFill>
                        </a:rPr>
                        <a:t>(Name, title, email, phone)</a:t>
                      </a:r>
                      <a:endParaRPr lang="en-US" sz="200" b="0" dirty="0"/>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Michael Grant, VP Retail, michael.grant@briefingiq.com</a:t>
                      </a:r>
                    </a:p>
                    <a:p>
                      <a:r>
                        <a:t>Rita Suarez, Sr. Director Supply Chain, rita.suarez@briefingiq.com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4143921"/>
                  </a:ext>
                </a:extLst>
              </a:tr>
              <a:tr h="392744">
                <a:tc gridSpan="2" vMerge="1">
                  <a:txBody>
                    <a:bodyPr/>
                    <a:lstStyle/>
                    <a:p>
                      <a:pPr marL="0" algn="l" defTabSz="195517" rtl="0" eaLnBrk="1" latinLnBrk="0" hangingPunct="1">
                        <a:lnSpc>
                          <a:spcPct val="90000"/>
                        </a:lnSpc>
                      </a:pPr>
                      <a:endParaRPr lang="en-US" sz="900" b="0" i="0" kern="1200" dirty="0">
                        <a:solidFill>
                          <a:schemeClr val="tx1"/>
                        </a:solidFill>
                        <a:latin typeface="+mn-lt"/>
                        <a:ea typeface="+mn-ea"/>
                        <a:cs typeface="Oracle Sans" panose="020B0503020204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latin typeface="+mn-lt"/>
                      </a:endParaRPr>
                    </a:p>
                  </a:txBody>
                  <a:tcPr marL="45720" marR="45720" marT="0" marB="0" anchor="ctr">
                    <a:lnT w="12700" cap="flat" cmpd="sng" algn="ctr">
                      <a:solidFill>
                        <a:schemeClr val="tx1"/>
                      </a:solidFill>
                      <a:prstDash val="solid"/>
                      <a:round/>
                      <a:headEnd type="none" w="med" len="med"/>
                      <a:tailEnd type="none" w="med" len="med"/>
                    </a:lnT>
                  </a:tcPr>
                </a:tc>
                <a:tc>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a:t>
                      </a:r>
                      <a:r>
                        <a:rPr lang="en-US" sz="900" dirty="0"/>
                        <a:t> </a:t>
                      </a:r>
                      <a:r>
                        <a:rPr lang="en-US" sz="900" b="1" kern="1200" dirty="0">
                          <a:solidFill>
                            <a:srgbClr val="2C5967"/>
                          </a:solidFill>
                          <a:latin typeface="+mn-lt"/>
                          <a:ea typeface="+mn-ea"/>
                          <a:cs typeface="+mn-cs"/>
                        </a:rPr>
                        <a:t>Meeting</a:t>
                      </a:r>
                      <a:r>
                        <a:rPr lang="en-US" sz="900" dirty="0"/>
                        <a:t> </a:t>
                      </a:r>
                      <a:r>
                        <a:rPr lang="en-US" sz="900" b="1" kern="1200" dirty="0">
                          <a:solidFill>
                            <a:srgbClr val="2C5967"/>
                          </a:solidFill>
                          <a:latin typeface="+mn-lt"/>
                          <a:ea typeface="+mn-ea"/>
                          <a:cs typeface="+mn-cs"/>
                        </a:rPr>
                        <a:t>Attendees</a:t>
                      </a:r>
                    </a:p>
                    <a:p>
                      <a:pPr marL="0" marR="0" lvl="0" indent="0" algn="r" defTabSz="195517" rtl="0" eaLnBrk="1" fontAlgn="auto" latinLnBrk="0" hangingPunct="1">
                        <a:lnSpc>
                          <a:spcPct val="100000"/>
                        </a:lnSpc>
                        <a:spcBef>
                          <a:spcPts val="0"/>
                        </a:spcBef>
                        <a:spcAft>
                          <a:spcPts val="0"/>
                        </a:spcAft>
                        <a:buClrTx/>
                        <a:buSzTx/>
                        <a:buFontTx/>
                        <a:buNone/>
                        <a:tabLst/>
                        <a:defRPr/>
                      </a:pPr>
                      <a:r>
                        <a:rPr lang="en-US" sz="700" b="0" kern="1200" dirty="0">
                          <a:solidFill>
                            <a:srgbClr val="2C5967"/>
                          </a:solidFill>
                          <a:latin typeface="+mn-lt"/>
                          <a:ea typeface="+mn-ea"/>
                          <a:cs typeface="+mn-cs"/>
                        </a:rPr>
                        <a:t>(Name, title)</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James Whitfield, CIO</a:t>
                      </a:r>
                    </a:p>
                    <a:p>
                      <a:r>
                        <a:t>Diane Cole, SVP Merchandising</a:t>
                      </a:r>
                    </a:p>
                    <a:p>
                      <a:r>
                        <a:t>Alan Kraft, VP Supply Chain</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714262"/>
                  </a:ext>
                </a:extLst>
              </a:tr>
              <a:tr h="329455">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Company Description:</a:t>
                      </a:r>
                      <a:r>
                        <a:rPr lang="en-US" sz="900" b="0" kern="1200" dirty="0">
                          <a:solidFill>
                            <a:schemeClr val="tx1"/>
                          </a:solidFill>
                          <a:latin typeface="+mn-lt"/>
                          <a:ea typeface="+mn-ea"/>
                          <a:cs typeface="+mn-cs"/>
                        </a:rPr>
                        <a:t> </a:t>
                      </a: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dirty="0">
                        <a:solidFill>
                          <a:schemeClr val="tx1"/>
                        </a:solidFill>
                        <a:latin typeface="Oracle Sans" panose="020B0503020204020204" pitchFamily="34" charset="0"/>
                        <a:cs typeface="Oracle Sans" panose="020B0503020204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r>
                        <a:t>Vantage Retail Group is a national omnichannel retailer operating 1,200 stores and a top-10 e-commerce site, with 90,000 employees.</a:t>
                      </a:r>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extLst>
                  <a:ext uri="{0D108BD9-81ED-4DB2-BD59-A6C34878D82A}">
                    <a16:rowId xmlns:a16="http://schemas.microsoft.com/office/drawing/2014/main" val="4200647729"/>
                  </a:ext>
                </a:extLst>
              </a:tr>
              <a:tr h="662644">
                <a:tc>
                  <a:txBody>
                    <a:bodyPr/>
                    <a:lstStyle/>
                    <a:p>
                      <a:pPr algn="l"/>
                      <a:r>
                        <a:rPr lang="en-US" sz="900" b="1" kern="1200" dirty="0">
                          <a:solidFill>
                            <a:srgbClr val="2C5967"/>
                          </a:solidFill>
                          <a:latin typeface="+mn-lt"/>
                          <a:ea typeface="+mn-ea"/>
                          <a:cs typeface="+mn-cs"/>
                        </a:rPr>
                        <a:t>Meeting Objectives / </a:t>
                      </a:r>
                    </a:p>
                    <a:p>
                      <a:pPr algn="l"/>
                      <a:r>
                        <a:rPr lang="en-US" sz="900" b="1" kern="1200" dirty="0">
                          <a:solidFill>
                            <a:srgbClr val="2C5967"/>
                          </a:solidFill>
                          <a:latin typeface="+mn-lt"/>
                          <a:ea typeface="+mn-ea"/>
                          <a:cs typeface="+mn-cs"/>
                        </a:rPr>
                        <a:t>Customer Expectations</a:t>
                      </a:r>
                    </a:p>
                    <a:p>
                      <a:pPr algn="l"/>
                      <a:r>
                        <a:rPr lang="en-US" sz="700" b="0" kern="1200" dirty="0">
                          <a:solidFill>
                            <a:schemeClr val="tx1"/>
                          </a:solidFill>
                          <a:latin typeface="+mn-lt"/>
                          <a:ea typeface="+mn-ea"/>
                          <a:cs typeface="+mn-cs"/>
                        </a:rPr>
                        <a:t>(Main purpose of engagement, desired outcomes - focus on the customer perspective)</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Evaluate BriefingIQ Retail Cloud for unified merchandising across 1,200 stores.</a:t>
                      </a:r>
                    </a:p>
                    <a:p>
                      <a:r>
                        <a:t>2. Assess BriefingIQ Analytics for demand forecasting.</a:t>
                      </a:r>
                    </a:p>
                    <a:p>
                      <a:r>
                        <a:t>3. Explore OCI for peak-season elasticity.</a:t>
                      </a:r>
                    </a:p>
                    <a:p>
                      <a:r>
                        <a:t>4. Review supply-chain planning modernization.</a:t>
                      </a:r>
                    </a:p>
                    <a:p>
                      <a:r>
                        <a:t>5. Align on omnichannel roadmap.</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algn="r"/>
                      <a:r>
                        <a:rPr lang="en-US" sz="900" kern="1200">
                          <a:solidFill>
                            <a:srgbClr val="67605B"/>
                          </a:solidFill>
                          <a:effectLst/>
                          <a:latin typeface="+mn-lt"/>
                          <a:ea typeface="+mn-ea"/>
                          <a:cs typeface="+mn-cs"/>
                        </a:rPr>
                        <a:t>&lt;e.g. ABC is evaluating ERP/HCM solutions as part of their transformation initiative, which has been narrowed down to BriefingIQ and Workday. Discuss the benefits of BriefingIQ and how ABC stands to benefit in the areas of architecture and integration, security, automation capabilities, and the cost-benefit related to reduced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583825254"/>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Top Business Challenges / Where BriefingIQ Can Help</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(Customer’s challenges - how BriefingIQ can help – both near term and long term, top 3 things to know about the customer)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INVENTORY VISIBILITY: No single view across stores, DCs, and e-commerce.</a:t>
                      </a:r>
                    </a:p>
                    <a:p>
                      <a:r>
                        <a:t>2. FORECASTING: Manual, spreadsheet-driven demand planning.</a:t>
                      </a:r>
                    </a:p>
                    <a:p>
                      <a:r>
                        <a:t>3. PEAK LOAD: Black Friday outages on legacy infrastructure.</a:t>
                      </a:r>
                    </a:p>
                    <a:p>
                      <a:r>
                        <a:t>4. MARGIN PRESSURE: Rising markdowns from overstock.</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66672720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Customer’s Business /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IT Strategy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(High-level CEO and IT strategy)</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CEO Vision: "Become the most efficient omnichannel retailer in North America."</a:t>
                      </a:r>
                    </a:p>
                    <a:p>
                      <a:r>
                        <a:t>IT is consolidating to a cloud merchandising platform with AI-driven planning.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Identify</a:t>
                      </a:r>
                      <a:r>
                        <a:rPr lang="en-US" sz="900" baseline="0">
                          <a:solidFill>
                            <a:srgbClr val="67605B"/>
                          </a:solidFill>
                          <a:latin typeface="Oracle Sans" panose="020B0503020204020204" pitchFamily="34" charset="0"/>
                          <a:cs typeface="Oracle Sans" panose="020B0503020204020204" pitchFamily="34" charset="0"/>
                        </a:rPr>
                        <a:t> an integrated ERP/HCM solution that does not require high customization and reduces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26403262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 Lifecycle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(Where we are in sales process, where customer is in their lifecycle, why they chose BriefingIQ, what value has been realized, recent go-lives and implementations)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SALES STAGE: Qualified Opportunity ($14M TCV)</a:t>
                      </a:r>
                    </a:p>
                    <a:p>
                      <a:r>
                        <a:t>- Executive sponsorship secured.</a:t>
                      </a:r>
                    </a:p>
                    <a:p>
                      <a:r>
                        <a:t>- Competitive eval against SAP and Manhattan.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&lt;What is the overall relationship strength and customer view of BriefingIQ?&gt;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9064669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Account Status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(Red, yellow, green health status,  customer’s feeling towards BriefingIQ - positive, negative, or neutral, issues to highlight and potential derailers)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GREEN - Active opportunity with executive momentum.</a:t>
                      </a:r>
                    </a:p>
                    <a:p>
                      <a:r>
                        <a:t/>
                      </a:r>
                    </a:p>
                    <a:p>
                      <a:r>
                        <a:t>POSITIVES:</a:t>
                      </a:r>
                    </a:p>
                    <a:p>
                      <a:r>
                        <a:t>- CFO sponsoring the initiative.</a:t>
                      </a:r>
                    </a:p>
                    <a:p>
                      <a:r>
                        <a:t>- Positive OCI benchmark.</a:t>
                      </a:r>
                    </a:p>
                    <a:p>
                      <a:r>
                        <a:t/>
                      </a:r>
                    </a:p>
                    <a:p>
                      <a:r>
                        <a:t>RISKS:</a:t>
                      </a:r>
                    </a:p>
                    <a:p>
                      <a:r>
                        <a:t>- SAP incumbency in ERP.</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96515455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BriefingIQ Talking Points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(3 main talking points BriefingIQ exec should cover)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3">
                  <a:txBody>
                    <a:bodyPr/>
                    <a:lstStyle/>
                    <a:p>
                      <a:r>
                        <a:t>1. UNIFIED RETAIL: Single merchandising and inventory platform.</a:t>
                      </a:r>
                    </a:p>
                    <a:p>
                      <a:r>
                        <a:t>2. AI FORECASTING: Reduce markdowns with BriefingIQ demand planning.</a:t>
                      </a:r>
                    </a:p>
                    <a:p>
                      <a:r>
                        <a:t>3. ELASTIC SCALE: Handle peak traffic on OCI at lower cost.</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tc>
                <a:tc hMerge="1">
                  <a:txBody>
                    <a:bodyPr/>
                    <a:lstStyle/>
                    <a:p>
                      <a:endParaRPr lang="en-US"/>
                    </a:p>
                  </a:txBody>
                  <a:tcPr/>
                </a:tc>
                <a:extLst>
                  <a:ext uri="{0D108BD9-81ED-4DB2-BD59-A6C34878D82A}">
                    <a16:rowId xmlns:a16="http://schemas.microsoft.com/office/drawing/2014/main" val="3430135698"/>
                  </a:ext>
                </a:extLst>
              </a:tr>
            </a:tbl>
          </a:graphicData>
        </a:graphic>
      </p:graphicFrame>
      <p:pic>
        <p:nvPicPr>
          <p:cNvPr id="23" name="Picture 22" descr="image.png"/>
          <p:cNvPicPr>
            <a:picLocks noChangeAspect="1"/>
          </p:cNvPicPr>
          <p:nvPr/>
        </p:nvPicPr>
        <p:blipFill>
          <a:blip r:embed="rId4"/>
          <a:stretch>
            <a:fillRect/>
          </a:stretch>
        </p:blipFill>
        <p:spPr>
          <a:xfrm>
            <a:off x="306948" y="909378"/>
            <a:ext cx="757450" cy="731520"/>
          </a:xfrm>
          <a:prstGeom prst="rect">
            <a:avLst/>
          </a:prstGeom>
        </p:spPr>
      </p:pic>
      <p:pic>
        <p:nvPicPr>
          <p:cNvPr id="24" name="Picture 23" descr="image.png"/>
          <p:cNvPicPr>
            <a:picLocks noChangeAspect="1"/>
          </p:cNvPicPr>
          <p:nvPr/>
        </p:nvPicPr>
        <p:blipFill>
          <a:blip r:embed="rId5"/>
          <a:stretch>
            <a:fillRect/>
          </a:stretch>
        </p:blipFill>
        <p:spPr>
          <a:xfrm>
            <a:off x="1259692" y="909378"/>
            <a:ext cx="1604858" cy="731520"/>
          </a:xfrm>
          <a:prstGeom prst="rect">
            <a:avLst/>
          </a:prstGeom>
        </p:spPr>
      </p:pic>
    </p:spTree>
    <p:extLst>
      <p:ext uri="{BB962C8B-B14F-4D97-AF65-F5344CB8AC3E}">
        <p14:creationId xmlns:p14="http://schemas.microsoft.com/office/powerpoint/2010/main" val="349223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851D5C-0391-8C3C-CFDA-9B26DD635BBC}"/>
              </a:ext>
            </a:extLst>
          </p:cNvPr>
          <p:cNvGraphicFramePr>
            <a:graphicFrameLocks noGrp="1"/>
          </p:cNvGraphicFramePr>
          <p:nvPr>
            <p:extLst>
              <p:ext uri="{D42A27DB-BD31-4B8C-83A1-F6EECF244321}">
                <p14:modId xmlns:p14="http://schemas.microsoft.com/office/powerpoint/2010/main" val="3483581123"/>
              </p:ext>
            </p:extLst>
          </p:nvPr>
        </p:nvGraphicFramePr>
        <p:xfrm>
          <a:off x="163793" y="7185907"/>
          <a:ext cx="7315201" cy="2458197"/>
        </p:xfrm>
        <a:graphic>
          <a:graphicData uri="http://schemas.openxmlformats.org/drawingml/2006/table">
            <a:tbl>
              <a:tblPr firstRow="1" bandRow="1">
                <a:tableStyleId>{2D5ABB26-0587-4C30-8999-92F81FD0307C}</a:tableStyleId>
              </a:tblPr>
              <a:tblGrid>
                <a:gridCol w="1560257">
                  <a:extLst>
                    <a:ext uri="{9D8B030D-6E8A-4147-A177-3AD203B41FA5}">
                      <a16:colId xmlns:a16="http://schemas.microsoft.com/office/drawing/2014/main" val="1823716183"/>
                    </a:ext>
                  </a:extLst>
                </a:gridCol>
                <a:gridCol w="263334">
                  <a:extLst>
                    <a:ext uri="{9D8B030D-6E8A-4147-A177-3AD203B41FA5}">
                      <a16:colId xmlns:a16="http://schemas.microsoft.com/office/drawing/2014/main" val="1711870494"/>
                    </a:ext>
                  </a:extLst>
                </a:gridCol>
                <a:gridCol w="1790672">
                  <a:extLst>
                    <a:ext uri="{9D8B030D-6E8A-4147-A177-3AD203B41FA5}">
                      <a16:colId xmlns:a16="http://schemas.microsoft.com/office/drawing/2014/main" val="3368796299"/>
                    </a:ext>
                  </a:extLst>
                </a:gridCol>
                <a:gridCol w="1857698">
                  <a:extLst>
                    <a:ext uri="{9D8B030D-6E8A-4147-A177-3AD203B41FA5}">
                      <a16:colId xmlns:a16="http://schemas.microsoft.com/office/drawing/2014/main" val="1078110989"/>
                    </a:ext>
                  </a:extLst>
                </a:gridCol>
                <a:gridCol w="1843240">
                  <a:extLst>
                    <a:ext uri="{9D8B030D-6E8A-4147-A177-3AD203B41FA5}">
                      <a16:colId xmlns:a16="http://schemas.microsoft.com/office/drawing/2014/main" val="2233156983"/>
                    </a:ext>
                  </a:extLst>
                </a:gridCol>
              </a:tblGrid>
              <a:tr h="187656">
                <a:tc gridSpan="5">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b="1" kern="1200" dirty="0">
                          <a:solidFill>
                            <a:schemeClr val="tx1"/>
                          </a:solidFill>
                          <a:latin typeface="+mn-lt"/>
                          <a:ea typeface="+mn-ea"/>
                          <a:cs typeface="+mn-cs"/>
                        </a:rPr>
                        <a:t>Most Recent BriefingIQ Executive Engagements (within the last 24 months)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381816085"/>
                  </a:ext>
                </a:extLst>
              </a:tr>
              <a:tr h="229653">
                <a:tc gridSpan="2">
                  <a:txBody>
                    <a:bodyPr/>
                    <a:lstStyle/>
                    <a:p>
                      <a:pPr algn="ctr"/>
                      <a:r>
                        <a:rPr lang="en-US" sz="900" b="1" dirty="0">
                          <a:solidFill>
                            <a:srgbClr val="2C5967"/>
                          </a:solidFill>
                        </a:rPr>
                        <a:t>Engagement Type</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solidFill>
                            <a:srgbClr val="2C5967"/>
                          </a:solidFill>
                        </a:rPr>
                        <a:t>Engagement Date/Location</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BriefingIQ Executive Attendee</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Customer Attendee(s)</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738558021"/>
                  </a:ext>
                </a:extLst>
              </a:tr>
              <a:tr h="189866">
                <a:tc gridSpan="2">
                  <a:txBody>
                    <a:bodyPr/>
                    <a:lstStyle/>
                    <a:p>
                      <a:r>
                        <a:t>Account Team Review</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October 2025 / On-site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Lisa Park</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Laura Chen</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r>
                        <a:t>James Whitfield</a:t>
                      </a:r>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4021392085"/>
                  </a:ext>
                </a:extLst>
              </a:tr>
              <a:tr h="1841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3030098202"/>
                  </a:ext>
                </a:extLst>
              </a:tr>
              <a:tr h="1968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477610"/>
                  </a:ext>
                </a:extLst>
              </a:tr>
              <a:tr h="189752">
                <a:tc gridSpan="5">
                  <a:txBody>
                    <a:bodyPr/>
                    <a:lstStyle/>
                    <a:p>
                      <a:pPr algn="ctr"/>
                      <a:r>
                        <a:rPr lang="en-US" sz="900" b="1" dirty="0">
                          <a:solidFill>
                            <a:schemeClr val="tx1"/>
                          </a:solidFill>
                        </a:rPr>
                        <a:t>Account Team</a:t>
                      </a:r>
                    </a:p>
                  </a:txBody>
                  <a:tcPr marL="45720" marR="45720" marT="0"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hMerge="1">
                  <a:txBody>
                    <a:bodyPr/>
                    <a:lstStyle/>
                    <a:p>
                      <a:endParaRPr lang="en-US"/>
                    </a:p>
                  </a:txBody>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61076206"/>
                  </a:ext>
                </a:extLst>
              </a:tr>
              <a:tr h="229653">
                <a:tc>
                  <a:txBody>
                    <a:bodyPr/>
                    <a:lstStyle/>
                    <a:p>
                      <a:pPr algn="l"/>
                      <a:r>
                        <a:rPr lang="en-US" sz="900" b="1" dirty="0">
                          <a:solidFill>
                            <a:srgbClr val="2C5967"/>
                          </a:solidFill>
                        </a:rPr>
                        <a:t>SCD / LAM</a:t>
                      </a:r>
                    </a:p>
                    <a:p>
                      <a:pPr algn="l"/>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Laura Chen, Sr. Account Executive, laura.chen@briefingiq.com, (312) 555-7788</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85386381"/>
                  </a:ext>
                </a:extLst>
              </a:tr>
              <a:tr h="229653">
                <a:tc>
                  <a:txBody>
                    <a:bodyPr/>
                    <a:lstStyle/>
                    <a:p>
                      <a:pPr algn="l"/>
                      <a:r>
                        <a:rPr lang="en-US" sz="900" b="1" dirty="0">
                          <a:solidFill>
                            <a:srgbClr val="2C5967"/>
                          </a:solidFill>
                        </a:rPr>
                        <a:t>Other Account Manager(s)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Greg Palmer, Retail Specialist, greg.palmer@briefingiq.com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885292419"/>
                  </a:ext>
                </a:extLst>
              </a:tr>
              <a:tr h="229653">
                <a:tc>
                  <a:txBody>
                    <a:bodyPr/>
                    <a:lstStyle/>
                    <a:p>
                      <a:pPr algn="l"/>
                      <a:r>
                        <a:rPr lang="en-US" sz="900" b="1" dirty="0">
                          <a:solidFill>
                            <a:srgbClr val="2C5967"/>
                          </a:solidFill>
                        </a:rPr>
                        <a:t>CSE / CSM</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Nina Roy, Customer Success Manager, nina.roy@briefingiq.com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extLst>
                  <a:ext uri="{0D108BD9-81ED-4DB2-BD59-A6C34878D82A}">
                    <a16:rowId xmlns:a16="http://schemas.microsoft.com/office/drawing/2014/main" val="189300571"/>
                  </a:ext>
                </a:extLst>
              </a:tr>
              <a:tr h="229653">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Executive Sponsor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Patricia Wong, SVP Central Region, patricia.wong@briefingiq.com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62320209"/>
                  </a:ext>
                </a:extLst>
              </a:tr>
              <a:tr h="304910">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Implementation Partner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(Partner name and relevant info)</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Accenture - Retail Practice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05904968"/>
                  </a:ext>
                </a:extLst>
              </a:tr>
            </a:tbl>
          </a:graphicData>
        </a:graphic>
      </p:graphicFrame>
      <p:graphicFrame>
        <p:nvGraphicFramePr>
          <p:cNvPr id="4" name="Table 3">
            <a:extLst>
              <a:ext uri="{FF2B5EF4-FFF2-40B4-BE49-F238E27FC236}">
                <a16:creationId xmlns:a16="http://schemas.microsoft.com/office/drawing/2014/main" id="{128D44B6-3897-02DF-B6AF-7FA0950E93B9}"/>
              </a:ext>
            </a:extLst>
          </p:cNvPr>
          <p:cNvGraphicFramePr>
            <a:graphicFrameLocks noGrp="1"/>
          </p:cNvGraphicFramePr>
          <p:nvPr>
            <p:extLst>
              <p:ext uri="{D42A27DB-BD31-4B8C-83A1-F6EECF244321}">
                <p14:modId xmlns:p14="http://schemas.microsoft.com/office/powerpoint/2010/main" val="992411780"/>
              </p:ext>
            </p:extLst>
          </p:nvPr>
        </p:nvGraphicFramePr>
        <p:xfrm>
          <a:off x="163793" y="5967930"/>
          <a:ext cx="7311601" cy="1012893"/>
        </p:xfrm>
        <a:graphic>
          <a:graphicData uri="http://schemas.openxmlformats.org/drawingml/2006/table">
            <a:tbl>
              <a:tblPr firstRow="1" bandRow="1">
                <a:tableStyleId>{2D5ABB26-0587-4C30-8999-92F81FD0307C}</a:tableStyleId>
              </a:tblPr>
              <a:tblGrid>
                <a:gridCol w="1218600">
                  <a:extLst>
                    <a:ext uri="{9D8B030D-6E8A-4147-A177-3AD203B41FA5}">
                      <a16:colId xmlns:a16="http://schemas.microsoft.com/office/drawing/2014/main" val="1865643287"/>
                    </a:ext>
                  </a:extLst>
                </a:gridCol>
                <a:gridCol w="1493450">
                  <a:extLst>
                    <a:ext uri="{9D8B030D-6E8A-4147-A177-3AD203B41FA5}">
                      <a16:colId xmlns:a16="http://schemas.microsoft.com/office/drawing/2014/main" val="3872007410"/>
                    </a:ext>
                  </a:extLst>
                </a:gridCol>
                <a:gridCol w="1666615">
                  <a:extLst>
                    <a:ext uri="{9D8B030D-6E8A-4147-A177-3AD203B41FA5}">
                      <a16:colId xmlns:a16="http://schemas.microsoft.com/office/drawing/2014/main" val="2966371849"/>
                    </a:ext>
                  </a:extLst>
                </a:gridCol>
                <a:gridCol w="1714336">
                  <a:extLst>
                    <a:ext uri="{9D8B030D-6E8A-4147-A177-3AD203B41FA5}">
                      <a16:colId xmlns:a16="http://schemas.microsoft.com/office/drawing/2014/main" val="1743445744"/>
                    </a:ext>
                  </a:extLst>
                </a:gridCol>
                <a:gridCol w="1218600">
                  <a:extLst>
                    <a:ext uri="{9D8B030D-6E8A-4147-A177-3AD203B41FA5}">
                      <a16:colId xmlns:a16="http://schemas.microsoft.com/office/drawing/2014/main" val="3111226398"/>
                    </a:ext>
                  </a:extLst>
                </a:gridCol>
              </a:tblGrid>
              <a:tr h="318309">
                <a:tc>
                  <a:txBody>
                    <a:bodyPr/>
                    <a:lstStyle/>
                    <a:p>
                      <a:pPr algn="ctr"/>
                      <a:r>
                        <a:rPr lang="en-US" sz="900" b="1" dirty="0">
                          <a:ln>
                            <a:noFill/>
                          </a:ln>
                        </a:rPr>
                        <a:t>Last Audit Date</a:t>
                      </a:r>
                    </a:p>
                  </a:txBody>
                  <a:tcPr marL="0" marR="0" marT="0" marB="0" anchor="ctr">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Audit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Is </a:t>
                      </a:r>
                      <a:r>
                        <a:rPr lang="en-US" sz="900" b="1" dirty="0">
                          <a:ln>
                            <a:noFill/>
                          </a:ln>
                          <a:hlinkClick r:id="rId3"/>
                        </a:rPr>
                        <a:t>LMS Legal </a:t>
                      </a:r>
                      <a:r>
                        <a:rPr lang="en-US" sz="900" b="1" dirty="0">
                          <a:ln>
                            <a:noFill/>
                          </a:ln>
                        </a:rPr>
                        <a:t>Involved?</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ln>
                            <a:noFill/>
                          </a:ln>
                          <a:solidFill>
                            <a:schemeClr val="tx1"/>
                          </a:solidFill>
                          <a:latin typeface="+mn-lt"/>
                          <a:ea typeface="+mn-ea"/>
                          <a:cs typeface="+mn-cs"/>
                        </a:rPr>
                        <a:t>ULA Certification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LMS Contact</a:t>
                      </a:r>
                    </a:p>
                  </a:txBody>
                  <a:tcPr marL="0" marR="0" marT="0" marB="0" anchor="ctr">
                    <a:lnL w="12700" cap="flat" cmpd="sng" algn="ctr">
                      <a:solidFill>
                        <a:schemeClr val="bg2"/>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839229030"/>
                  </a:ext>
                </a:extLst>
              </a:tr>
              <a:tr h="213888">
                <a:tc>
                  <a:txBody>
                    <a:bodyPr/>
                    <a:lstStyle/>
                    <a:p>
                      <a:r>
                        <a:t>Feb 2025</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Active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
                      </a:r>
                      <a:endParaRPr lang="en-US" sz="900" b="0" dirty="0">
                        <a:ln>
                          <a:noFill/>
                        </a:ln>
                        <a:solidFill>
                          <a:schemeClr val="tx1"/>
                        </a:solidFill>
                        <a:latin typeface="+mn-lt"/>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912910007"/>
                  </a:ext>
                </a:extLst>
              </a:tr>
              <a:tr h="240348">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ln>
                            <a:noFill/>
                          </a:ln>
                          <a:solidFill>
                            <a:schemeClr val="tx1"/>
                          </a:solidFill>
                          <a:latin typeface="+mn-lt"/>
                          <a:ea typeface="+mn-ea"/>
                          <a:cs typeface="+mn-cs"/>
                          <a:hlinkClick r:id="rId4"/>
                        </a:rPr>
                        <a:t>Software Investment Advisor</a:t>
                      </a:r>
                      <a:r>
                        <a:rPr lang="en-US" sz="900" b="1" kern="1200" dirty="0">
                          <a:ln>
                            <a:noFill/>
                          </a:ln>
                          <a:solidFill>
                            <a:schemeClr val="tx1"/>
                          </a:solidFill>
                          <a:latin typeface="+mn-lt"/>
                          <a:ea typeface="+mn-ea"/>
                          <a:cs typeface="+mn-cs"/>
                        </a:rPr>
                        <a:t> (SIA) Engaged</a:t>
                      </a:r>
                    </a:p>
                  </a:txBody>
                  <a:tcPr marT="0" marB="0" anchor="ctr">
                    <a:lnR w="12700" cap="flat" cmpd="sng" algn="ctr">
                      <a:solidFill>
                        <a:schemeClr val="bg2"/>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sz="10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sz="1000" dirty="0"/>
                    </a:p>
                  </a:txBody>
                  <a:tcPr marT="0" marB="0" anchor="ctr">
                    <a:lnL w="12700" cap="flat" cmpd="sng" algn="ctr">
                      <a:solidFill>
                        <a:schemeClr val="bg2"/>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a:txBody>
                    <a:bodyPr/>
                    <a:lstStyle/>
                    <a:p>
                      <a:pPr marL="0" algn="ctr" defTabSz="195517" rtl="0" eaLnBrk="1" latinLnBrk="0" hangingPunct="1"/>
                      <a:r>
                        <a:rPr lang="en-US" sz="900" b="1" kern="1200" dirty="0">
                          <a:ln>
                            <a:noFill/>
                          </a:ln>
                          <a:solidFill>
                            <a:schemeClr val="tx1"/>
                          </a:solidFill>
                          <a:latin typeface="+mn-lt"/>
                          <a:ea typeface="+mn-ea"/>
                          <a:cs typeface="+mn-cs"/>
                        </a:rPr>
                        <a:t>SIA Contact</a:t>
                      </a:r>
                    </a:p>
                  </a:txBody>
                  <a:tcPr marT="0" marB="0" anchor="ct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024768492"/>
                  </a:ext>
                </a:extLst>
              </a:tr>
              <a:tr h="240348">
                <a:tc gridSpan="4">
                  <a:txBody>
                    <a:bodyPr/>
                    <a:lstStyle/>
                    <a:p>
                      <a:r>
                        <a:t>No</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9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sz="900"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a:txBody>
                    <a:bodyPr/>
                    <a:lstStyle/>
                    <a:p>
                      <a:r>
                        <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495261"/>
                  </a:ext>
                </a:extLst>
              </a:tr>
            </a:tbl>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F274413-8361-3A83-5E67-963DD8B4A72E}"/>
                  </a:ext>
                </a:extLst>
              </p14:cNvPr>
              <p14:cNvContentPartPr/>
              <p14:nvPr/>
            </p14:nvContentPartPr>
            <p14:xfrm>
              <a:off x="283821" y="866301"/>
              <a:ext cx="360" cy="360"/>
            </p14:xfrm>
          </p:contentPart>
        </mc:Choice>
        <mc:Fallback xmlns="">
          <p:pic>
            <p:nvPicPr>
              <p:cNvPr id="5" name="Ink 4">
                <a:extLst>
                  <a:ext uri="{FF2B5EF4-FFF2-40B4-BE49-F238E27FC236}">
                    <a16:creationId xmlns:a16="http://schemas.microsoft.com/office/drawing/2014/main" id="{EF274413-8361-3A83-5E67-963DD8B4A72E}"/>
                  </a:ext>
                </a:extLst>
              </p:cNvPr>
              <p:cNvPicPr/>
              <p:nvPr/>
            </p:nvPicPr>
            <p:blipFill>
              <a:blip r:embed="rId6"/>
              <a:stretch>
                <a:fillRect/>
              </a:stretch>
            </p:blipFill>
            <p:spPr>
              <a:xfrm>
                <a:off x="279501" y="86198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941224A-9B37-D514-4413-28344FEC0053}"/>
                  </a:ext>
                </a:extLst>
              </p14:cNvPr>
              <p14:cNvContentPartPr/>
              <p14:nvPr/>
            </p14:nvContentPartPr>
            <p14:xfrm>
              <a:off x="307941" y="858381"/>
              <a:ext cx="3600" cy="360"/>
            </p14:xfrm>
          </p:contentPart>
        </mc:Choice>
        <mc:Fallback xmlns="">
          <p:pic>
            <p:nvPicPr>
              <p:cNvPr id="6" name="Ink 5">
                <a:extLst>
                  <a:ext uri="{FF2B5EF4-FFF2-40B4-BE49-F238E27FC236}">
                    <a16:creationId xmlns:a16="http://schemas.microsoft.com/office/drawing/2014/main" id="{9941224A-9B37-D514-4413-28344FEC0053}"/>
                  </a:ext>
                </a:extLst>
              </p:cNvPr>
              <p:cNvPicPr/>
              <p:nvPr/>
            </p:nvPicPr>
            <p:blipFill>
              <a:blip r:embed="rId6"/>
              <a:stretch>
                <a:fillRect/>
              </a:stretch>
            </p:blipFill>
            <p:spPr>
              <a:xfrm>
                <a:off x="303621" y="854061"/>
                <a:ext cx="12240" cy="9000"/>
              </a:xfrm>
              <a:prstGeom prst="rect">
                <a:avLst/>
              </a:prstGeom>
            </p:spPr>
          </p:pic>
        </mc:Fallback>
      </mc:AlternateContent>
      <p:graphicFrame>
        <p:nvGraphicFramePr>
          <p:cNvPr id="7" name="Table 6">
            <a:extLst>
              <a:ext uri="{FF2B5EF4-FFF2-40B4-BE49-F238E27FC236}">
                <a16:creationId xmlns:a16="http://schemas.microsoft.com/office/drawing/2014/main" id="{C4990E67-9C3E-FD00-7895-E2EFB5B3B9D2}"/>
              </a:ext>
            </a:extLst>
          </p:cNvPr>
          <p:cNvGraphicFramePr>
            <a:graphicFrameLocks noGrp="1"/>
          </p:cNvGraphicFramePr>
          <p:nvPr>
            <p:extLst>
              <p:ext uri="{D42A27DB-BD31-4B8C-83A1-F6EECF244321}">
                <p14:modId xmlns:p14="http://schemas.microsoft.com/office/powerpoint/2010/main" val="2399448383"/>
              </p:ext>
            </p:extLst>
          </p:nvPr>
        </p:nvGraphicFramePr>
        <p:xfrm>
          <a:off x="163793" y="839114"/>
          <a:ext cx="7278998" cy="4937760"/>
        </p:xfrm>
        <a:graphic>
          <a:graphicData uri="http://schemas.openxmlformats.org/drawingml/2006/table">
            <a:tbl>
              <a:tblPr firstRow="1" bandRow="1">
                <a:tableStyleId>{2D5ABB26-0587-4C30-8999-92F81FD0307C}</a:tableStyleId>
              </a:tblPr>
              <a:tblGrid>
                <a:gridCol w="1198663">
                  <a:extLst>
                    <a:ext uri="{9D8B030D-6E8A-4147-A177-3AD203B41FA5}">
                      <a16:colId xmlns:a16="http://schemas.microsoft.com/office/drawing/2014/main" val="934969453"/>
                    </a:ext>
                  </a:extLst>
                </a:gridCol>
                <a:gridCol w="1946209">
                  <a:extLst>
                    <a:ext uri="{9D8B030D-6E8A-4147-A177-3AD203B41FA5}">
                      <a16:colId xmlns:a16="http://schemas.microsoft.com/office/drawing/2014/main" val="1382363182"/>
                    </a:ext>
                  </a:extLst>
                </a:gridCol>
                <a:gridCol w="4134126">
                  <a:extLst>
                    <a:ext uri="{9D8B030D-6E8A-4147-A177-3AD203B41FA5}">
                      <a16:colId xmlns:a16="http://schemas.microsoft.com/office/drawing/2014/main" val="3769453652"/>
                    </a:ext>
                  </a:extLst>
                </a:gridCol>
              </a:tblGrid>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James Whitfield, CIO, james.whitfield@vantageretail.com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James Whitfield, CIO, james.whitfield@vantageretail.com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145389527"/>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Owns technology strategy. Pragmatic; ROI-driven; open to BriefingIQ.</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Owns technology strategy. Pragmatic; ROI-driven; open to BriefingIQ.</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93680188"/>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25 years in retail IT. Former CIO at a big-box chain. Led two ERP transformations.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25 years in retail IT. Former CIO at a big-box chain. Led two ERP transformations.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524122"/>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Diane Cole, SVP Merchandising, diane.cole@vantageretail.com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Diane Cole, SVP Merchandising, diane.cole@vantageretail.com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83417940"/>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Primary business sponsor. Wants faster planning cycles and fewer markdowns.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Primary business sponsor. Wants faster planning cycles and fewer markdowns.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1040647383"/>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18 years in merchandising. Champion of AI-driven assortment planning.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18 years in merchandising. Champion of AI-driven assortment planning.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14671"/>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Alan Kraft, VP Supply Chain, alan.kraft@vantageretail.com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Alan Kraft, VP Supply Chain, alan.kraft@vantageretail.com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290201">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Focused on inventory accuracy and peak resilience. Skeptical of migrations.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Focused on inventory accuracy and peak resilience. Skeptical of migrations.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201">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operations lead at a 3PL. Expert in warehouse and DC optimization.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operations lead at a 3PL. Expert in warehouse and DC optimization.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918100"/>
                  </a:ext>
                </a:extLst>
              </a:tr>
            </a:tbl>
          </a:graphicData>
        </a:graphic>
      </p:graphicFrame>
      <p:pic>
        <p:nvPicPr>
          <p:cNvPr id="8" name="Picture 7" descr="A picture containing text&#10;&#10;Description automatically generated">
            <a:extLst>
              <a:ext uri="{FF2B5EF4-FFF2-40B4-BE49-F238E27FC236}">
                <a16:creationId xmlns:a16="http://schemas.microsoft.com/office/drawing/2014/main" id="{40F1D101-8E72-F518-2C92-B88D1D21AF8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1187424"/>
            <a:ext cx="914400" cy="9144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6C788A28-2438-E116-7642-79F36D1A078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11580" y="2845729"/>
            <a:ext cx="914400" cy="9144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1FAFDF71-F32B-762E-7E79-A1DBDC97F03A}"/>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4528440"/>
            <a:ext cx="914400" cy="914400"/>
          </a:xfrm>
          <a:prstGeom prst="rect">
            <a:avLst/>
          </a:prstGeom>
        </p:spPr>
      </p:pic>
    </p:spTree>
    <p:extLst>
      <p:ext uri="{BB962C8B-B14F-4D97-AF65-F5344CB8AC3E}">
        <p14:creationId xmlns:p14="http://schemas.microsoft.com/office/powerpoint/2010/main" val="154051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5BE8610-820A-AC5A-88D4-B97659AA2400}"/>
              </a:ext>
            </a:extLst>
          </p:cNvPr>
          <p:cNvSpPr txBox="1"/>
          <p:nvPr/>
        </p:nvSpPr>
        <p:spPr>
          <a:xfrm>
            <a:off x="165100" y="699700"/>
            <a:ext cx="5753100" cy="276999"/>
          </a:xfrm>
          <a:prstGeom prst="rect">
            <a:avLst/>
          </a:prstGeom>
          <a:noFill/>
        </p:spPr>
        <p:txBody>
          <a:bodyPr wrap="square" lIns="0" rtlCol="0">
            <a:spAutoFit/>
          </a:bodyPr>
          <a:lstStyle/>
          <a:p>
            <a:r>
              <a:rPr lang="en-US" sz="1200" b="1" dirty="0">
                <a:solidFill>
                  <a:srgbClr val="2C5967"/>
                </a:solidFill>
              </a:rPr>
              <a:t>Customer References </a:t>
            </a:r>
            <a:r>
              <a:rPr lang="en-US" sz="1200" i="1" dirty="0"/>
              <a:t>&lt;Delete / Add as needed&gt;</a:t>
            </a:r>
          </a:p>
        </p:txBody>
      </p:sp>
      <p:graphicFrame>
        <p:nvGraphicFramePr>
          <p:cNvPr id="12" name="Table 11">
            <a:extLst>
              <a:ext uri="{FF2B5EF4-FFF2-40B4-BE49-F238E27FC236}">
                <a16:creationId xmlns:a16="http://schemas.microsoft.com/office/drawing/2014/main" id="{39A809CB-3909-41C5-DD19-0FE95177DB66}"/>
              </a:ext>
            </a:extLst>
          </p:cNvPr>
          <p:cNvGraphicFramePr>
            <a:graphicFrameLocks noGrp="1"/>
          </p:cNvGraphicFramePr>
          <p:nvPr>
            <p:extLst>
              <p:ext uri="{D42A27DB-BD31-4B8C-83A1-F6EECF244321}">
                <p14:modId xmlns:p14="http://schemas.microsoft.com/office/powerpoint/2010/main" val="898793170"/>
              </p:ext>
            </p:extLst>
          </p:nvPr>
        </p:nvGraphicFramePr>
        <p:xfrm>
          <a:off x="165100" y="1028291"/>
          <a:ext cx="7391400"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4">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Harborline Stores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Retail</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www.harborline.com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BriefingIQ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BriefingIQ Retail Cloud, BriefingIQ Analytics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
                      </a:r>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BriefingIQ)</a:t>
                      </a:r>
                    </a:p>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Cut markdowns 22% with AI demand planning across 800 stores.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3" name="Table 12">
            <a:extLst>
              <a:ext uri="{FF2B5EF4-FFF2-40B4-BE49-F238E27FC236}">
                <a16:creationId xmlns:a16="http://schemas.microsoft.com/office/drawing/2014/main" id="{8FE09F1B-A6F4-9A2D-14A8-E18C921A3E02}"/>
              </a:ext>
            </a:extLst>
          </p:cNvPr>
          <p:cNvGraphicFramePr>
            <a:graphicFrameLocks noGrp="1"/>
          </p:cNvGraphicFramePr>
          <p:nvPr>
            <p:extLst>
              <p:ext uri="{D42A27DB-BD31-4B8C-83A1-F6EECF244321}">
                <p14:modId xmlns:p14="http://schemas.microsoft.com/office/powerpoint/2010/main" val="1597344447"/>
              </p:ext>
            </p:extLst>
          </p:nvPr>
        </p:nvGraphicFramePr>
        <p:xfrm>
          <a:off x="165100" y="4038318"/>
          <a:ext cx="7391399" cy="2641228"/>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UrbanCart</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Retail / E-commerce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www.urbancart.com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BriefingIQ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OCI, BriefingIQ Autonomous Database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
                      </a:r>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6">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BriefingIQ)</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Zero peak-season downtime after moving to OCI; 40% infra savings.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5" name="Table 14">
            <a:extLst>
              <a:ext uri="{FF2B5EF4-FFF2-40B4-BE49-F238E27FC236}">
                <a16:creationId xmlns:a16="http://schemas.microsoft.com/office/drawing/2014/main" id="{A61126C0-4ED0-BDDB-DA6B-2B848987F6A6}"/>
              </a:ext>
            </a:extLst>
          </p:cNvPr>
          <p:cNvGraphicFramePr>
            <a:graphicFrameLocks noGrp="1"/>
          </p:cNvGraphicFramePr>
          <p:nvPr>
            <p:extLst>
              <p:ext uri="{D42A27DB-BD31-4B8C-83A1-F6EECF244321}">
                <p14:modId xmlns:p14="http://schemas.microsoft.com/office/powerpoint/2010/main" val="2011324976"/>
              </p:ext>
            </p:extLst>
          </p:nvPr>
        </p:nvGraphicFramePr>
        <p:xfrm>
          <a:off x="165100" y="7027084"/>
          <a:ext cx="7391399"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FreshMart</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Grocery</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www.freshmart.com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BriefingIQ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BriefingIQ Retail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
                      </a:r>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BriefingIQ)</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Unified inventory across 300 stores and online; 15% fewer stockouts.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spTree>
    <p:extLst>
      <p:ext uri="{BB962C8B-B14F-4D97-AF65-F5344CB8AC3E}">
        <p14:creationId xmlns:p14="http://schemas.microsoft.com/office/powerpoint/2010/main" val="40448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FFDD695-A70C-C68B-AE05-B2F31B58D7E6}"/>
              </a:ext>
            </a:extLst>
          </p:cNvPr>
          <p:cNvGraphicFramePr>
            <a:graphicFrameLocks noGrp="1"/>
          </p:cNvGraphicFramePr>
          <p:nvPr>
            <p:extLst>
              <p:ext uri="{D42A27DB-BD31-4B8C-83A1-F6EECF244321}">
                <p14:modId xmlns:p14="http://schemas.microsoft.com/office/powerpoint/2010/main" val="3647879473"/>
              </p:ext>
            </p:extLst>
          </p:nvPr>
        </p:nvGraphicFramePr>
        <p:xfrm>
          <a:off x="228599" y="988622"/>
          <a:ext cx="7315201" cy="5701099"/>
        </p:xfrm>
        <a:graphic>
          <a:graphicData uri="http://schemas.openxmlformats.org/drawingml/2006/table">
            <a:tbl>
              <a:tblPr firstRow="1" bandRow="1">
                <a:tableStyleId>{2D5ABB26-0587-4C30-8999-92F81FD0307C}</a:tableStyleId>
              </a:tblPr>
              <a:tblGrid>
                <a:gridCol w="862422">
                  <a:extLst>
                    <a:ext uri="{9D8B030D-6E8A-4147-A177-3AD203B41FA5}">
                      <a16:colId xmlns:a16="http://schemas.microsoft.com/office/drawing/2014/main" val="1823716183"/>
                    </a:ext>
                  </a:extLst>
                </a:gridCol>
                <a:gridCol w="222078">
                  <a:extLst>
                    <a:ext uri="{9D8B030D-6E8A-4147-A177-3AD203B41FA5}">
                      <a16:colId xmlns:a16="http://schemas.microsoft.com/office/drawing/2014/main" val="2807854026"/>
                    </a:ext>
                  </a:extLst>
                </a:gridCol>
                <a:gridCol w="1003618">
                  <a:extLst>
                    <a:ext uri="{9D8B030D-6E8A-4147-A177-3AD203B41FA5}">
                      <a16:colId xmlns:a16="http://schemas.microsoft.com/office/drawing/2014/main" val="1088514063"/>
                    </a:ext>
                  </a:extLst>
                </a:gridCol>
                <a:gridCol w="420143">
                  <a:extLst>
                    <a:ext uri="{9D8B030D-6E8A-4147-A177-3AD203B41FA5}">
                      <a16:colId xmlns:a16="http://schemas.microsoft.com/office/drawing/2014/main" val="97867412"/>
                    </a:ext>
                  </a:extLst>
                </a:gridCol>
                <a:gridCol w="1106002">
                  <a:extLst>
                    <a:ext uri="{9D8B030D-6E8A-4147-A177-3AD203B41FA5}">
                      <a16:colId xmlns:a16="http://schemas.microsoft.com/office/drawing/2014/main" val="3345351580"/>
                    </a:ext>
                  </a:extLst>
                </a:gridCol>
                <a:gridCol w="134172">
                  <a:extLst>
                    <a:ext uri="{9D8B030D-6E8A-4147-A177-3AD203B41FA5}">
                      <a16:colId xmlns:a16="http://schemas.microsoft.com/office/drawing/2014/main" val="1078110989"/>
                    </a:ext>
                  </a:extLst>
                </a:gridCol>
                <a:gridCol w="1274666">
                  <a:extLst>
                    <a:ext uri="{9D8B030D-6E8A-4147-A177-3AD203B41FA5}">
                      <a16:colId xmlns:a16="http://schemas.microsoft.com/office/drawing/2014/main" val="3620614086"/>
                    </a:ext>
                  </a:extLst>
                </a:gridCol>
                <a:gridCol w="448860">
                  <a:extLst>
                    <a:ext uri="{9D8B030D-6E8A-4147-A177-3AD203B41FA5}">
                      <a16:colId xmlns:a16="http://schemas.microsoft.com/office/drawing/2014/main" val="3990942346"/>
                    </a:ext>
                  </a:extLst>
                </a:gridCol>
                <a:gridCol w="1104810">
                  <a:extLst>
                    <a:ext uri="{9D8B030D-6E8A-4147-A177-3AD203B41FA5}">
                      <a16:colId xmlns:a16="http://schemas.microsoft.com/office/drawing/2014/main" val="2233156983"/>
                    </a:ext>
                  </a:extLst>
                </a:gridCol>
                <a:gridCol w="738430">
                  <a:extLst>
                    <a:ext uri="{9D8B030D-6E8A-4147-A177-3AD203B41FA5}">
                      <a16:colId xmlns:a16="http://schemas.microsoft.com/office/drawing/2014/main" val="3363955813"/>
                    </a:ext>
                  </a:extLst>
                </a:gridCol>
              </a:tblGrid>
              <a:tr h="187453">
                <a:tc gridSpan="10">
                  <a:txBody>
                    <a:bodyPr/>
                    <a:lstStyle/>
                    <a:p>
                      <a:pPr algn="ctr"/>
                      <a:r>
                        <a:rPr lang="en-US" sz="900" b="1" dirty="0"/>
                        <a:t>Open Opportunities 12-18 Months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pPr algn="ctr"/>
                      <a:endParaRPr lang="en-US" sz="900" b="1" dirty="0"/>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900" b="1"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900" b="1" dirty="0"/>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2483486"/>
                  </a:ext>
                </a:extLst>
              </a:tr>
              <a:tr h="150243">
                <a:tc rowSpan="2" gridSpan="2">
                  <a:txBody>
                    <a:bodyPr/>
                    <a:lstStyle/>
                    <a:p>
                      <a:pPr algn="ctr"/>
                      <a:r>
                        <a:rPr lang="en-US" sz="900" b="1" dirty="0">
                          <a:solidFill>
                            <a:srgbClr val="2C5967"/>
                          </a:solidFill>
                        </a:rPr>
                        <a:t>Product Pillar</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gridSpan="2">
                  <a:txBody>
                    <a:bodyPr/>
                    <a:lstStyle/>
                    <a:p>
                      <a:pPr algn="ctr"/>
                      <a:r>
                        <a:rPr lang="en-US" sz="900" b="1" dirty="0">
                          <a:solidFill>
                            <a:srgbClr val="2C5967"/>
                          </a:solidFill>
                        </a:rPr>
                        <a:t>Product Line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a:txBody>
                    <a:bodyPr/>
                    <a:lstStyle/>
                    <a:p>
                      <a:pPr algn="ctr"/>
                      <a:r>
                        <a:rPr lang="en-US" sz="900" b="1" dirty="0">
                          <a:solidFill>
                            <a:srgbClr val="2C5967"/>
                          </a:solidFill>
                        </a:rPr>
                        <a:t>Top Open Opportunities (40% &amp; Above)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solidFill>
                      <a:schemeClr val="tx1">
                        <a:lumMod val="10000"/>
                        <a:lumOff val="90000"/>
                      </a:schemeClr>
                    </a:solidFill>
                  </a:tcPr>
                </a:tc>
                <a:tc rowSpan="2" gridSpan="3">
                  <a:txBody>
                    <a:bodyPr/>
                    <a:lstStyle/>
                    <a:p>
                      <a:pPr algn="ctr"/>
                      <a:r>
                        <a:rPr lang="en-US" sz="900" b="1" dirty="0">
                          <a:solidFill>
                            <a:srgbClr val="2C5967"/>
                          </a:solidFill>
                        </a:rPr>
                        <a:t>Recent Wins ($M</a:t>
                      </a:r>
                      <a:r>
                        <a:rPr lang="en-US" sz="900" b="1" baseline="0" dirty="0">
                          <a:solidFill>
                            <a:srgbClr val="2C5967"/>
                          </a:solidFill>
                        </a:rPr>
                        <a:t> USD)</a:t>
                      </a: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3282156939"/>
                  </a:ext>
                </a:extLst>
              </a:tr>
              <a:tr h="150243">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800" b="0" dirty="0">
                          <a:solidFill>
                            <a:schemeClr val="tx1"/>
                          </a:solidFill>
                        </a:rPr>
                        <a:t>Deal Size ($M USD)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666276628"/>
                  </a:ext>
                </a:extLst>
              </a:tr>
              <a:tr h="150243">
                <a:tc gridSpan="2">
                  <a:txBody>
                    <a:bodyPr/>
                    <a:lstStyle/>
                    <a:p>
                      <a:pPr algn="l"/>
                      <a:r>
                        <a:rPr lang="en-US" sz="900" b="1" dirty="0">
                          <a:solidFill>
                            <a:schemeClr val="tx1"/>
                          </a:solidFill>
                        </a:rPr>
                        <a:t>On Premise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9900936"/>
                  </a:ext>
                </a:extLst>
              </a:tr>
              <a:tr h="150243">
                <a:tc gridSpan="2">
                  <a:txBody>
                    <a:bodyPr/>
                    <a:lstStyle/>
                    <a:p>
                      <a:pPr algn="l"/>
                      <a:r>
                        <a:rPr lang="en-US" sz="900" b="1" dirty="0">
                          <a:solidFill>
                            <a:srgbClr val="67605B"/>
                          </a:solidFill>
                        </a:rPr>
                        <a:t>Applications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9839696"/>
                  </a:ext>
                </a:extLst>
              </a:tr>
              <a:tr h="150243">
                <a:tc gridSpan="2">
                  <a:txBody>
                    <a:bodyPr/>
                    <a:lstStyle/>
                    <a:p>
                      <a:pPr algn="l"/>
                      <a:r>
                        <a:rPr lang="en-US" sz="900" b="1" dirty="0">
                          <a:solidFill>
                            <a:srgbClr val="67605B"/>
                          </a:solidFill>
                        </a:rPr>
                        <a:t>Database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8146532"/>
                  </a:ext>
                </a:extLst>
              </a:tr>
              <a:tr h="150243">
                <a:tc gridSpan="2">
                  <a:txBody>
                    <a:bodyPr/>
                    <a:lstStyle/>
                    <a:p>
                      <a:pPr algn="l"/>
                      <a:r>
                        <a:rPr lang="en-US" sz="900" b="1" dirty="0">
                          <a:solidFill>
                            <a:srgbClr val="67605B"/>
                          </a:solidFill>
                        </a:rPr>
                        <a:t>Middleware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3108882"/>
                  </a:ext>
                </a:extLst>
              </a:tr>
              <a:tr h="150243">
                <a:tc gridSpan="2">
                  <a:txBody>
                    <a:bodyPr/>
                    <a:lstStyle/>
                    <a:p>
                      <a:pPr algn="l"/>
                      <a:r>
                        <a:rPr lang="en-US" sz="900" b="1" dirty="0">
                          <a:solidFill>
                            <a:schemeClr val="tx1"/>
                          </a:solidFill>
                        </a:rPr>
                        <a:t>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1835710"/>
                  </a:ext>
                </a:extLst>
              </a:tr>
              <a:tr h="150243">
                <a:tc gridSpan="2">
                  <a:txBody>
                    <a:bodyPr/>
                    <a:lstStyle/>
                    <a:p>
                      <a:pPr algn="l"/>
                      <a:r>
                        <a:rPr lang="en-US" sz="900" b="1" dirty="0">
                          <a:solidFill>
                            <a:srgbClr val="67605B"/>
                          </a:solidFill>
                        </a:rPr>
                        <a:t>SaaS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$8.0M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60%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8939904"/>
                  </a:ext>
                </a:extLst>
              </a:tr>
              <a:tr h="150243">
                <a:tc gridSpan="2">
                  <a:txBody>
                    <a:bodyPr/>
                    <a:lstStyle/>
                    <a:p>
                      <a:pPr algn="l"/>
                      <a:r>
                        <a:rPr lang="en-US" sz="900" b="1" dirty="0">
                          <a:solidFill>
                            <a:srgbClr val="67605B"/>
                          </a:solidFill>
                        </a:rPr>
                        <a:t>PaaS/IaaS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$4.0M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50%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1210498"/>
                  </a:ext>
                </a:extLst>
              </a:tr>
              <a:tr h="150243">
                <a:tc gridSpan="2">
                  <a:txBody>
                    <a:bodyPr/>
                    <a:lstStyle/>
                    <a:p>
                      <a:pPr algn="l"/>
                      <a:r>
                        <a:rPr lang="en-US" sz="900" b="1" dirty="0">
                          <a:solidFill>
                            <a:srgbClr val="67605B"/>
                          </a:solidFill>
                        </a:rPr>
                        <a:t>Other</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274853"/>
                  </a:ext>
                </a:extLst>
              </a:tr>
              <a:tr h="150243">
                <a:tc gridSpan="2">
                  <a:txBody>
                    <a:bodyPr/>
                    <a:lstStyle/>
                    <a:p>
                      <a:pPr algn="l"/>
                      <a:r>
                        <a:rPr lang="en-US" sz="900" b="1" dirty="0">
                          <a:solidFill>
                            <a:schemeClr val="tx1"/>
                          </a:solidFill>
                        </a:rPr>
                        <a:t>GBU</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0505797"/>
                  </a:ext>
                </a:extLst>
              </a:tr>
              <a:tr h="150243">
                <a:tc gridSpan="2">
                  <a:txBody>
                    <a:bodyPr/>
                    <a:lstStyle/>
                    <a:p>
                      <a:pPr algn="l"/>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7692486"/>
                  </a:ext>
                </a:extLst>
              </a:tr>
              <a:tr h="150243">
                <a:tc gridSpan="2">
                  <a:txBody>
                    <a:bodyPr/>
                    <a:lstStyle/>
                    <a:p>
                      <a:pPr algn="l"/>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2">
                  <a:txBody>
                    <a:bodyPr/>
                    <a:lstStyle/>
                    <a:p>
                      <a:r>
                        <a:t>$2.0M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r>
                        <a:t>65%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7955604"/>
                  </a:ext>
                </a:extLst>
              </a:tr>
              <a:tr h="258934">
                <a:tc gridSpan="4">
                  <a:txBody>
                    <a:bodyPr/>
                    <a:lstStyle/>
                    <a:p>
                      <a:pPr algn="l"/>
                      <a:r>
                        <a:rPr lang="en-US" sz="900" b="1" dirty="0">
                          <a:solidFill>
                            <a:schemeClr val="tx1"/>
                          </a:solidFill>
                        </a:rPr>
                        <a:t>Total Deals Size (License &amp; Cloud TCV)</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$14M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Customer Segment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Strategic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125458006"/>
                  </a:ext>
                </a:extLst>
              </a:tr>
              <a:tr h="150243">
                <a:tc gridSpan="4">
                  <a:txBody>
                    <a:bodyPr/>
                    <a:lstStyle/>
                    <a:p>
                      <a:pPr algn="l"/>
                      <a:r>
                        <a:rPr lang="en-US" sz="900" b="1" dirty="0">
                          <a:solidFill>
                            <a:schemeClr val="tx1"/>
                          </a:solidFill>
                        </a:rPr>
                        <a:t>Total Addressable Market (TAM)</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$95M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Avg Annual BriefingIQ Spend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$6.4M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569600413"/>
                  </a:ext>
                </a:extLst>
              </a:tr>
              <a:tr h="150243">
                <a:tc gridSpan="4">
                  <a:txBody>
                    <a:bodyPr/>
                    <a:lstStyle/>
                    <a:p>
                      <a:pPr algn="l"/>
                      <a:r>
                        <a:rPr lang="en-US" sz="900" b="1" dirty="0">
                          <a:solidFill>
                            <a:schemeClr val="tx1"/>
                          </a:solidFill>
                        </a:rPr>
                        <a:t>Annual Company Revenue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gridSpan="3">
                  <a:txBody>
                    <a:bodyPr/>
                    <a:lstStyle/>
                    <a:p>
                      <a:r>
                        <a:t>$42B</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gridSpan="2">
                  <a:txBody>
                    <a:bodyPr/>
                    <a:lstStyle/>
                    <a:p>
                      <a:pPr algn="l"/>
                      <a:r>
                        <a:rPr lang="en-US" sz="900" b="1" dirty="0">
                          <a:solidFill>
                            <a:schemeClr val="tx1"/>
                          </a:solidFill>
                        </a:rPr>
                        <a:t>Share of Wallet (SOW) %</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a:txBody>
                    <a:bodyPr/>
                    <a:lstStyle/>
                    <a:p>
                      <a:r>
                        <a:t>0.03%</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extLst>
                  <a:ext uri="{0D108BD9-81ED-4DB2-BD59-A6C34878D82A}">
                    <a16:rowId xmlns:a16="http://schemas.microsoft.com/office/drawing/2014/main" val="951474957"/>
                  </a:ext>
                </a:extLst>
              </a:tr>
              <a:tr h="183583">
                <a:tc gridSpan="10">
                  <a:txBody>
                    <a:bodyPr/>
                    <a:lstStyle/>
                    <a:p>
                      <a:pPr algn="ctr"/>
                      <a:r>
                        <a:rPr lang="en-US" sz="900" b="1" dirty="0">
                          <a:solidFill>
                            <a:schemeClr val="tx1"/>
                          </a:solidFill>
                        </a:rPr>
                        <a:t>Product Footprint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l"/>
                      <a:endParaRPr lang="en-US" sz="900" b="1" dirty="0">
                        <a:solidFill>
                          <a:schemeClr val="tx1"/>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T w="12700" cap="flat" cmpd="sng" algn="ctr">
                      <a:solidFill>
                        <a:srgbClr val="2C5967"/>
                      </a:solidFill>
                      <a:prstDash val="solid"/>
                      <a:round/>
                      <a:headEnd type="none" w="med" len="med"/>
                      <a:tailEnd type="none" w="med" len="med"/>
                    </a:lnT>
                  </a:tcPr>
                </a:tc>
                <a:tc hMerge="1">
                  <a:txBody>
                    <a:bodyPr/>
                    <a:lstStyle/>
                    <a:p>
                      <a:pPr algn="ctr"/>
                      <a:endParaRPr lang="en-US" sz="900" dirty="0">
                        <a:solidFill>
                          <a:srgbClr val="67605B"/>
                        </a:solidFill>
                      </a:endParaRP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62027050"/>
                  </a:ext>
                </a:extLst>
              </a:tr>
              <a:tr h="291301">
                <a:tc gridSpan="3">
                  <a:txBody>
                    <a:bodyPr/>
                    <a:lstStyle/>
                    <a:p>
                      <a:pPr algn="ctr"/>
                      <a:r>
                        <a:rPr lang="en-US" sz="900" b="1" dirty="0">
                          <a:solidFill>
                            <a:srgbClr val="2C5967"/>
                          </a:solidFill>
                        </a:rPr>
                        <a:t>Product Pillar</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endParaRPr lang="en-US"/>
                    </a:p>
                  </a:txBody>
                  <a:tcPr>
                    <a:lnL w="12700" cap="flat" cmpd="sng" algn="ctr">
                      <a:solidFill>
                        <a:schemeClr val="bg1"/>
                      </a:solidFill>
                      <a:prstDash val="solid"/>
                      <a:round/>
                      <a:headEnd type="none" w="med" len="med"/>
                      <a:tailEnd type="none" w="med" len="med"/>
                    </a:lnL>
                  </a:tcPr>
                </a:tc>
                <a:tc gridSpan="2">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a:r>
                        <a:rPr lang="en-US" sz="900" b="1" dirty="0">
                          <a:solidFill>
                            <a:srgbClr val="2C5967"/>
                          </a:solidFill>
                        </a:rPr>
                        <a:t>Existing Footprint</a:t>
                      </a:r>
                      <a:br>
                        <a:rPr lang="en-US" sz="900" b="1" dirty="0">
                          <a:solidFill>
                            <a:srgbClr val="2C5967"/>
                          </a:solidFill>
                        </a:rPr>
                      </a:br>
                      <a:r>
                        <a:rPr lang="en-US" sz="900" b="1" dirty="0">
                          <a:solidFill>
                            <a:srgbClr val="2C5967"/>
                          </a:solidFill>
                        </a:rPr>
                        <a:t>(Product)</a:t>
                      </a:r>
                      <a:endParaRPr lang="en-US" sz="10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r>
                        <a:rPr lang="en-US" sz="900" b="1">
                          <a:solidFill>
                            <a:srgbClr val="2C5967"/>
                          </a:solidFill>
                        </a:rPr>
                        <a:t>Existing Footprint (Product)</a:t>
                      </a: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lumMod val="10000"/>
                        <a:lumOff val="90000"/>
                      </a:schemeClr>
                    </a:solidFill>
                  </a:tcPr>
                </a:tc>
                <a:tc gridSpan="2">
                  <a:txBody>
                    <a:bodyPr/>
                    <a:lstStyle/>
                    <a:p>
                      <a:pPr algn="ctr"/>
                      <a:r>
                        <a:rPr lang="en-US" sz="900" b="1" dirty="0">
                          <a:solidFill>
                            <a:srgbClr val="2C5967"/>
                          </a:solidFill>
                        </a:rPr>
                        <a:t>Competitors</a:t>
                      </a:r>
                      <a:br>
                        <a:rPr lang="en-US" sz="900" b="1" dirty="0">
                          <a:solidFill>
                            <a:srgbClr val="2C5967"/>
                          </a:solidFill>
                        </a:rPr>
                      </a:br>
                      <a:r>
                        <a:rPr lang="en-US" sz="900" b="1" dirty="0">
                          <a:solidFill>
                            <a:srgbClr val="2C5967"/>
                          </a:solidFill>
                        </a:rPr>
                        <a:t>(Product)</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Competitors (</a:t>
                      </a:r>
                      <a:r>
                        <a:rPr lang="en-US" sz="900" b="1" dirty="0" err="1">
                          <a:solidFill>
                            <a:srgbClr val="2C5967"/>
                          </a:solidFill>
                        </a:rPr>
                        <a:t>Productr</a:t>
                      </a:r>
                      <a:r>
                        <a:rPr lang="en-US" sz="900" b="1" dirty="0">
                          <a:solidFill>
                            <a:srgbClr val="2C5967"/>
                          </a:solidFill>
                        </a:rPr>
                        <a: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2860817"/>
                  </a:ext>
                </a:extLst>
              </a:tr>
              <a:tr h="229653">
                <a:tc rowSpan="5">
                  <a:txBody>
                    <a:bodyPr/>
                    <a:lstStyle/>
                    <a:p>
                      <a:pPr algn="ctr"/>
                      <a:r>
                        <a:rPr lang="en-US" sz="900" b="1" dirty="0">
                          <a:solidFill>
                            <a:schemeClr val="tx1"/>
                          </a:solidFill>
                        </a:rPr>
                        <a:t>Software &amp; 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Applications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noFill/>
                  </a:tcPr>
                </a:tc>
                <a:tc gridSpan="2">
                  <a:txBody>
                    <a:bodyPr/>
                    <a:lstStyle/>
                    <a:p>
                      <a:r>
                        <a:t>$3.0M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BriefingIQ Retail (partial)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SAP, Manhattan</a:t>
                      </a:r>
                    </a:p>
                  </a:txBody>
                  <a:tcPr>
                    <a:lnL w="12700" cap="flat" cmpd="sng" algn="ctr">
                      <a:solidFill>
                        <a:schemeClr val="tx1">
                          <a:lumMod val="10000"/>
                          <a:lumOff val="90000"/>
                        </a:schemeClr>
                      </a:solidFill>
                      <a:prstDash val="solid"/>
                      <a:round/>
                      <a:headEnd type="none" w="med" len="med"/>
                      <a:tailEnd type="none" w="med" len="med"/>
                    </a:lnL>
                    <a:lnT>
                      <a:noFill/>
                    </a:lnT>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a:noFill/>
                    </a:lnT>
                  </a:tcPr>
                </a:tc>
                <a:extLst>
                  <a:ext uri="{0D108BD9-81ED-4DB2-BD59-A6C34878D82A}">
                    <a16:rowId xmlns:a16="http://schemas.microsoft.com/office/drawing/2014/main" val="924429248"/>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Database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$3.4M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Exadata</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Snowflake</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35319978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Middleware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24432615"/>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814629311"/>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PaaS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dirty="0"/>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860978898"/>
                  </a:ext>
                </a:extLst>
              </a:tr>
              <a:tr h="229653">
                <a:tc gridSpan="3">
                  <a:txBody>
                    <a:bodyPr/>
                    <a:lstStyle/>
                    <a:p>
                      <a:pPr algn="r"/>
                      <a:r>
                        <a:rPr lang="en-US" sz="900" b="1" dirty="0">
                          <a:solidFill>
                            <a:schemeClr val="tx1"/>
                          </a:solidFill>
                        </a:rPr>
                        <a:t>IaaS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7218750"/>
                  </a:ext>
                </a:extLst>
              </a:tr>
              <a:tr h="229653">
                <a:tc rowSpan="3">
                  <a:txBody>
                    <a:bodyPr/>
                    <a:lstStyle/>
                    <a:p>
                      <a:pPr algn="ctr"/>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Engineered Systems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1640764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Servers – Exclude ES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061991599"/>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Storage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612838464"/>
                  </a:ext>
                </a:extLst>
              </a:tr>
              <a:tr h="229653">
                <a:tc gridSpan="3">
                  <a:txBody>
                    <a:bodyPr/>
                    <a:lstStyle/>
                    <a:p>
                      <a:pPr algn="r"/>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17550448"/>
                  </a:ext>
                </a:extLst>
              </a:tr>
              <a:tr h="229653">
                <a:tc gridSpan="3">
                  <a:txBody>
                    <a:bodyPr/>
                    <a:lstStyle/>
                    <a:p>
                      <a:pPr algn="r"/>
                      <a:r>
                        <a:rPr lang="en-US" sz="900" b="1" dirty="0">
                          <a:solidFill>
                            <a:schemeClr val="tx1"/>
                          </a:solidFill>
                        </a:rPr>
                        <a:t>Other</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530364602"/>
                  </a:ext>
                </a:extLst>
              </a:tr>
            </a:tbl>
          </a:graphicData>
        </a:graphic>
      </p:graphicFrame>
      <p:sp>
        <p:nvSpPr>
          <p:cNvPr id="2" name="TextBox 1">
            <a:extLst>
              <a:ext uri="{FF2B5EF4-FFF2-40B4-BE49-F238E27FC236}">
                <a16:creationId xmlns:a16="http://schemas.microsoft.com/office/drawing/2014/main" id="{88067B93-6AB8-723F-6ED4-82078C4B168C}"/>
              </a:ext>
            </a:extLst>
          </p:cNvPr>
          <p:cNvSpPr txBox="1"/>
          <p:nvPr/>
        </p:nvSpPr>
        <p:spPr>
          <a:xfrm>
            <a:off x="4978400" y="0"/>
            <a:ext cx="2794000" cy="369332"/>
          </a:xfrm>
          <a:prstGeom prst="rect">
            <a:avLst/>
          </a:prstGeom>
          <a:solidFill>
            <a:schemeClr val="accent2">
              <a:lumMod val="40000"/>
              <a:lumOff val="60000"/>
            </a:schemeClr>
          </a:solidFill>
        </p:spPr>
        <p:txBody>
          <a:bodyPr wrap="square" rtlCol="0">
            <a:spAutoFit/>
          </a:bodyPr>
          <a:lstStyle/>
          <a:p>
            <a:pPr algn="r"/>
            <a:r>
              <a:rPr lang="en-US" sz="900" b="1" i="1" dirty="0"/>
              <a:t>NOTE: Financials are planned to be available via a Customer Profile / Exec Dashboard in FY24</a:t>
            </a:r>
          </a:p>
        </p:txBody>
      </p:sp>
    </p:spTree>
    <p:extLst>
      <p:ext uri="{BB962C8B-B14F-4D97-AF65-F5344CB8AC3E}">
        <p14:creationId xmlns:p14="http://schemas.microsoft.com/office/powerpoint/2010/main" val="11348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Redwood_stripped">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Lst>
  <a:extLst>
    <a:ext uri="{05A4C25C-085E-4340-85A3-A5531E510DB2}">
      <thm15:themeFamily xmlns:thm15="http://schemas.microsoft.com/office/thememl/2012/main" name="Executive Briefing Document Template" id="{AF9E81D2-4060-5849-94C1-99B370E0B450}" vid="{6B0EACC5-4AF0-7547-89FC-E147119284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29476</TotalTime>
  <Words>3118</Words>
  <Application>Microsoft Macintosh PowerPoint</Application>
  <PresentationFormat>Custom</PresentationFormat>
  <Paragraphs>277</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Oracle Sans</vt:lpstr>
      <vt:lpstr>Oracle Sans Tab</vt:lpstr>
      <vt:lpstr>System Font Regular</vt:lpstr>
      <vt:lpstr>1_Redwood_stripped</vt:lpstr>
      <vt:lpstr>PowerPoint Presentation</vt:lpstr>
      <vt:lpstr>PowerPoint Presentation</vt:lpstr>
      <vt:lpstr>PowerPoint Presentation</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Brittany Schmigel</dc:creator>
  <cp:lastModifiedBy>Lisa Kalfayan</cp:lastModifiedBy>
  <cp:revision>130</cp:revision>
  <dcterms:created xsi:type="dcterms:W3CDTF">2020-07-31T18:38:26Z</dcterms:created>
  <dcterms:modified xsi:type="dcterms:W3CDTF">2023-06-13T22:47:40Z</dcterms:modified>
</cp:coreProperties>
</file>