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ink/ink1.xml" ContentType="application/inkml+xml"/>
  <Override PartName="/ppt/ink/ink2.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7"/>
  </p:notesMasterIdLst>
  <p:sldIdLst>
    <p:sldId id="262" r:id="rId2"/>
    <p:sldId id="266" r:id="rId3"/>
    <p:sldId id="263" r:id="rId4"/>
    <p:sldId id="264" r:id="rId5"/>
    <p:sldId id="265" r:id="rId6"/>
  </p:sldIdLst>
  <p:sldSz cx="7772400" cy="1005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AE8"/>
    <a:srgbClr val="5678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49" autoAdjust="0"/>
    <p:restoredTop sz="93792" autoAdjust="0"/>
  </p:normalViewPr>
  <p:slideViewPr>
    <p:cSldViewPr snapToGrid="0">
      <p:cViewPr varScale="1">
        <p:scale>
          <a:sx n="84" d="100"/>
          <a:sy n="84" d="100"/>
        </p:scale>
        <p:origin x="3752" y="200"/>
      </p:cViewPr>
      <p:guideLst/>
    </p:cSldViewPr>
  </p:slideViewPr>
  <p:notesTextViewPr>
    <p:cViewPr>
      <p:scale>
        <a:sx n="1" d="1"/>
        <a:sy n="1" d="1"/>
      </p:scale>
      <p:origin x="0" y="0"/>
    </p:cViewPr>
  </p:notesTextViewPr>
  <p:notesViewPr>
    <p:cSldViewPr snapToGrid="0" showGuides="1">
      <p:cViewPr varScale="1">
        <p:scale>
          <a:sx n="97" d="100"/>
          <a:sy n="97" d="100"/>
        </p:scale>
        <p:origin x="4328" y="20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6"/>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4-25T15:18:03.788"/>
    </inkml:context>
    <inkml:brush xml:id="br0">
      <inkml:brushProperty name="width" value="0.025" units="cm"/>
      <inkml:brushProperty name="height" value="0.025" units="cm"/>
      <inkml:brushProperty name="color" value="#006666"/>
      <inkml:brushProperty name="ignorePressure" value="1"/>
    </inkml:brush>
  </inkml:definitions>
  <inkml:trace contextRef="#ctx0" brushRef="#br0">0 1,'4'0,"1"0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81B0A-E192-416E-A90F-59D34D9F0B49}" type="datetimeFigureOut">
              <a:rPr lang="en-US" smtClean="0"/>
              <a:t>6/13/23</a:t>
            </a:fld>
            <a:endParaRPr lang="en-US" dirty="0"/>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08E823-96DC-4430-91CE-09AFABFC50B8}" type="slidenum">
              <a:rPr lang="en-US" smtClean="0"/>
              <a:t>‹#›</a:t>
            </a:fld>
            <a:endParaRPr lang="en-US" dirty="0"/>
          </a:p>
        </p:txBody>
      </p:sp>
    </p:spTree>
    <p:extLst>
      <p:ext uri="{BB962C8B-B14F-4D97-AF65-F5344CB8AC3E}">
        <p14:creationId xmlns:p14="http://schemas.microsoft.com/office/powerpoint/2010/main" val="1109597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my.oracle.com/site/fin/gfo/GlobalProcesses/LMS/index.htm" TargetMode="External"/><Relationship Id="rId4" Type="http://schemas.openxmlformats.org/officeDocument/2006/relationships/hyperlink" Target="https://my.oracle.com/site/fin/gfo/SIA/index.htm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4970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2752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1336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9369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Instructions and hints for template use:</a:t>
            </a:r>
          </a:p>
          <a:p>
            <a:pPr marL="171450" indent="-171450">
              <a:buFont typeface="Arial" panose="020B0604020202020204" pitchFamily="34" charset="0"/>
              <a:buChar char="•"/>
            </a:pPr>
            <a:r>
              <a:rPr lang="en-US" dirty="0"/>
              <a:t>Replace Oracle logo with logo for company. Delete the logo that is currently there. Go to insert menu, click on picture, and then navigate to where the logo is saved on your hard drive. Resize so it fits in the spot allocated on the template. Make it no wider than 1.1 (you can resize if you double click on the logo so that the picture format tab opens, and then navigate where its says “size” and change the width to 1.1 or 1.12.</a:t>
            </a:r>
          </a:p>
          <a:p>
            <a:pPr marL="171450" indent="-171450">
              <a:buFont typeface="Arial" panose="020B0604020202020204" pitchFamily="34" charset="0"/>
              <a:buChar char="•"/>
            </a:pPr>
            <a:r>
              <a:rPr lang="en-US" dirty="0"/>
              <a:t>Replace customer images with photos of the customer you will be meeting with. Delete the photo that is there. Go to the insert ribbon on the top and click on picture. Navigate to where the picture is saved on your hard drive. Insert the picture onto the page. Double click on the picture which will open up the picture ribbon. You will want the picture to be square. If it is not:</a:t>
            </a:r>
          </a:p>
          <a:p>
            <a:pPr marL="628650" lvl="1" indent="-171450">
              <a:buFont typeface="Arial" panose="020B0604020202020204" pitchFamily="34" charset="0"/>
              <a:buChar char="•"/>
            </a:pPr>
            <a:r>
              <a:rPr lang="en-US" dirty="0"/>
              <a:t>Move to the crop tool. An arrow will appear underneath it. Click on that arrow. Click on “Aspect Ratio” and then “1:1”. This will make your image a perfect square. Then move to size, and make sure that the width and height are sized at .95. Move the new image into position.</a:t>
            </a:r>
          </a:p>
          <a:p>
            <a:pPr marL="171450" lvl="0" indent="-171450">
              <a:buFont typeface="Arial" panose="020B0604020202020204" pitchFamily="34" charset="0"/>
              <a:buChar char="•"/>
            </a:pPr>
            <a:r>
              <a:rPr lang="en-US" dirty="0"/>
              <a:t>If you do not need any of the additional spaces for your customer meeting, then delete any of the items you do not need.</a:t>
            </a:r>
          </a:p>
          <a:p>
            <a:pPr marL="171450" lvl="0" indent="-171450">
              <a:buFont typeface="Arial" panose="020B0604020202020204" pitchFamily="34" charset="0"/>
              <a:buChar char="•"/>
            </a:pPr>
            <a:r>
              <a:rPr lang="en-US" dirty="0"/>
              <a:t>When pasting text in – right click on the field that you would like to paste the text into. Choose the option that is all the way on the right under paste – “Keep Text Only”. That will allow you to insert the text and keep the formatting in the table.</a:t>
            </a:r>
          </a:p>
          <a:p>
            <a:pPr marL="171450" lvl="0" indent="-171450">
              <a:buFont typeface="Arial" panose="020B0604020202020204" pitchFamily="34" charset="0"/>
              <a:buChar char="•"/>
            </a:pPr>
            <a:r>
              <a:rPr lang="en-US" dirty="0"/>
              <a:t>The font type should be Oracle Sans throughout.</a:t>
            </a:r>
          </a:p>
          <a:p>
            <a:pPr marL="171450" lvl="0" indent="-171450">
              <a:buFont typeface="Arial" panose="020B0604020202020204" pitchFamily="34" charset="0"/>
              <a:buChar char="•"/>
            </a:pPr>
            <a:endParaRPr lang="en-US" dirty="0"/>
          </a:p>
          <a:p>
            <a:r>
              <a:rPr lang="en-US" b="1" dirty="0"/>
              <a:t>Additional information:</a:t>
            </a:r>
          </a:p>
          <a:p>
            <a:pPr marL="171450" indent="-171450">
              <a:buFont typeface="Arial" panose="020B0604020202020204" pitchFamily="34" charset="0"/>
              <a:buChar char="•"/>
            </a:pPr>
            <a:r>
              <a:rPr lang="en-US" dirty="0"/>
              <a:t>License Management Services Homepage: </a:t>
            </a:r>
            <a:r>
              <a:rPr lang="en-US" dirty="0">
                <a:hlinkClick r:id="rId3"/>
              </a:rPr>
              <a:t>https://my.oracle.com/site/fin/gfo/GlobalProcesses/LMS/index.htm</a:t>
            </a:r>
            <a:endParaRPr lang="en-US" dirty="0"/>
          </a:p>
          <a:p>
            <a:pPr marL="171450" indent="-171450">
              <a:buFont typeface="Arial" panose="020B0604020202020204" pitchFamily="34" charset="0"/>
              <a:buChar char="•"/>
            </a:pPr>
            <a:r>
              <a:rPr lang="en-US" dirty="0"/>
              <a:t>Software Investment Advisor Homepage: </a:t>
            </a:r>
            <a:r>
              <a:rPr lang="en-US" dirty="0">
                <a:hlinkClick r:id="rId4"/>
              </a:rPr>
              <a:t>https://my.oracle.com/site/fin/gfo/SIA/index.html</a:t>
            </a:r>
            <a:endParaRPr lang="en-US" dirty="0"/>
          </a:p>
          <a:p>
            <a:pPr marL="0" lv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08E823-96DC-4430-91CE-09AFABFC50B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6610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my.oracle.com/site/fin/gfo/GlobalProcesses/LMS/index.htm" TargetMode="External"/><Relationship Id="rId3" Type="http://schemas.openxmlformats.org/officeDocument/2006/relationships/hyperlink" Target="https://my.oracle.com/site/fin/gfo/SIA/index.html"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How to Use this Template">
    <p:bg>
      <p:bgPr>
        <a:solidFill>
          <a:schemeClr val="bg2"/>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59F47F-6DEF-B917-1507-E5FFAD84B913}"/>
              </a:ext>
            </a:extLst>
          </p:cNvPr>
          <p:cNvSpPr txBox="1"/>
          <p:nvPr userDrawn="1"/>
        </p:nvSpPr>
        <p:spPr>
          <a:xfrm>
            <a:off x="190501" y="1021424"/>
            <a:ext cx="7391398" cy="276999"/>
          </a:xfrm>
          <a:prstGeom prst="rect">
            <a:avLst/>
          </a:prstGeom>
          <a:noFill/>
        </p:spPr>
        <p:txBody>
          <a:bodyPr wrap="square" lIns="0" tIns="0" rIns="0" bIns="0" rtlCol="0">
            <a:spAutoFit/>
          </a:bodyPr>
          <a:lstStyle/>
          <a:p>
            <a:r>
              <a:rPr lang="en-US" b="1" dirty="0">
                <a:solidFill>
                  <a:srgbClr val="2C5967"/>
                </a:solidFill>
                <a:latin typeface="Oracle Sans Tab" panose="020B0503020204020204" pitchFamily="34" charset="0"/>
                <a:cs typeface="Oracle Sans Tab" panose="020B0503020204020204" pitchFamily="34" charset="0"/>
              </a:rPr>
              <a:t>Best Practices</a:t>
            </a:r>
          </a:p>
        </p:txBody>
      </p:sp>
      <p:sp>
        <p:nvSpPr>
          <p:cNvPr id="6" name="TextBox 5">
            <a:extLst>
              <a:ext uri="{FF2B5EF4-FFF2-40B4-BE49-F238E27FC236}">
                <a16:creationId xmlns:a16="http://schemas.microsoft.com/office/drawing/2014/main" id="{B441DECE-FA24-F40C-5172-4D877DF27D7B}"/>
              </a:ext>
            </a:extLst>
          </p:cNvPr>
          <p:cNvSpPr txBox="1"/>
          <p:nvPr userDrawn="1"/>
        </p:nvSpPr>
        <p:spPr>
          <a:xfrm>
            <a:off x="190500" y="1487374"/>
            <a:ext cx="7391399" cy="7699544"/>
          </a:xfrm>
          <a:prstGeom prst="rect">
            <a:avLst/>
          </a:prstGeom>
          <a:noFill/>
        </p:spPr>
        <p:txBody>
          <a:bodyPr wrap="square" lIns="0" rIns="0" rtlCol="0">
            <a:spAutoFit/>
          </a:bodyPr>
          <a:lstStyle/>
          <a:p>
            <a:pPr>
              <a:spcAft>
                <a:spcPts val="1000"/>
              </a:spcAft>
            </a:pPr>
            <a:r>
              <a:rPr lang="en-US" sz="1200" dirty="0">
                <a:latin typeface="Oracle Sans Tab" panose="020B0503020204020204" pitchFamily="34" charset="0"/>
                <a:cs typeface="Oracle Sans Tab" panose="020B0503020204020204" pitchFamily="34" charset="0"/>
              </a:rPr>
              <a:t>The Executive Briefing Document is required to qualify a meeting request both by the Oracle executive management teams and the CVC. This document provides pertinent and valuable insights detailing meeting objectives, current business condition, and strategy, along with any challenges. Providing complete and accurate information will create an effective and targeted meeting, fully addressing the Customer’s meeting objectives</a:t>
            </a:r>
            <a:endParaRPr lang="en-US" sz="1600" dirty="0">
              <a:latin typeface="Oracle Sans Tab" panose="020B0503020204020204" pitchFamily="34" charset="0"/>
              <a:cs typeface="Oracle Sans Tab" panose="020B0503020204020204" pitchFamily="34" charset="0"/>
            </a:endParaRPr>
          </a:p>
          <a:p>
            <a:pPr>
              <a:spcAft>
                <a:spcPts val="1000"/>
              </a:spcAft>
            </a:pPr>
            <a:endParaRPr lang="en-US" sz="1200" b="1"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Best Practices:  Filling out the Document</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Please delete this page prior to submitting.</a:t>
            </a:r>
          </a:p>
          <a:p>
            <a:pPr marL="176213" indent="-168275">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Please submit this completed document with your engagement request. This document is required for all executive engagements.</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Make sure meeting objectives, business challenges, topics of interest, etc.  are concise.</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Provide the most up-to-date opportunity and product footprint info.</a:t>
            </a:r>
          </a:p>
          <a:p>
            <a:pPr marL="176213" indent="-168275">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Include customer reference proof points that are relevant to the customer’s transformation and industry.</a:t>
            </a:r>
          </a:p>
          <a:p>
            <a:pPr marL="7938">
              <a:spcAft>
                <a:spcPts val="1000"/>
              </a:spcAft>
            </a:pPr>
            <a:endParaRPr lang="en-US" sz="1200" b="1" dirty="0">
              <a:latin typeface="Oracle Sans Tab" panose="020B0503020204020204" pitchFamily="34" charset="0"/>
              <a:cs typeface="Oracle Sans Tab" panose="020B0503020204020204" pitchFamily="34" charset="0"/>
            </a:endParaRPr>
          </a:p>
          <a:p>
            <a:pPr marL="7938">
              <a:spcAft>
                <a:spcPts val="1000"/>
              </a:spcAft>
            </a:pPr>
            <a:r>
              <a:rPr lang="en-US" sz="1200" b="1" dirty="0">
                <a:latin typeface="Oracle Sans Tab" panose="020B0503020204020204" pitchFamily="34" charset="0"/>
                <a:cs typeface="Oracle Sans Tab" panose="020B0503020204020204" pitchFamily="34" charset="0"/>
              </a:rPr>
              <a:t>Best Practices:  Formatting the Document</a:t>
            </a:r>
            <a:endParaRPr lang="en-US" sz="1200" dirty="0">
              <a:latin typeface="Oracle Sans Tab" panose="020B0503020204020204" pitchFamily="34" charset="0"/>
              <a:cs typeface="Oracle Sans Tab" panose="020B0503020204020204" pitchFamily="34" charset="0"/>
            </a:endParaRP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If you do not need any of the additional spaces for your customer meeting, then delete any of the items you do not need.</a:t>
            </a:r>
          </a:p>
          <a:p>
            <a:pPr marL="171450" lvl="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Pasting text:</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Right click on the field that you would like to paste text into. </a:t>
            </a:r>
          </a:p>
          <a:p>
            <a:pPr marL="628650" lvl="1"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Choose the option all the way on the right under paste – “Keep Text Only”. </a:t>
            </a:r>
          </a:p>
          <a:p>
            <a:pPr lvl="1">
              <a:spcAft>
                <a:spcPts val="1000"/>
              </a:spcAft>
            </a:pPr>
            <a:r>
              <a:rPr lang="en-US" sz="1200" dirty="0">
                <a:latin typeface="Oracle Sans Tab" panose="020B0503020204020204" pitchFamily="34" charset="0"/>
                <a:cs typeface="Oracle Sans Tab" panose="020B0503020204020204" pitchFamily="34" charset="0"/>
              </a:rPr>
              <a:t>    This will allow you to insert the text and keep the formatting in the table.</a:t>
            </a:r>
          </a:p>
          <a:p>
            <a:pPr marL="171450" lvl="0" indent="-171450">
              <a:spcAft>
                <a:spcPts val="1000"/>
              </a:spcAft>
              <a:buFont typeface="Arial" panose="020B0604020202020204" pitchFamily="34" charset="0"/>
              <a:buChar char="•"/>
            </a:pPr>
            <a:r>
              <a:rPr lang="en-US" sz="1200" b="1" dirty="0">
                <a:latin typeface="Oracle Sans Tab" panose="020B0503020204020204" pitchFamily="34" charset="0"/>
                <a:cs typeface="Oracle Sans Tab" panose="020B0503020204020204" pitchFamily="34" charset="0"/>
              </a:rPr>
              <a:t>The font type should be Oracle Sans throughout.</a:t>
            </a:r>
          </a:p>
          <a:p>
            <a:pPr lvl="0">
              <a:spcAft>
                <a:spcPts val="1000"/>
              </a:spcAft>
            </a:pPr>
            <a:endParaRPr lang="en-US" sz="1200" dirty="0">
              <a:latin typeface="Oracle Sans Tab" panose="020B0503020204020204" pitchFamily="34" charset="0"/>
              <a:cs typeface="Oracle Sans Tab" panose="020B0503020204020204" pitchFamily="34" charset="0"/>
            </a:endParaRPr>
          </a:p>
          <a:p>
            <a:pPr>
              <a:spcAft>
                <a:spcPts val="1000"/>
              </a:spcAft>
            </a:pPr>
            <a:r>
              <a:rPr lang="en-US" sz="1200" b="1" dirty="0">
                <a:latin typeface="Oracle Sans Tab" panose="020B0503020204020204" pitchFamily="34" charset="0"/>
                <a:cs typeface="Oracle Sans Tab" panose="020B0503020204020204" pitchFamily="34" charset="0"/>
              </a:rPr>
              <a:t>Additional information:</a:t>
            </a: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License Management Services Homepage: </a:t>
            </a:r>
            <a:r>
              <a:rPr lang="en-US" sz="1200" dirty="0">
                <a:latin typeface="Oracle Sans Tab" panose="020B0503020204020204" pitchFamily="34" charset="0"/>
                <a:cs typeface="Oracle Sans Tab" panose="020B0503020204020204" pitchFamily="34" charset="0"/>
                <a:hlinkClick r:id="rId2"/>
              </a:rPr>
              <a:t>https://my.oracle.com/site/fin/gfo/GlobalProcesses/LMS/index.htm</a:t>
            </a:r>
            <a:endParaRPr lang="en-US" sz="1200" dirty="0">
              <a:latin typeface="Oracle Sans Tab" panose="020B0503020204020204" pitchFamily="34" charset="0"/>
              <a:cs typeface="Oracle Sans Tab" panose="020B0503020204020204" pitchFamily="34" charset="0"/>
            </a:endParaRPr>
          </a:p>
          <a:p>
            <a:pPr marL="171450" indent="-171450">
              <a:spcAft>
                <a:spcPts val="1000"/>
              </a:spcAft>
              <a:buFont typeface="Arial" panose="020B0604020202020204" pitchFamily="34" charset="0"/>
              <a:buChar char="•"/>
            </a:pPr>
            <a:r>
              <a:rPr lang="en-US" sz="1200" dirty="0">
                <a:latin typeface="Oracle Sans Tab" panose="020B0503020204020204" pitchFamily="34" charset="0"/>
                <a:cs typeface="Oracle Sans Tab" panose="020B0503020204020204" pitchFamily="34" charset="0"/>
              </a:rPr>
              <a:t>Software Investment Advisor Homepage: </a:t>
            </a:r>
            <a:r>
              <a:rPr lang="en-US" sz="1200" dirty="0">
                <a:latin typeface="Oracle Sans Tab" panose="020B0503020204020204" pitchFamily="34" charset="0"/>
                <a:cs typeface="Oracle Sans Tab" panose="020B0503020204020204" pitchFamily="34" charset="0"/>
                <a:hlinkClick r:id="rId3"/>
              </a:rPr>
              <a:t>https://my.oracle.com/site/fin/gfo/SIA/index.html</a:t>
            </a:r>
            <a:endParaRPr lang="en-US" sz="1200" dirty="0">
              <a:latin typeface="Oracle Sans Tab" panose="020B0503020204020204" pitchFamily="34" charset="0"/>
              <a:cs typeface="Oracle Sans Tab" panose="020B0503020204020204" pitchFamily="34" charset="0"/>
            </a:endParaRPr>
          </a:p>
        </p:txBody>
      </p:sp>
    </p:spTree>
    <p:extLst>
      <p:ext uri="{BB962C8B-B14F-4D97-AF65-F5344CB8AC3E}">
        <p14:creationId xmlns:p14="http://schemas.microsoft.com/office/powerpoint/2010/main" val="309906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 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113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230FEE-C563-4D59-AC5A-2772635D491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206728" y="9674318"/>
            <a:ext cx="384082" cy="384082"/>
          </a:xfrm>
          <a:prstGeom prst="rect">
            <a:avLst/>
          </a:prstGeom>
        </p:spPr>
      </p:pic>
      <p:pic>
        <p:nvPicPr>
          <p:cNvPr id="8" name="Picture 7">
            <a:extLst>
              <a:ext uri="{FF2B5EF4-FFF2-40B4-BE49-F238E27FC236}">
                <a16:creationId xmlns:a16="http://schemas.microsoft.com/office/drawing/2014/main" id="{B3C71360-1220-3AAC-BF2E-BD55DF1DA28A}"/>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0" y="-1"/>
            <a:ext cx="7772400" cy="207193"/>
          </a:xfrm>
          <a:prstGeom prst="rect">
            <a:avLst/>
          </a:prstGeom>
        </p:spPr>
      </p:pic>
      <p:sp>
        <p:nvSpPr>
          <p:cNvPr id="4" name="TextBox 3">
            <a:extLst>
              <a:ext uri="{FF2B5EF4-FFF2-40B4-BE49-F238E27FC236}">
                <a16:creationId xmlns:a16="http://schemas.microsoft.com/office/drawing/2014/main" id="{F2E08B6F-149E-5F07-CF1D-93DCAB8C04E4}"/>
              </a:ext>
            </a:extLst>
          </p:cNvPr>
          <p:cNvSpPr txBox="1"/>
          <p:nvPr userDrawn="1"/>
        </p:nvSpPr>
        <p:spPr>
          <a:xfrm>
            <a:off x="179389" y="9674317"/>
            <a:ext cx="3758184" cy="169164"/>
          </a:xfrm>
          <a:prstGeom prst="rect">
            <a:avLst/>
          </a:prstGeom>
        </p:spPr>
        <p:txBody>
          <a:bodyPr vert="horz" lIns="0" tIns="0" rIns="0" bIns="0" rtlCol="0" anchor="b"/>
          <a:lstStyle>
            <a:defPPr>
              <a:defRPr lang="en-US"/>
            </a:defPPr>
            <a:lvl1pPr>
              <a:defRPr sz="900">
                <a:solidFill>
                  <a:srgbClr val="8B8580"/>
                </a:solidFill>
              </a:defRPr>
            </a:lvl1pPr>
          </a:lstStyle>
          <a:p>
            <a:pPr lvl="0"/>
            <a:r>
              <a:rPr lang="en-US" dirty="0"/>
              <a:t>Copyright © 2023, Oracle and/or its affiliates  |  Confidential: Restricted</a:t>
            </a:r>
          </a:p>
        </p:txBody>
      </p:sp>
      <p:sp>
        <p:nvSpPr>
          <p:cNvPr id="10" name="TextBox 9">
            <a:extLst>
              <a:ext uri="{FF2B5EF4-FFF2-40B4-BE49-F238E27FC236}">
                <a16:creationId xmlns:a16="http://schemas.microsoft.com/office/drawing/2014/main" id="{38071B4B-6207-75E4-E82D-26827A33F24D}"/>
              </a:ext>
            </a:extLst>
          </p:cNvPr>
          <p:cNvSpPr txBox="1"/>
          <p:nvPr userDrawn="1"/>
        </p:nvSpPr>
        <p:spPr>
          <a:xfrm>
            <a:off x="4084086" y="9674318"/>
            <a:ext cx="2502924" cy="169164"/>
          </a:xfrm>
          <a:prstGeom prst="rect">
            <a:avLst/>
          </a:prstGeom>
        </p:spPr>
        <p:txBody>
          <a:bodyPr vert="horz" lIns="0" tIns="0" rIns="0" bIns="0" rtlCol="0" anchor="b"/>
          <a:lstStyle>
            <a:defPPr>
              <a:defRPr lang="en-US"/>
            </a:defPPr>
            <a:lvl1pPr>
              <a:defRPr sz="900">
                <a:solidFill>
                  <a:srgbClr val="8B8580"/>
                </a:solidFill>
              </a:defRPr>
            </a:lvl1pPr>
          </a:lstStyle>
          <a:p>
            <a:pPr lvl="0"/>
            <a:fld id="{409578D9-D361-A046-B7E4-191350565D45}" type="datetime8">
              <a:rPr lang="en-US" smtClean="0"/>
              <a:t>6/13/23 3:47 PM</a:t>
            </a:fld>
            <a:endParaRPr lang="en-US" dirty="0"/>
          </a:p>
        </p:txBody>
      </p:sp>
      <p:sp>
        <p:nvSpPr>
          <p:cNvPr id="11" name="TextBox 10">
            <a:extLst>
              <a:ext uri="{FF2B5EF4-FFF2-40B4-BE49-F238E27FC236}">
                <a16:creationId xmlns:a16="http://schemas.microsoft.com/office/drawing/2014/main" id="{48732693-C342-472B-843E-82C1C4AE94D3}"/>
              </a:ext>
            </a:extLst>
          </p:cNvPr>
          <p:cNvSpPr txBox="1"/>
          <p:nvPr userDrawn="1"/>
        </p:nvSpPr>
        <p:spPr>
          <a:xfrm>
            <a:off x="179389" y="420034"/>
            <a:ext cx="5990406" cy="307777"/>
          </a:xfrm>
          <a:prstGeom prst="rect">
            <a:avLst/>
          </a:prstGeom>
          <a:noFill/>
        </p:spPr>
        <p:txBody>
          <a:bodyPr wrap="square" lIns="0" tIns="0" rIns="0" bIns="0" rtlCol="0">
            <a:spAutoFit/>
          </a:bodyPr>
          <a:lstStyle/>
          <a:p>
            <a:r>
              <a:rPr lang="en-US" sz="2000" i="1" dirty="0">
                <a:solidFill>
                  <a:srgbClr val="2C5967"/>
                </a:solidFill>
                <a:latin typeface="Oracle Sans" panose="020B0503020204020204" pitchFamily="34" charset="0"/>
                <a:cs typeface="Oracle Sans" panose="020B0503020204020204" pitchFamily="34" charset="0"/>
              </a:rPr>
              <a:t>Executive Briefing Document</a:t>
            </a:r>
          </a:p>
        </p:txBody>
      </p:sp>
      <p:pic>
        <p:nvPicPr>
          <p:cNvPr id="13" name="Picture 12">
            <a:extLst>
              <a:ext uri="{FF2B5EF4-FFF2-40B4-BE49-F238E27FC236}">
                <a16:creationId xmlns:a16="http://schemas.microsoft.com/office/drawing/2014/main" id="{1D1FE7FF-B443-2D54-49B0-FFADA3A41F1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380503" y="421171"/>
            <a:ext cx="1210307" cy="338328"/>
          </a:xfrm>
          <a:prstGeom prst="rect">
            <a:avLst/>
          </a:prstGeom>
        </p:spPr>
      </p:pic>
    </p:spTree>
    <p:extLst>
      <p:ext uri="{BB962C8B-B14F-4D97-AF65-F5344CB8AC3E}">
        <p14:creationId xmlns:p14="http://schemas.microsoft.com/office/powerpoint/2010/main" val="2968834506"/>
      </p:ext>
    </p:extLst>
  </p:cSld>
  <p:clrMap bg1="lt1" tx1="dk1" bg2="lt2" tx2="dk2" accent1="accent1" accent2="accent2" accent3="accent3" accent4="accent4" accent5="accent5" accent6="accent6" hlink="hlink" folHlink="folHlink"/>
  <p:sldLayoutIdLst>
    <p:sldLayoutId id="2147483664" r:id="rId1"/>
    <p:sldLayoutId id="2147483665" r:id="rId2"/>
  </p:sldLayoutIdLst>
  <p:hf sldNum="0" hdr="0"/>
  <p:txStyles>
    <p:titleStyle>
      <a:lvl1pPr algn="l" defTabSz="195517" rtl="0" eaLnBrk="1" latinLnBrk="0" hangingPunct="1">
        <a:lnSpc>
          <a:spcPct val="95000"/>
        </a:lnSpc>
        <a:spcBef>
          <a:spcPct val="0"/>
        </a:spcBef>
        <a:buNone/>
        <a:defRPr sz="1642" kern="1200">
          <a:solidFill>
            <a:schemeClr val="tx1"/>
          </a:solidFill>
          <a:latin typeface="+mj-lt"/>
          <a:ea typeface="+mj-ea"/>
          <a:cs typeface="+mj-cs"/>
        </a:defRPr>
      </a:lvl1pPr>
    </p:titleStyle>
    <p:bodyStyle>
      <a:lvl1pPr marL="0" marR="0" indent="0" algn="l" defTabSz="195517" rtl="0" eaLnBrk="1" fontAlgn="auto" latinLnBrk="0" hangingPunct="1">
        <a:lnSpc>
          <a:spcPct val="95000"/>
        </a:lnSpc>
        <a:spcBef>
          <a:spcPts val="127"/>
        </a:spcBef>
        <a:spcAft>
          <a:spcPts val="0"/>
        </a:spcAft>
        <a:buClrTx/>
        <a:buSzTx/>
        <a:buFont typeface="System Font Regular"/>
        <a:buNone/>
        <a:tabLst/>
        <a:defRPr sz="821" b="0" i="0" kern="1200">
          <a:solidFill>
            <a:schemeClr val="tx1"/>
          </a:solidFill>
          <a:latin typeface="Oracle Sans" panose="020B0503020204020204" pitchFamily="34" charset="0"/>
          <a:ea typeface="+mn-ea"/>
          <a:cs typeface="Oracle Sans" panose="020B0503020204020204" pitchFamily="34" charset="0"/>
        </a:defRPr>
      </a:lvl1pPr>
      <a:lvl2pPr marL="78206" marR="0" indent="-39104" algn="l" defTabSz="195517" rtl="0" eaLnBrk="1" fontAlgn="auto" latinLnBrk="0" hangingPunct="1">
        <a:lnSpc>
          <a:spcPct val="95000"/>
        </a:lnSpc>
        <a:spcBef>
          <a:spcPts val="127"/>
        </a:spcBef>
        <a:spcAft>
          <a:spcPts val="0"/>
        </a:spcAft>
        <a:buClrTx/>
        <a:buSzPct val="100000"/>
        <a:buFont typeface="Arial" panose="020B0604020202020204" pitchFamily="34" charset="0"/>
        <a:buChar char="•"/>
        <a:tabLst/>
        <a:defRPr sz="821" b="0" i="0" kern="1200">
          <a:solidFill>
            <a:schemeClr val="tx1"/>
          </a:solidFill>
          <a:latin typeface="Oracle Sans" panose="020B0503020204020204" pitchFamily="34" charset="0"/>
          <a:ea typeface="+mn-ea"/>
          <a:cs typeface="Oracle Sans" panose="020B0503020204020204" pitchFamily="34" charset="0"/>
        </a:defRPr>
      </a:lvl2pPr>
      <a:lvl3pPr marL="156413" marR="0" indent="-39104" algn="l" defTabSz="195517" rtl="0" eaLnBrk="1" fontAlgn="auto" latinLnBrk="0" hangingPunct="1">
        <a:lnSpc>
          <a:spcPct val="95000"/>
        </a:lnSpc>
        <a:spcBef>
          <a:spcPts val="86"/>
        </a:spcBef>
        <a:spcAft>
          <a:spcPts val="0"/>
        </a:spcAft>
        <a:buClrTx/>
        <a:buSzPct val="120000"/>
        <a:buFont typeface="System Font Regular"/>
        <a:buChar char="-"/>
        <a:tabLst/>
        <a:defRPr sz="821" kern="1200">
          <a:solidFill>
            <a:schemeClr val="tx1"/>
          </a:solidFill>
          <a:latin typeface="Oracle Sans" panose="020B0503020204020204" pitchFamily="34" charset="0"/>
          <a:ea typeface="+mn-ea"/>
          <a:cs typeface="Oracle Sans" panose="020B0503020204020204" pitchFamily="34" charset="0"/>
        </a:defRPr>
      </a:lvl3pPr>
      <a:lvl4pPr marL="234621" marR="0" indent="-39104" algn="l" defTabSz="195517" rtl="0" eaLnBrk="1" fontAlgn="auto" latinLnBrk="0" hangingPunct="1">
        <a:lnSpc>
          <a:spcPct val="95000"/>
        </a:lnSpc>
        <a:spcBef>
          <a:spcPts val="86"/>
        </a:spcBef>
        <a:spcAft>
          <a:spcPts val="0"/>
        </a:spcAft>
        <a:buClrTx/>
        <a:buSzPct val="100000"/>
        <a:buFont typeface="System Font Regular"/>
        <a:buChar char="◦"/>
        <a:tabLst/>
        <a:defRPr sz="720" kern="1200">
          <a:solidFill>
            <a:schemeClr val="tx1"/>
          </a:solidFill>
          <a:latin typeface="Oracle Sans" panose="020B0503020204020204" pitchFamily="34" charset="0"/>
          <a:ea typeface="+mn-ea"/>
          <a:cs typeface="Oracle Sans" panose="020B0503020204020204" pitchFamily="34" charset="0"/>
        </a:defRPr>
      </a:lvl4pPr>
      <a:lvl5pPr marL="312828" marR="0" indent="-39104" algn="l" defTabSz="195517" rtl="0" eaLnBrk="1" fontAlgn="auto" latinLnBrk="0" hangingPunct="1">
        <a:lnSpc>
          <a:spcPct val="95000"/>
        </a:lnSpc>
        <a:spcBef>
          <a:spcPts val="86"/>
        </a:spcBef>
        <a:spcAft>
          <a:spcPts val="0"/>
        </a:spcAft>
        <a:buClrTx/>
        <a:buSzTx/>
        <a:buFont typeface="System Font Regular"/>
        <a:buChar char="•"/>
        <a:tabLst/>
        <a:defRPr sz="615" kern="1200">
          <a:solidFill>
            <a:schemeClr val="tx1"/>
          </a:solidFill>
          <a:latin typeface="Oracle Sans" panose="020B0503020204020204" pitchFamily="34" charset="0"/>
          <a:ea typeface="+mn-ea"/>
          <a:cs typeface="Oracle Sans" panose="020B0503020204020204" pitchFamily="34" charset="0"/>
        </a:defRPr>
      </a:lvl5pPr>
      <a:lvl6pPr marL="391034" indent="-39104" algn="l" defTabSz="195517" rtl="0" eaLnBrk="1" latinLnBrk="0" hangingPunct="1">
        <a:lnSpc>
          <a:spcPct val="95000"/>
        </a:lnSpc>
        <a:spcBef>
          <a:spcPts val="86"/>
        </a:spcBef>
        <a:spcAft>
          <a:spcPts val="0"/>
        </a:spcAft>
        <a:buSzPct val="120000"/>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6pPr>
      <a:lvl7pPr marL="469242" indent="-39104" algn="l" defTabSz="195517" rtl="0" eaLnBrk="1" latinLnBrk="0" hangingPunct="1">
        <a:lnSpc>
          <a:spcPct val="95000"/>
        </a:lnSpc>
        <a:spcBef>
          <a:spcPts val="86"/>
        </a:spcBef>
        <a:spcAft>
          <a:spcPts val="0"/>
        </a:spcAft>
        <a:buFont typeface="System Font Regular"/>
        <a:buChar char="◦"/>
        <a:defRPr sz="615" b="0" i="0" kern="1200">
          <a:solidFill>
            <a:schemeClr val="tx1"/>
          </a:solidFill>
          <a:latin typeface="Oracle Sans" panose="020B0503020204020204" pitchFamily="34" charset="0"/>
          <a:ea typeface="+mn-ea"/>
          <a:cs typeface="Oracle Sans" panose="020B0503020204020204" pitchFamily="34" charset="0"/>
        </a:defRPr>
      </a:lvl7pPr>
      <a:lvl8pPr marL="733189"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8pPr>
      <a:lvl9pPr marL="830950" indent="-48878" algn="l" defTabSz="195517" rtl="0" eaLnBrk="1" latinLnBrk="0" hangingPunct="1">
        <a:lnSpc>
          <a:spcPct val="90000"/>
        </a:lnSpc>
        <a:spcBef>
          <a:spcPts val="106"/>
        </a:spcBef>
        <a:buFont typeface="Arial" panose="020B0604020202020204" pitchFamily="34" charset="0"/>
        <a:buChar char="•"/>
        <a:defRPr sz="386" kern="1200">
          <a:solidFill>
            <a:schemeClr val="tx1"/>
          </a:solidFill>
          <a:latin typeface="+mn-lt"/>
          <a:ea typeface="+mn-ea"/>
          <a:cs typeface="+mn-cs"/>
        </a:defRPr>
      </a:lvl9pPr>
    </p:bodyStyle>
    <p:otherStyle>
      <a:defPPr>
        <a:defRPr lang="en-US"/>
      </a:defPPr>
      <a:lvl1pPr marL="0" algn="l" defTabSz="195517" rtl="0" eaLnBrk="1" latinLnBrk="0" hangingPunct="1">
        <a:defRPr sz="386" kern="1200">
          <a:solidFill>
            <a:schemeClr val="tx1"/>
          </a:solidFill>
          <a:latin typeface="+mn-lt"/>
          <a:ea typeface="+mn-ea"/>
          <a:cs typeface="+mn-cs"/>
        </a:defRPr>
      </a:lvl1pPr>
      <a:lvl2pPr marL="97760" algn="l" defTabSz="195517" rtl="0" eaLnBrk="1" latinLnBrk="0" hangingPunct="1">
        <a:defRPr sz="386" kern="1200">
          <a:solidFill>
            <a:schemeClr val="tx1"/>
          </a:solidFill>
          <a:latin typeface="+mn-lt"/>
          <a:ea typeface="+mn-ea"/>
          <a:cs typeface="+mn-cs"/>
        </a:defRPr>
      </a:lvl2pPr>
      <a:lvl3pPr marL="195517" algn="l" defTabSz="195517" rtl="0" eaLnBrk="1" latinLnBrk="0" hangingPunct="1">
        <a:defRPr sz="386" kern="1200">
          <a:solidFill>
            <a:schemeClr val="tx1"/>
          </a:solidFill>
          <a:latin typeface="+mn-lt"/>
          <a:ea typeface="+mn-ea"/>
          <a:cs typeface="+mn-cs"/>
        </a:defRPr>
      </a:lvl3pPr>
      <a:lvl4pPr marL="293276" algn="l" defTabSz="195517" rtl="0" eaLnBrk="1" latinLnBrk="0" hangingPunct="1">
        <a:defRPr sz="386" kern="1200">
          <a:solidFill>
            <a:schemeClr val="tx1"/>
          </a:solidFill>
          <a:latin typeface="+mn-lt"/>
          <a:ea typeface="+mn-ea"/>
          <a:cs typeface="+mn-cs"/>
        </a:defRPr>
      </a:lvl4pPr>
      <a:lvl5pPr marL="391034" algn="l" defTabSz="195517" rtl="0" eaLnBrk="1" latinLnBrk="0" hangingPunct="1">
        <a:defRPr sz="386" kern="1200">
          <a:solidFill>
            <a:schemeClr val="tx1"/>
          </a:solidFill>
          <a:latin typeface="+mn-lt"/>
          <a:ea typeface="+mn-ea"/>
          <a:cs typeface="+mn-cs"/>
        </a:defRPr>
      </a:lvl5pPr>
      <a:lvl6pPr marL="488794" algn="l" defTabSz="195517" rtl="0" eaLnBrk="1" latinLnBrk="0" hangingPunct="1">
        <a:defRPr sz="386" kern="1200">
          <a:solidFill>
            <a:schemeClr val="tx1"/>
          </a:solidFill>
          <a:latin typeface="+mn-lt"/>
          <a:ea typeface="+mn-ea"/>
          <a:cs typeface="+mn-cs"/>
        </a:defRPr>
      </a:lvl6pPr>
      <a:lvl7pPr marL="586551" algn="l" defTabSz="195517" rtl="0" eaLnBrk="1" latinLnBrk="0" hangingPunct="1">
        <a:defRPr sz="386" kern="1200">
          <a:solidFill>
            <a:schemeClr val="tx1"/>
          </a:solidFill>
          <a:latin typeface="+mn-lt"/>
          <a:ea typeface="+mn-ea"/>
          <a:cs typeface="+mn-cs"/>
        </a:defRPr>
      </a:lvl7pPr>
      <a:lvl8pPr marL="684312" algn="l" defTabSz="195517" rtl="0" eaLnBrk="1" latinLnBrk="0" hangingPunct="1">
        <a:defRPr sz="386" kern="1200">
          <a:solidFill>
            <a:schemeClr val="tx1"/>
          </a:solidFill>
          <a:latin typeface="+mn-lt"/>
          <a:ea typeface="+mn-ea"/>
          <a:cs typeface="+mn-cs"/>
        </a:defRPr>
      </a:lvl8pPr>
      <a:lvl9pPr marL="782070" algn="l" defTabSz="195517" rtl="0" eaLnBrk="1" latinLnBrk="0" hangingPunct="1">
        <a:defRPr sz="386"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20">
          <p15:clr>
            <a:srgbClr val="F26B43"/>
          </p15:clr>
        </p15:guide>
        <p15:guide id="2" orient="horz" pos="6192">
          <p15:clr>
            <a:srgbClr val="F26B43"/>
          </p15:clr>
        </p15:guide>
        <p15:guide id="3" pos="4776">
          <p15:clr>
            <a:srgbClr val="F26B43"/>
          </p15:clr>
        </p15:guide>
        <p15:guide id="4" orient="horz" pos="1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mysites.oracle.com/cvc-global/" TargetMode="External"/><Relationship Id="rId4" Type="http://schemas.openxmlformats.org/officeDocument/2006/relationships/hyperlink" Target="https://oradocs-prodapp.cec.ocp.oraclecloud.com/documents/link/LDCC9DE792D6004DAD456BD977D95D9E3232DD4D0809/fileview/D03EB05CA79A7B4EB2C5ADFA783F488ACA8DD28E0700/_Designing_the_Interaction_Capture_Process_Manual_Lite_v1.0_(Lite_Beta).pdf" TargetMode="External"/><Relationship Id="rId5" Type="http://schemas.openxmlformats.org/officeDocument/2006/relationships/hyperlink" Target="https://mysites.oracle.com/license-compliance/" TargetMode="External"/><Relationship Id="rId6" Type="http://schemas.openxmlformats.org/officeDocument/2006/relationships/hyperlink" Target="https://mysites.oracle.com/SIA-Companywid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mysites.oracle.com/license-compliance/" TargetMode="External"/><Relationship Id="rId4" Type="http://schemas.openxmlformats.org/officeDocument/2006/relationships/hyperlink" Target="https://mysites.oracle.com/SIA-Companywide/" TargetMode="External"/><Relationship Id="rId5" Type="http://schemas.openxmlformats.org/officeDocument/2006/relationships/customXml" Target="../ink/ink1.xml"/><Relationship Id="rId6" Type="http://schemas.openxmlformats.org/officeDocument/2006/relationships/image" Target="../media/image5.png"/><Relationship Id="rId7" Type="http://schemas.openxmlformats.org/officeDocument/2006/relationships/customXml" Target="../ink/ink2.xml"/><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14CCB44F-7E3E-2F3E-1EF4-1BEC0ECB3A5C}"/>
              </a:ext>
            </a:extLst>
          </p:cNvPr>
          <p:cNvSpPr txBox="1"/>
          <p:nvPr/>
        </p:nvSpPr>
        <p:spPr>
          <a:xfrm>
            <a:off x="268925" y="959370"/>
            <a:ext cx="7255571" cy="6668492"/>
          </a:xfrm>
          <a:prstGeom prst="rect">
            <a:avLst/>
          </a:prstGeom>
          <a:noFill/>
        </p:spPr>
        <p:txBody>
          <a:bodyPr wrap="square" rtlCol="0">
            <a:spAutoFit/>
          </a:bodyPr>
          <a:lstStyle/>
          <a:p>
            <a:r>
              <a:rPr lang="en-US" sz="1400" i="1" dirty="0">
                <a:cs typeface="Oracle Sans" panose="020B0503020204020204" pitchFamily="34" charset="0"/>
              </a:rPr>
              <a:t>Best Practices</a:t>
            </a:r>
          </a:p>
          <a:p>
            <a:endParaRPr lang="en-US" sz="1000" dirty="0">
              <a:cs typeface="Oracle Sans" panose="020B0503020204020204" pitchFamily="34" charset="0"/>
            </a:endParaRPr>
          </a:p>
          <a:p>
            <a:r>
              <a:rPr lang="en-US" sz="1000" dirty="0">
                <a:cs typeface="Oracle Sans" panose="020B0503020204020204" pitchFamily="34" charset="0"/>
              </a:rPr>
              <a:t>The Executive Briefing Document (EBD) is required to qualify a meeting request both by the Oracle executive management teams and the </a:t>
            </a:r>
            <a:r>
              <a:rPr lang="en-US" sz="1000" dirty="0">
                <a:cs typeface="Oracle Sans" panose="020B0503020204020204" pitchFamily="34" charset="0"/>
                <a:hlinkClick r:id="rId3"/>
              </a:rPr>
              <a:t>Executive Briefing Center</a:t>
            </a:r>
            <a:r>
              <a:rPr lang="en-US" sz="1000" dirty="0">
                <a:cs typeface="Oracle Sans" panose="020B0503020204020204" pitchFamily="34" charset="0"/>
              </a:rPr>
              <a:t> (EBC). This document provides pertinent and valuable insights detailing meeting objectives and desired outcomes, current business condition, and strategy, along with any challenges. Providing complete and accurate information will create an effective and targeted meeting, fully addressing the customer’s meeting objectives.</a:t>
            </a:r>
            <a:endParaRPr lang="en-US" sz="1000" dirty="0"/>
          </a:p>
          <a:p>
            <a:endParaRPr lang="en-US" sz="1000" dirty="0"/>
          </a:p>
          <a:p>
            <a:r>
              <a:rPr lang="en-US" sz="1000" b="1" dirty="0"/>
              <a:t>Best practices prior to, during, and post-EBD submission:</a:t>
            </a:r>
          </a:p>
          <a:p>
            <a:pPr marL="171450" indent="-171450">
              <a:buFont typeface="Arial" panose="020B0604020202020204" pitchFamily="34" charset="0"/>
              <a:buChar char="•"/>
            </a:pPr>
            <a:r>
              <a:rPr lang="en-US" sz="1000" dirty="0"/>
              <a:t>Delete this page prior to submitting</a:t>
            </a:r>
          </a:p>
          <a:p>
            <a:pPr marL="171450" indent="-171450">
              <a:buFont typeface="Arial" panose="020B0604020202020204" pitchFamily="34" charset="0"/>
              <a:buChar char="•"/>
            </a:pPr>
            <a:r>
              <a:rPr lang="en-US" sz="1000" dirty="0"/>
              <a:t>Please submit this completed document with your engagement request; this document is required for all executive engagements</a:t>
            </a:r>
          </a:p>
          <a:p>
            <a:pPr marL="171450" indent="-171450">
              <a:buFont typeface="Arial" panose="020B0604020202020204" pitchFamily="34" charset="0"/>
              <a:buChar char="•"/>
            </a:pPr>
            <a:r>
              <a:rPr lang="en-US" sz="1000" dirty="0"/>
              <a:t>Be sure to get the client’s perspective on their objectives for the engagement and their key talking points for discussion </a:t>
            </a:r>
          </a:p>
          <a:p>
            <a:pPr marL="171450" lvl="0" indent="-171450">
              <a:buSzPts val="900"/>
              <a:buFont typeface="Arial" panose="020B0604020202020204" pitchFamily="34" charset="0"/>
              <a:buChar char="•"/>
            </a:pPr>
            <a:r>
              <a:rPr lang="en-GB" sz="1000" dirty="0"/>
              <a:t>Host a 30-minute briefing call for the Oracle participants who will be attending the client engagement</a:t>
            </a:r>
          </a:p>
          <a:p>
            <a:pPr marL="171450" lvl="0" indent="-171450">
              <a:buSzPts val="900"/>
              <a:buFont typeface="Arial" panose="020B0604020202020204" pitchFamily="34" charset="0"/>
              <a:buChar char="•"/>
            </a:pPr>
            <a:r>
              <a:rPr lang="en-GB" sz="1000" dirty="0"/>
              <a:t>If Oracle is hosting the virtual meeting, please review the “Zoom checklist” below</a:t>
            </a:r>
          </a:p>
          <a:p>
            <a:pPr marL="171450" lvl="0" indent="-171450">
              <a:buSzPts val="900"/>
              <a:buFont typeface="Arial" panose="020B0604020202020204" pitchFamily="34" charset="0"/>
              <a:buChar char="•"/>
            </a:pPr>
            <a:r>
              <a:rPr lang="en-GB" sz="1000" dirty="0"/>
              <a:t>After the engagement, host a 15-minute call for Oracle participants and executive(s) to reflect on the engagement and the agreed-upon actions </a:t>
            </a:r>
          </a:p>
          <a:p>
            <a:pPr marL="171450" lvl="0" indent="-171450">
              <a:buSzPts val="900"/>
              <a:buFont typeface="Arial" panose="020B0604020202020204" pitchFamily="34" charset="0"/>
              <a:buChar char="•"/>
            </a:pPr>
            <a:r>
              <a:rPr lang="en-GB" sz="1000" dirty="0"/>
              <a:t>Follow up with your client with a thank you email recapping takeaways and next steps; deliver on the agreed upon actions</a:t>
            </a:r>
          </a:p>
          <a:p>
            <a:pPr lvl="0">
              <a:buSzPts val="900"/>
            </a:pPr>
            <a:endParaRPr lang="en-GB" sz="1000" dirty="0">
              <a:solidFill>
                <a:srgbClr val="312D2A"/>
              </a:solidFill>
              <a:latin typeface="Oracle Sans" panose="020B0503020204020204" pitchFamily="34" charset="0"/>
              <a:ea typeface="Times New Roman" panose="02020603050405020304" pitchFamily="18" charset="0"/>
              <a:cs typeface="Oracle Sans" panose="020B0503020204020204" pitchFamily="34" charset="0"/>
            </a:endParaRPr>
          </a:p>
          <a:p>
            <a:pPr marL="171450" lvl="0" indent="-171450">
              <a:spcAft>
                <a:spcPts val="400"/>
              </a:spcAft>
              <a:buSzPts val="900"/>
              <a:buFont typeface="Arial" panose="020B0604020202020204" pitchFamily="34" charset="0"/>
              <a:buChar char="•"/>
            </a:pP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Use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hlinkClick r:id="rId4"/>
              </a:rPr>
              <a:t>Designing the Interaction</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 </a:t>
            </a:r>
            <a:r>
              <a:rPr lang="en-GB" sz="1000" dirty="0">
                <a:solidFill>
                  <a:srgbClr val="312D2A"/>
                </a:solidFill>
                <a:effectLst/>
                <a:latin typeface="Oracle Sans" panose="020B0503020204020204" pitchFamily="34" charset="0"/>
                <a:ea typeface="Oracle Sans" panose="020B0503020204020204" pitchFamily="34" charset="0"/>
                <a:cs typeface="Oracle Sans" panose="020B0503020204020204" pitchFamily="34" charset="0"/>
              </a:rPr>
              <a:t>self-paced guide to support you in completing the </a:t>
            </a:r>
            <a:r>
              <a:rPr lang="en-GB" sz="1000" dirty="0">
                <a:solidFill>
                  <a:srgbClr val="312D2A"/>
                </a:solidFill>
                <a:latin typeface="Oracle Sans" panose="020B0503020204020204" pitchFamily="34" charset="0"/>
                <a:ea typeface="Oracle Sans" panose="020B0503020204020204" pitchFamily="34" charset="0"/>
                <a:cs typeface="Oracle Sans" panose="020B0503020204020204" pitchFamily="34" charset="0"/>
              </a:rPr>
              <a:t>EBD</a:t>
            </a:r>
            <a:endParaRPr lang="en-GB" sz="1000" dirty="0">
              <a:effectLst/>
              <a:latin typeface="Oracle Sans" panose="020B0503020204020204" pitchFamily="34" charset="0"/>
              <a:ea typeface="Times New Roman" panose="02020603050405020304" pitchFamily="18" charset="0"/>
              <a:cs typeface="Oracle Sans" panose="020B0503020204020204" pitchFamily="34" charset="0"/>
            </a:endParaRPr>
          </a:p>
          <a:p>
            <a:pPr>
              <a:spcBef>
                <a:spcPts val="1200"/>
              </a:spcBef>
            </a:pPr>
            <a:r>
              <a:rPr lang="en-GB" sz="1000" b="1" kern="0" dirty="0">
                <a:effectLst/>
                <a:latin typeface="Oracle Sans" panose="020B0503020204020204" pitchFamily="34" charset="0"/>
                <a:cs typeface="Oracle Sans" panose="020B0503020204020204" pitchFamily="34" charset="0"/>
              </a:rPr>
              <a:t>Zoom checklist: </a:t>
            </a:r>
          </a:p>
          <a:p>
            <a:pPr marL="171450" lvl="0" indent="-171450">
              <a:buFont typeface="Arial" panose="020B0604020202020204" pitchFamily="34" charset="0"/>
              <a:buChar char="•"/>
            </a:pPr>
            <a:r>
              <a:rPr lang="en-GB" sz="1000" dirty="0"/>
              <a:t>Share agenda with assigned speakers</a:t>
            </a:r>
          </a:p>
          <a:p>
            <a:pPr marL="171450" lvl="0" indent="-171450">
              <a:buFont typeface="Arial" panose="020B0604020202020204" pitchFamily="34" charset="0"/>
              <a:buChar char="•"/>
            </a:pPr>
            <a:r>
              <a:rPr lang="en-GB" sz="1000" dirty="0"/>
              <a:t>Nominate a backup meeting facilitator</a:t>
            </a:r>
          </a:p>
          <a:p>
            <a:pPr marL="171450" lvl="0" indent="-171450">
              <a:buFont typeface="Arial" panose="020B0604020202020204" pitchFamily="34" charset="0"/>
              <a:buChar char="•"/>
            </a:pPr>
            <a:r>
              <a:rPr lang="en-GB" sz="1000" dirty="0"/>
              <a:t>Share slides in advance with backup facilitator</a:t>
            </a:r>
          </a:p>
          <a:p>
            <a:pPr marL="171450" lvl="0" indent="-171450">
              <a:buFont typeface="Arial" panose="020B0604020202020204" pitchFamily="34" charset="0"/>
              <a:buChar char="•"/>
            </a:pPr>
            <a:r>
              <a:rPr lang="en-GB" sz="1000" dirty="0"/>
              <a:t>Share slides in advance or pre-read with customer, if appropriate</a:t>
            </a:r>
          </a:p>
          <a:p>
            <a:pPr marL="171450" lvl="0" indent="-171450">
              <a:buFont typeface="Arial" panose="020B0604020202020204" pitchFamily="34" charset="0"/>
              <a:buChar char="•"/>
            </a:pPr>
            <a:r>
              <a:rPr lang="en-GB" sz="1000" dirty="0"/>
              <a:t>Enable “Waiting Room” functionality</a:t>
            </a:r>
          </a:p>
          <a:p>
            <a:pPr marL="171450" lvl="0" indent="-171450">
              <a:buFont typeface="Arial" panose="020B0604020202020204" pitchFamily="34" charset="0"/>
              <a:buChar char="•"/>
            </a:pPr>
            <a:r>
              <a:rPr lang="en-GB" sz="1000" dirty="0"/>
              <a:t>Have Zoom application available on your mobile device, as a backup</a:t>
            </a:r>
          </a:p>
          <a:p>
            <a:pPr marL="7938"/>
            <a:endParaRPr lang="en-US" sz="1000" dirty="0"/>
          </a:p>
          <a:p>
            <a:pPr marL="0" indent="0">
              <a:buFont typeface="Arial" panose="020B0604020202020204" pitchFamily="34" charset="0"/>
              <a:buNone/>
            </a:pPr>
            <a:r>
              <a:rPr lang="en-US" sz="1000" b="1" dirty="0"/>
              <a:t>Instructions and tips for template use:</a:t>
            </a:r>
          </a:p>
          <a:p>
            <a:pPr marL="171450" indent="-171450">
              <a:buFont typeface="Arial" panose="020B0604020202020204" pitchFamily="34" charset="0"/>
              <a:buChar char="•"/>
            </a:pPr>
            <a:r>
              <a:rPr lang="en-US" sz="1000" dirty="0"/>
              <a:t>To insert the logo for the company, pick the logo shape that best fits their logo (delete the one that does not) and then right click on the image, select “change picture,” then select “from a file,” and choose the customer’s logo that you have saved on your computer</a:t>
            </a:r>
          </a:p>
          <a:p>
            <a:pPr marL="171450" indent="-171450">
              <a:buFont typeface="Arial" panose="020B0604020202020204" pitchFamily="34" charset="0"/>
              <a:buChar char="•"/>
            </a:pPr>
            <a:r>
              <a:rPr lang="en-US" sz="1000" dirty="0"/>
              <a:t>Replace customer images with photos of the customer attendees who will be in the meeting; follow the same process as above, right clicking on the image, clicking “change picture,” and selecting from a file on your computer</a:t>
            </a:r>
          </a:p>
          <a:p>
            <a:pPr marL="171450" indent="-171450">
              <a:buFont typeface="Arial" panose="020B0604020202020204" pitchFamily="34" charset="0"/>
              <a:buChar char="•"/>
            </a:pPr>
            <a:r>
              <a:rPr lang="en-US" sz="1000" dirty="0"/>
              <a:t>When pasting in text, right click on the field that you would like to paste the text into; choose “keep text only” to keep the formatting of the table</a:t>
            </a:r>
          </a:p>
          <a:p>
            <a:pPr marL="171450" indent="-171450">
              <a:buFont typeface="Arial" panose="020B0604020202020204" pitchFamily="34" charset="0"/>
              <a:buChar char="•"/>
            </a:pPr>
            <a:r>
              <a:rPr lang="en-US" sz="1000" dirty="0"/>
              <a:t>Ensure Oracle Sans font is used throughout the document</a:t>
            </a:r>
          </a:p>
          <a:p>
            <a:endParaRPr lang="en-US" sz="1000" dirty="0"/>
          </a:p>
          <a:p>
            <a:r>
              <a:rPr lang="en-US" sz="1000" b="1" dirty="0"/>
              <a:t>Additional information:</a:t>
            </a:r>
          </a:p>
          <a:p>
            <a:pPr marL="171450" indent="-171450">
              <a:buFont typeface="Arial" panose="020B0604020202020204" pitchFamily="34" charset="0"/>
              <a:buChar char="•"/>
            </a:pPr>
            <a:r>
              <a:rPr lang="en-US" sz="1000" dirty="0"/>
              <a:t>License Management Services (LMS) Homepage: </a:t>
            </a:r>
            <a:r>
              <a:rPr lang="en-US" sz="1000" dirty="0">
                <a:hlinkClick r:id="rId5"/>
              </a:rPr>
              <a:t>https://mysites.oracle.com/license-compliance/</a:t>
            </a:r>
            <a:endParaRPr lang="en-US" sz="1000" dirty="0"/>
          </a:p>
          <a:p>
            <a:pPr marL="171450" indent="-171450">
              <a:buFont typeface="Arial" panose="020B0604020202020204" pitchFamily="34" charset="0"/>
              <a:buChar char="•"/>
            </a:pPr>
            <a:r>
              <a:rPr lang="en-US" sz="1000" dirty="0"/>
              <a:t>Software Investment Advisor (SIA) Homepage: </a:t>
            </a:r>
            <a:r>
              <a:rPr lang="en-US" sz="1000" dirty="0">
                <a:hlinkClick r:id="rId6"/>
              </a:rPr>
              <a:t>https://mysites.oracle.com/SIA-Companywide/</a:t>
            </a:r>
            <a:r>
              <a:rPr lang="en-US" sz="1000" dirty="0"/>
              <a:t> </a:t>
            </a:r>
          </a:p>
        </p:txBody>
      </p:sp>
    </p:spTree>
    <p:extLst>
      <p:ext uri="{BB962C8B-B14F-4D97-AF65-F5344CB8AC3E}">
        <p14:creationId xmlns:p14="http://schemas.microsoft.com/office/powerpoint/2010/main" val="19288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a:extLst>
              <a:ext uri="{FF2B5EF4-FFF2-40B4-BE49-F238E27FC236}">
                <a16:creationId xmlns:a16="http://schemas.microsoft.com/office/drawing/2014/main" id="{BC585F01-6A6E-82E2-6550-17314EBCD64A}"/>
              </a:ext>
            </a:extLst>
          </p:cNvPr>
          <p:cNvGraphicFramePr>
            <a:graphicFrameLocks noGrp="1"/>
          </p:cNvGraphicFramePr>
          <p:nvPr>
            <p:extLst>
              <p:ext uri="{D42A27DB-BD31-4B8C-83A1-F6EECF244321}">
                <p14:modId xmlns:p14="http://schemas.microsoft.com/office/powerpoint/2010/main" val="2126370258"/>
              </p:ext>
            </p:extLst>
          </p:nvPr>
        </p:nvGraphicFramePr>
        <p:xfrm>
          <a:off x="111653" y="814360"/>
          <a:ext cx="7549094" cy="8429680"/>
        </p:xfrm>
        <a:graphic>
          <a:graphicData uri="http://schemas.openxmlformats.org/drawingml/2006/table">
            <a:tbl>
              <a:tblPr firstRow="1" bandRow="1">
                <a:tableStyleId>{2D5ABB26-0587-4C30-8999-92F81FD0307C}</a:tableStyleId>
              </a:tblPr>
              <a:tblGrid>
                <a:gridCol w="1774091">
                  <a:extLst>
                    <a:ext uri="{9D8B030D-6E8A-4147-A177-3AD203B41FA5}">
                      <a16:colId xmlns:a16="http://schemas.microsoft.com/office/drawing/2014/main" val="291925485"/>
                    </a:ext>
                  </a:extLst>
                </a:gridCol>
                <a:gridCol w="923942">
                  <a:extLst>
                    <a:ext uri="{9D8B030D-6E8A-4147-A177-3AD203B41FA5}">
                      <a16:colId xmlns:a16="http://schemas.microsoft.com/office/drawing/2014/main" val="4243254253"/>
                    </a:ext>
                  </a:extLst>
                </a:gridCol>
                <a:gridCol w="1957667">
                  <a:extLst>
                    <a:ext uri="{9D8B030D-6E8A-4147-A177-3AD203B41FA5}">
                      <a16:colId xmlns:a16="http://schemas.microsoft.com/office/drawing/2014/main" val="869386441"/>
                    </a:ext>
                  </a:extLst>
                </a:gridCol>
                <a:gridCol w="2893394">
                  <a:extLst>
                    <a:ext uri="{9D8B030D-6E8A-4147-A177-3AD203B41FA5}">
                      <a16:colId xmlns:a16="http://schemas.microsoft.com/office/drawing/2014/main" val="3713650747"/>
                    </a:ext>
                  </a:extLst>
                </a:gridCol>
              </a:tblGrid>
              <a:tr h="859369">
                <a:tc gridSpan="2">
                  <a:txBody>
                    <a:bodyPr/>
                    <a:lstStyle/>
                    <a:p>
                      <a:r>
                        <a:t>Microsoft</a:t>
                      </a:r>
                    </a:p>
                  </a:txBody>
                  <a:tcPr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t>Technology / Software</a:t>
                      </a:r>
                    </a:p>
                  </a:txBody>
                  <a:tcPr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86691244"/>
                  </a:ext>
                </a:extLst>
              </a:tr>
              <a:tr h="274320">
                <a:tc rowSpan="3" gridSpan="2">
                  <a:txBody>
                    <a:bodyPr/>
                    <a:lstStyle/>
                    <a:p>
                      <a:r>
                        <a:t>One Microsoft Way, Redmond, WA 98052</a:t>
                      </a:r>
                    </a:p>
                  </a:txBody>
                  <a:tcPr marL="45720" marR="45720"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hMerge="1">
                  <a:txBody>
                    <a:bodyPr/>
                    <a:lstStyle/>
                    <a:p>
                      <a:endParaRPr lang="en-US" sz="900" dirty="0">
                        <a:solidFill>
                          <a:schemeClr val="tx1"/>
                        </a:solidFill>
                        <a:latin typeface="+mn-lt"/>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pPr algn="r"/>
                      <a:r>
                        <a:rPr lang="en-US" sz="900" b="1" dirty="0">
                          <a:solidFill>
                            <a:srgbClr val="2C5967"/>
                          </a:solidFill>
                        </a:rPr>
                        <a:t>Meeting Date/Time</a:t>
                      </a:r>
                      <a:endParaRPr lang="en-US" dirty="0"/>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February 15, 2026 | 9:00 AM - 4:00 PM PST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76059242"/>
                  </a:ext>
                </a:extLst>
              </a:tr>
              <a:tr h="429768">
                <a:tc gridSpan="2" vMerge="1">
                  <a:txBody>
                    <a:bodyPr/>
                    <a:lstStyle/>
                    <a:p>
                      <a:endParaRPr lang="en-US" sz="900" dirty="0">
                        <a:solidFill>
                          <a:schemeClr val="tx1"/>
                        </a:solidFill>
                        <a:latin typeface="+mn-lt"/>
                      </a:endParaRPr>
                    </a:p>
                  </a:txBody>
                  <a:tcPr marL="45720" marR="45720" marT="0" marB="0" anchor="ct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tc>
                <a:tc>
                  <a:txBody>
                    <a:bodyPr/>
                    <a:lstStyle/>
                    <a:p>
                      <a:pPr algn="r"/>
                      <a:r>
                        <a:rPr lang="en-US" sz="900" b="1" dirty="0">
                          <a:solidFill>
                            <a:srgbClr val="2C5967"/>
                          </a:solidFill>
                        </a:rPr>
                        <a:t>Meeting Location</a:t>
                      </a:r>
                      <a:endParaRPr lang="en-US"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Oracle Executive Briefing Center - Redwood City</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77019104"/>
                  </a:ext>
                </a:extLst>
              </a:tr>
              <a:tr h="467903">
                <a:tc gridSpan="2" vMerge="1">
                  <a:txBody>
                    <a:bodyPr/>
                    <a:lstStyle/>
                    <a:p>
                      <a:r>
                        <a:rPr lang="en-US" sz="900" dirty="0">
                          <a:solidFill>
                            <a:schemeClr val="tx1"/>
                          </a:solidFill>
                          <a:latin typeface="+mn-lt"/>
                        </a:rPr>
                        <a:t>&lt;Address&gt;</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endParaRPr lang="en-US" sz="900" dirty="0">
                        <a:solidFill>
                          <a:schemeClr val="tx1"/>
                        </a:solidFill>
                        <a:latin typeface="+mn-lt"/>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r"/>
                      <a:r>
                        <a:rPr lang="en-US" sz="900" b="1" dirty="0">
                          <a:solidFill>
                            <a:srgbClr val="2C5967"/>
                          </a:solidFill>
                        </a:rPr>
                        <a:t>Engagement Type</a:t>
                      </a:r>
                    </a:p>
                    <a:p>
                      <a:pPr algn="r"/>
                      <a:r>
                        <a:rPr lang="en-US" sz="700" b="0" dirty="0">
                          <a:solidFill>
                            <a:srgbClr val="2C5967"/>
                          </a:solidFill>
                        </a:rPr>
                        <a:t>(1:1, CVC, Oracle Playbook)</a:t>
                      </a:r>
                      <a:endParaRPr lang="en-US" sz="200" b="0" dirty="0"/>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1:1 Executive Briefing</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28421276"/>
                  </a:ext>
                </a:extLst>
              </a:tr>
              <a:tr h="274320">
                <a:tc rowSpan="3" gridSpan="2">
                  <a:txBody>
                    <a:bodyPr/>
                    <a:lstStyle/>
                    <a:p>
                      <a:r>
                        <a:t>www.microsoft.com</a:t>
                      </a:r>
                    </a:p>
                  </a:txBody>
                  <a:tcPr marL="45720" marR="4572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3" h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mn-lt"/>
                        <a:ea typeface="+mn-ea"/>
                        <a:cs typeface="Oracle Sans" panose="020B0503020204020204" pitchFamily="34" charset="0"/>
                      </a:endParaRPr>
                    </a:p>
                  </a:txBody>
                  <a:tcPr marL="45720" marR="45720"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tcPr>
                </a:tc>
                <a:tc>
                  <a:txBody>
                    <a:bodyPr/>
                    <a:lstStyle/>
                    <a:p>
                      <a:pPr algn="r"/>
                      <a:r>
                        <a:rPr lang="en-US" sz="900" b="1" dirty="0">
                          <a:solidFill>
                            <a:srgbClr val="2C5967"/>
                          </a:solidFill>
                        </a:rPr>
                        <a:t>EBD/Meeting Point of Contact</a:t>
                      </a:r>
                    </a:p>
                    <a:p>
                      <a:pPr algn="r"/>
                      <a:r>
                        <a:rPr lang="en-US" sz="700" b="0" dirty="0">
                          <a:solidFill>
                            <a:srgbClr val="2C5967"/>
                          </a:solidFill>
                        </a:rPr>
                        <a:t>(Name, title, email, phone)</a:t>
                      </a:r>
                      <a:endParaRPr lang="en-US" sz="200" b="0" dirty="0"/>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Karen Williams, Sr. Account Executive, karen.williams@oracle.com, (425) 555-7890</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6116238"/>
                  </a:ext>
                </a:extLst>
              </a:tr>
              <a:tr h="382016">
                <a:tc gridSpan="2" vMerge="1">
                  <a:txBody>
                    <a:bodyPr/>
                    <a:lstStyle/>
                    <a:p>
                      <a:endParaRPr lang="en-US" sz="900" dirty="0">
                        <a:solidFill>
                          <a:schemeClr val="tx1"/>
                        </a:solidFill>
                        <a:latin typeface="+mn-lt"/>
                      </a:endParaRPr>
                    </a:p>
                  </a:txBody>
                  <a:tcPr marL="45720" marR="4572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solidFill>
                          <a:schemeClr val="tx1"/>
                        </a:solidFill>
                        <a:latin typeface="+mn-lt"/>
                      </a:endParaRPr>
                    </a:p>
                  </a:txBody>
                  <a:tcPr marL="45720" marR="45720" marT="0" marB="0" anchor="ct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900" b="1" dirty="0">
                          <a:solidFill>
                            <a:srgbClr val="2C5967"/>
                          </a:solidFill>
                        </a:rPr>
                        <a:t>Oracle Meeting Attendees</a:t>
                      </a:r>
                    </a:p>
                    <a:p>
                      <a:pPr algn="r"/>
                      <a:r>
                        <a:rPr lang="en-US" sz="700" b="0" dirty="0">
                          <a:solidFill>
                            <a:srgbClr val="2C5967"/>
                          </a:solidFill>
                        </a:rPr>
                        <a:t>(Name, title, email, phone)</a:t>
                      </a:r>
                      <a:endParaRPr lang="en-US" sz="200" b="0" dirty="0"/>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James Chen, VP Database &amp; Cloud, james.chen@oracle.com</a:t>
                      </a:r>
                    </a:p>
                    <a:p>
                      <a:r>
                        <a:t>Amy Foster, Sr. Director Enterprise Applications, amy.foster@oracle.com</a:t>
                      </a:r>
                    </a:p>
                    <a:p>
                      <a:r>
                        <a:t>Mark Davis, Principal Solutions Architect, mark.davis@oracle.com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64143921"/>
                  </a:ext>
                </a:extLst>
              </a:tr>
              <a:tr h="392744">
                <a:tc gridSpan="2" vMerge="1">
                  <a:txBody>
                    <a:bodyPr/>
                    <a:lstStyle/>
                    <a:p>
                      <a:pPr marL="0" algn="l" defTabSz="195517" rtl="0" eaLnBrk="1" latinLnBrk="0" hangingPunct="1">
                        <a:lnSpc>
                          <a:spcPct val="90000"/>
                        </a:lnSpc>
                      </a:pPr>
                      <a:endParaRPr lang="en-US" sz="900" b="0" i="0" kern="1200" dirty="0">
                        <a:solidFill>
                          <a:schemeClr val="tx1"/>
                        </a:solidFill>
                        <a:latin typeface="+mn-lt"/>
                        <a:ea typeface="+mn-ea"/>
                        <a:cs typeface="Oracle Sans" panose="020B0503020204020204" pitchFamily="34" charset="0"/>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endParaRPr lang="en-US" sz="900" dirty="0">
                        <a:latin typeface="+mn-lt"/>
                      </a:endParaRPr>
                    </a:p>
                  </a:txBody>
                  <a:tcPr marL="45720" marR="45720" marT="0" marB="0" anchor="ctr">
                    <a:lnT w="12700" cap="flat" cmpd="sng" algn="ctr">
                      <a:solidFill>
                        <a:schemeClr val="tx1"/>
                      </a:solidFill>
                      <a:prstDash val="solid"/>
                      <a:round/>
                      <a:headEnd type="none" w="med" len="med"/>
                      <a:tailEnd type="none" w="med" len="med"/>
                    </a:lnT>
                  </a:tcPr>
                </a:tc>
                <a:tc>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a:t>
                      </a:r>
                      <a:r>
                        <a:rPr lang="en-US" sz="900" dirty="0"/>
                        <a:t> </a:t>
                      </a:r>
                      <a:r>
                        <a:rPr lang="en-US" sz="900" b="1" kern="1200" dirty="0">
                          <a:solidFill>
                            <a:srgbClr val="2C5967"/>
                          </a:solidFill>
                          <a:latin typeface="+mn-lt"/>
                          <a:ea typeface="+mn-ea"/>
                          <a:cs typeface="+mn-cs"/>
                        </a:rPr>
                        <a:t>Meeting</a:t>
                      </a:r>
                      <a:r>
                        <a:rPr lang="en-US" sz="900" dirty="0"/>
                        <a:t> </a:t>
                      </a:r>
                      <a:r>
                        <a:rPr lang="en-US" sz="900" b="1" kern="1200" dirty="0">
                          <a:solidFill>
                            <a:srgbClr val="2C5967"/>
                          </a:solidFill>
                          <a:latin typeface="+mn-lt"/>
                          <a:ea typeface="+mn-ea"/>
                          <a:cs typeface="+mn-cs"/>
                        </a:rPr>
                        <a:t>Attendees</a:t>
                      </a:r>
                    </a:p>
                    <a:p>
                      <a:pPr marL="0" marR="0" lvl="0" indent="0" algn="r" defTabSz="195517" rtl="0" eaLnBrk="1" fontAlgn="auto" latinLnBrk="0" hangingPunct="1">
                        <a:lnSpc>
                          <a:spcPct val="100000"/>
                        </a:lnSpc>
                        <a:spcBef>
                          <a:spcPts val="0"/>
                        </a:spcBef>
                        <a:spcAft>
                          <a:spcPts val="0"/>
                        </a:spcAft>
                        <a:buClrTx/>
                        <a:buSzTx/>
                        <a:buFontTx/>
                        <a:buNone/>
                        <a:tabLst/>
                        <a:defRPr/>
                      </a:pPr>
                      <a:r>
                        <a:rPr lang="en-US" sz="700" b="0" kern="1200" dirty="0">
                          <a:solidFill>
                            <a:srgbClr val="2C5967"/>
                          </a:solidFill>
                          <a:latin typeface="+mn-lt"/>
                          <a:ea typeface="+mn-ea"/>
                          <a:cs typeface="+mn-cs"/>
                        </a:rPr>
                        <a:t>(Name, title)</a:t>
                      </a:r>
                    </a:p>
                  </a:txBody>
                  <a:tcPr marT="0" marB="0" anchor="ctr">
                    <a:lnL>
                      <a:noFill/>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Sarah Johnson, VP Enterprise IT</a:t>
                      </a:r>
                    </a:p>
                    <a:p>
                      <a:r>
                        <a:t>David Park, Director Database &amp; Data Platform</a:t>
                      </a:r>
                    </a:p>
                    <a:p>
                      <a:r>
                        <a:t>Lisa Martinez, Head of Cloud Strategy</a:t>
                      </a:r>
                    </a:p>
                    <a:p>
                      <a:r>
                        <a:t>Kevin Brown, Senior Architect - Data &amp; AI</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3714262"/>
                  </a:ext>
                </a:extLst>
              </a:tr>
              <a:tr h="329455">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Company Description:</a:t>
                      </a:r>
                      <a:r>
                        <a:rPr lang="en-US" sz="900" b="0" kern="1200" dirty="0">
                          <a:solidFill>
                            <a:schemeClr val="tx1"/>
                          </a:solidFill>
                          <a:latin typeface="+mn-lt"/>
                          <a:ea typeface="+mn-ea"/>
                          <a:cs typeface="+mn-cs"/>
                        </a:rPr>
                        <a:t> </a:t>
                      </a: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b="0" kern="1200" dirty="0">
                        <a:solidFill>
                          <a:schemeClr val="tx1"/>
                        </a:solidFill>
                        <a:latin typeface="+mn-lt"/>
                        <a:ea typeface="+mn-ea"/>
                        <a:cs typeface="+mn-cs"/>
                      </a:endParaRPr>
                    </a:p>
                    <a:p>
                      <a:pPr marL="0" marR="0" lvl="0" indent="0" algn="l" defTabSz="195517" rtl="0" eaLnBrk="1" fontAlgn="auto" latinLnBrk="0" hangingPunct="1">
                        <a:lnSpc>
                          <a:spcPct val="100000"/>
                        </a:lnSpc>
                        <a:spcBef>
                          <a:spcPts val="0"/>
                        </a:spcBef>
                        <a:spcAft>
                          <a:spcPts val="0"/>
                        </a:spcAft>
                        <a:buClrTx/>
                        <a:buSzTx/>
                        <a:buFontTx/>
                        <a:buNone/>
                        <a:tabLst/>
                        <a:defRPr/>
                      </a:pPr>
                      <a:endParaRPr lang="en-US" sz="900" dirty="0">
                        <a:solidFill>
                          <a:schemeClr val="tx1"/>
                        </a:solidFill>
                        <a:latin typeface="Oracle Sans" panose="020B0503020204020204" pitchFamily="34" charset="0"/>
                        <a:cs typeface="Oracle Sans" panose="020B0503020204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r>
                        <a:t>Microsoft is a global technology leader with $220B+ annual revenue, known for Azure, Office 365, Windows, and enterprise software. This briefing focuses on their Enterprise IT group's evaluation of Oracle Database and Oracle Cloud for hybrid and multi-cloud data workloads, complementing existing Azure and SQL Server investments. They are exploring Oracle for high-performance OLTP, Exadata, and autonomous database capabilities for specific enterprise workloads.</a:t>
                      </a:r>
                    </a:p>
                  </a:txBody>
                  <a:tcPr>
                    <a:lnL w="12700" cap="flat" cmpd="sng" algn="ctr">
                      <a:solidFill>
                        <a:schemeClr val="tx1"/>
                      </a:solidFill>
                      <a:prstDash val="solid"/>
                      <a:round/>
                      <a:headEnd type="none" w="med" len="med"/>
                      <a:tailEnd type="none" w="med" len="med"/>
                    </a:lnL>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extLst>
                  <a:ext uri="{0D108BD9-81ED-4DB2-BD59-A6C34878D82A}">
                    <a16:rowId xmlns:a16="http://schemas.microsoft.com/office/drawing/2014/main" val="4200647729"/>
                  </a:ext>
                </a:extLst>
              </a:tr>
              <a:tr h="662644">
                <a:tc>
                  <a:txBody>
                    <a:bodyPr/>
                    <a:lstStyle/>
                    <a:p>
                      <a:pPr algn="l"/>
                      <a:r>
                        <a:rPr lang="en-US" sz="900" b="1" kern="1200" dirty="0">
                          <a:solidFill>
                            <a:srgbClr val="2C5967"/>
                          </a:solidFill>
                          <a:latin typeface="+mn-lt"/>
                          <a:ea typeface="+mn-ea"/>
                          <a:cs typeface="+mn-cs"/>
                        </a:rPr>
                        <a:t>Meeting Objectives / </a:t>
                      </a:r>
                    </a:p>
                    <a:p>
                      <a:pPr algn="l"/>
                      <a:r>
                        <a:rPr lang="en-US" sz="900" b="1" kern="1200" dirty="0">
                          <a:solidFill>
                            <a:srgbClr val="2C5967"/>
                          </a:solidFill>
                          <a:latin typeface="+mn-lt"/>
                          <a:ea typeface="+mn-ea"/>
                          <a:cs typeface="+mn-cs"/>
                        </a:rPr>
                        <a:t>Customer Expectations</a:t>
                      </a:r>
                    </a:p>
                    <a:p>
                      <a:pPr algn="l"/>
                      <a:r>
                        <a:rPr lang="en-US" sz="700" b="0" kern="1200" dirty="0">
                          <a:solidFill>
                            <a:schemeClr val="tx1"/>
                          </a:solidFill>
                          <a:latin typeface="+mn-lt"/>
                          <a:ea typeface="+mn-ea"/>
                          <a:cs typeface="+mn-cs"/>
                        </a:rPr>
                        <a:t>(Main purpose of engagement, desired outcomes - focus on the customer perspective)</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 Evaluate Oracle Autonomous Database and Exadata for high-performance enterprise workloads alongside Azure</a:t>
                      </a:r>
                    </a:p>
                    <a:p>
                      <a:r>
                        <a:t>2. Understand Oracle's multi-cloud strategy and Azure interoperability (Oracle Database on Azure, interconnect)</a:t>
                      </a:r>
                    </a:p>
                    <a:p>
                      <a:r>
                        <a:t>3. Review Oracle's data integration and GoldenGate capabilities for hybrid cloud</a:t>
                      </a:r>
                    </a:p>
                    <a:p>
                      <a:r>
                        <a:t>4. Discuss Oracle's AI/ML data platform and how it complements Azure ML</a:t>
                      </a:r>
                    </a:p>
                    <a:p>
                      <a:r>
                        <a:t>5. Explore joint Oracle-Microsoft solutions for regulated industries and data residency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algn="r"/>
                      <a:r>
                        <a:rPr lang="en-US" sz="900" kern="1200">
                          <a:solidFill>
                            <a:srgbClr val="67605B"/>
                          </a:solidFill>
                          <a:effectLst/>
                          <a:latin typeface="+mn-lt"/>
                          <a:ea typeface="+mn-ea"/>
                          <a:cs typeface="+mn-cs"/>
                        </a:rPr>
                        <a:t>&lt;e.g. ABC is evaluating ERP/HCM solutions as part of their transformation initiative, which has been narrowed down to Oracle and Workday. Discuss the benefits of Oracle and how ABC stands to benefit in the areas of architecture and integration, security, automation capabilities, and the cost-benefit related to reduced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583825254"/>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Top Business Challenges / Where Oracle Can Help</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(Customer’s challenges - how Oracle can help – both near term and long term, top 3 things to know about the customer)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 MULTI-CLOUD COMPLEXITY: Running critical workloads across Azure, on-prem SQL Server, and legacy Oracle; need unified data strategy and interoperability</a:t>
                      </a:r>
                    </a:p>
                    <a:p/>
                    <a:p>
                      <a:r>
                        <a:t>2. DATABASE PERFORMANCE: Some SAP and custom OLTP workloads outgrowing current SQL Server; evaluating Exadata for tier-1 systems</a:t>
                      </a:r>
                    </a:p>
                    <a:p/>
                    <a:p>
                      <a:r>
                        <a:t>3. DATA GOVERNANCE: Need consistent security, compliance (GDPR, FedRAMP), and data residency across clouds; Oracle's sovereign cloud options of interest</a:t>
                      </a:r>
                    </a:p>
                    <a:p/>
                    <a:p>
                      <a:r>
                        <a:t>4. LEGACY ORACLE FOOTPRINT: 200+ Oracle Database instances from acquisitions (LinkedIn, GitHub ecosystem); need migration and consolidation path</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66672720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Customer’s Business / </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IT Strategy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(High-level CEO and IT strategy)</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CIO Vision: "Unified data fabric across Azure and strategic partners by 2027"</a:t>
                      </a:r>
                    </a:p>
                    <a:p/>
                    <a:p>
                      <a:r>
                        <a:t>IT Strategy:</a:t>
                      </a:r>
                    </a:p>
                    <a:p>
                      <a:r>
                        <a:t>- Azure-first for new workloads; best-of-breed for specialized (e.g., Oracle for high-end DB)</a:t>
                      </a:r>
                    </a:p>
                    <a:p>
                      <a:r>
                        <a:t>- Hybrid and multi-cloud data integration as standard</a:t>
                      </a:r>
                    </a:p>
                    <a:p>
                      <a:r>
                        <a:t>- Strong focus on AI/ML data platforms and real-time analytics</a:t>
                      </a:r>
                    </a:p>
                    <a:p>
                      <a:r>
                        <a:t>- Sovereign cloud and compliance as differentiators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Identify</a:t>
                      </a:r>
                      <a:r>
                        <a:rPr lang="en-US" sz="900" baseline="0">
                          <a:solidFill>
                            <a:srgbClr val="67605B"/>
                          </a:solidFill>
                          <a:latin typeface="Oracle Sans" panose="020B0503020204020204" pitchFamily="34" charset="0"/>
                          <a:cs typeface="Oracle Sans" panose="020B0503020204020204" pitchFamily="34" charset="0"/>
                        </a:rPr>
                        <a:t> an integrated ERP/HCM solution that does not require high customization and reduces IT dependency.&gt;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264032628"/>
                  </a:ext>
                </a:extLst>
              </a:tr>
              <a:tr h="605216">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Customer Lifecycle</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(Where we are in sales process, where customer is in their lifecycle, why they chose Oracle, what value has been realized, recent go-lives and implementations)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SALES STAGE: Discovery / Qualified Opportunity ($15M TCV)</a:t>
                      </a:r>
                    </a:p>
                    <a:p>
                      <a:r>
                        <a:t>- Initial engagement Q4 2025</a:t>
                      </a:r>
                    </a:p>
                    <a:p>
                      <a:r>
                        <a:t>- Technical evaluation of Oracle on Azure and Exadata Cloud</a:t>
                      </a:r>
                    </a:p>
                    <a:p>
                      <a:r>
                        <a:t>- Executive briefing scheduled February 2026</a:t>
                      </a:r>
                    </a:p>
                    <a:p>
                      <a:r>
                        <a:t>- Decision expected mid-2026 for Phase 1</a:t>
                      </a:r>
                    </a:p>
                    <a:p/>
                    <a:p>
                      <a:r>
                        <a:t>WHY CONSIDERING ORACLE:</a:t>
                      </a:r>
                    </a:p>
                    <a:p>
                      <a:r>
                        <a:t>- Oracle on Azure partnership and certified interconnect</a:t>
                      </a:r>
                    </a:p>
                    <a:p>
                      <a:r>
                        <a:t>- Exadata performance for specific tier-1 workloads</a:t>
                      </a:r>
                    </a:p>
                    <a:p>
                      <a:r>
                        <a:t>- Autonomous Database for lift-and-shift and new use cases</a:t>
                      </a:r>
                    </a:p>
                    <a:p>
                      <a:r>
                        <a:t>- References from other hyperscalers and large enterprises</a:t>
                      </a:r>
                    </a:p>
                    <a:p/>
                    <a:p>
                      <a:r>
                        <a:t>RECENT IMPLEMENTATIONS:</a:t>
                      </a:r>
                    </a:p>
                    <a:p>
                      <a:r>
                        <a:t>- Oracle Database on Azure (pilot) - positive</a:t>
                      </a:r>
                    </a:p>
                    <a:p>
                      <a:r>
                        <a:t>- Oracle GoldenGate for replication - in evaluation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dirty="0">
                          <a:solidFill>
                            <a:srgbClr val="67605B"/>
                          </a:solidFill>
                          <a:latin typeface="Oracle Sans" panose="020B0503020204020204" pitchFamily="34" charset="0"/>
                          <a:cs typeface="Oracle Sans" panose="020B0503020204020204" pitchFamily="34" charset="0"/>
                        </a:rPr>
                        <a:t>&lt;What is the overall relationship strength and customer view of Oracle?&gt;</a:t>
                      </a:r>
                      <a:endParaRPr lang="en-US" sz="900" b="1" kern="1200" dirty="0">
                        <a:solidFill>
                          <a:srgbClr val="2C5967"/>
                        </a:solidFill>
                        <a:latin typeface="+mn-lt"/>
                        <a:ea typeface="+mn-ea"/>
                        <a:cs typeface="+mn-cs"/>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9064669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Account Status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(Red, yellow, green health status,  customer’s feeling towards Oracle - positive, negative, or neutral, issues to highlight and potential derailers)</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YELLOW - Strategic opportunity</a:t>
                      </a:r>
                    </a:p>
                    <a:p/>
                    <a:p>
                      <a:r>
                        <a:t>POSITIVES:</a:t>
                      </a:r>
                    </a:p>
                    <a:p>
                      <a:r>
                        <a:t>- VP Enterprise IT open to best-of-breed; not Azure-only</a:t>
                      </a:r>
                    </a:p>
                    <a:p>
                      <a:r>
                        <a:t>- Strong Oracle-Azure partnership simplifies narrative</a:t>
                      </a:r>
                    </a:p>
                    <a:p>
                      <a:r>
                        <a:t>- Budget allocated for database and data platform modernization</a:t>
                      </a:r>
                    </a:p>
                    <a:p/>
                    <a:p>
                      <a:r>
                        <a:t>POTENTIAL DERAILERS:</a:t>
                      </a:r>
                    </a:p>
                    <a:p>
                      <a:r>
                        <a:t>- Internal preference to standardize on Azure-native where possible</a:t>
                      </a:r>
                    </a:p>
                    <a:p>
                      <a:r>
                        <a:t>- Procurement and legal cycles long; need clear differentiation</a:t>
                      </a:r>
                    </a:p>
                    <a:p>
                      <a:r>
                        <a:t>- Competitive pressure from AWS (RDS, Aurora) and Google Cloud</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965154558"/>
                  </a:ext>
                </a:extLst>
              </a:tr>
              <a:tr h="662644">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solidFill>
                            <a:srgbClr val="2C5967"/>
                          </a:solidFill>
                          <a:latin typeface="+mn-lt"/>
                          <a:ea typeface="+mn-ea"/>
                          <a:cs typeface="+mn-cs"/>
                        </a:rPr>
                        <a:t>Oracle Talking Points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kern="1200" dirty="0">
                          <a:solidFill>
                            <a:schemeClr val="tx1"/>
                          </a:solidFill>
                          <a:latin typeface="+mn-lt"/>
                          <a:ea typeface="+mn-ea"/>
                          <a:cs typeface="+mn-cs"/>
                        </a:rPr>
                        <a:t>(3 main talking points Oracle exec should cover)</a:t>
                      </a:r>
                      <a:endParaRPr lang="en-US" sz="900" b="0" kern="1200" dirty="0">
                        <a:solidFill>
                          <a:schemeClr val="tx1"/>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3">
                  <a:txBody>
                    <a:bodyPr/>
                    <a:lstStyle/>
                    <a:p>
                      <a:r>
                        <a:t>1. ORACLE ON AZURE: Lead with Oracle Database on Azure, Exadata Cloud on Azure, and interconnect - show this is Azure-friendly, not either/or</a:t>
                      </a:r>
                    </a:p>
                    <a:p/>
                    <a:p>
                      <a:r>
                        <a:t>2. PERFORMANCE &amp; AUTONOMY: Demonstrate Exadata and Autonomous Database for tier-1 OLTP and analytics; reference benchmarks and similar enterprises</a:t>
                      </a:r>
                    </a:p>
                    <a:p/>
                    <a:p>
                      <a:r>
                        <a:t>3. MULTI-CLOUD DATA: GoldenGate and data integration for hybrid; sovereign cloud and compliance for regulated workloads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lvl="0" indent="0" algn="r" defTabSz="195517" rtl="0" eaLnBrk="1" fontAlgn="auto" latinLnBrk="0" hangingPunct="1">
                        <a:lnSpc>
                          <a:spcPct val="100000"/>
                        </a:lnSpc>
                        <a:spcBef>
                          <a:spcPts val="0"/>
                        </a:spcBef>
                        <a:spcAft>
                          <a:spcPts val="0"/>
                        </a:spcAft>
                        <a:buClrTx/>
                        <a:buSzTx/>
                        <a:buFontTx/>
                        <a:buNone/>
                        <a:tabLst/>
                        <a:defRPr/>
                      </a:pPr>
                      <a:r>
                        <a:rPr lang="en-US" sz="900">
                          <a:solidFill>
                            <a:srgbClr val="67605B"/>
                          </a:solidFill>
                          <a:latin typeface="Oracle Sans" panose="020B0503020204020204" pitchFamily="34" charset="0"/>
                          <a:cs typeface="Oracle Sans" panose="020B0503020204020204" pitchFamily="34" charset="0"/>
                        </a:rPr>
                        <a:t>&lt;e.g. transformation, mergers / acquisitions, growth strategy.</a:t>
                      </a:r>
                      <a:r>
                        <a:rPr lang="en-US" sz="900" baseline="0">
                          <a:solidFill>
                            <a:srgbClr val="67605B"/>
                          </a:solidFill>
                          <a:latin typeface="Oracle Sans" panose="020B0503020204020204" pitchFamily="34" charset="0"/>
                          <a:cs typeface="Oracle Sans" panose="020B0503020204020204" pitchFamily="34" charset="0"/>
                        </a:rPr>
                        <a:t> </a:t>
                      </a:r>
                      <a:r>
                        <a:rPr lang="en-US" sz="900">
                          <a:solidFill>
                            <a:srgbClr val="67605B"/>
                          </a:solidFill>
                          <a:latin typeface="Oracle Sans" panose="020B0503020204020204" pitchFamily="34" charset="0"/>
                          <a:cs typeface="Oracle Sans" panose="020B0503020204020204" pitchFamily="34" charset="0"/>
                        </a:rPr>
                        <a:t>Multiple ERP systems being leveraged across the company with no common data repository, which is both cumbersome and costly to manage.&gt;</a:t>
                      </a:r>
                      <a:endParaRPr lang="en-US" sz="900" b="1" kern="1200" dirty="0">
                        <a:solidFill>
                          <a:srgbClr val="2C5967"/>
                        </a:solidFill>
                        <a:latin typeface="+mn-lt"/>
                        <a:ea typeface="+mn-ea"/>
                        <a:cs typeface="+mn-cs"/>
                      </a:endParaRPr>
                    </a:p>
                  </a:txBody>
                  <a:tcPr marT="0" marB="0" anchor="ctr"/>
                </a:tc>
                <a:tc hMerge="1">
                  <a:txBody>
                    <a:bodyPr/>
                    <a:lstStyle/>
                    <a:p>
                      <a:endParaRPr lang="en-US"/>
                    </a:p>
                  </a:txBody>
                  <a:tcPr/>
                </a:tc>
                <a:extLst>
                  <a:ext uri="{0D108BD9-81ED-4DB2-BD59-A6C34878D82A}">
                    <a16:rowId xmlns:a16="http://schemas.microsoft.com/office/drawing/2014/main" val="3430135698"/>
                  </a:ext>
                </a:extLst>
              </a:tr>
            </a:tbl>
          </a:graphicData>
        </a:graphic>
      </p:graphicFrame>
      <p:pic>
        <p:nvPicPr>
          <p:cNvPr id="21" name="Picture 20">
            <a:extLst>
              <a:ext uri="{FF2B5EF4-FFF2-40B4-BE49-F238E27FC236}">
                <a16:creationId xmlns:a16="http://schemas.microsoft.com/office/drawing/2014/main" id="{F1993DF2-0200-0E81-A2DC-844CC34078F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333" r="22222"/>
          <a:stretch/>
        </p:blipFill>
        <p:spPr>
          <a:xfrm>
            <a:off x="306948" y="909378"/>
            <a:ext cx="757450" cy="731520"/>
          </a:xfrm>
          <a:prstGeom prst="rect">
            <a:avLst/>
          </a:prstGeom>
        </p:spPr>
      </p:pic>
      <p:pic>
        <p:nvPicPr>
          <p:cNvPr id="22" name="Picture 21">
            <a:extLst>
              <a:ext uri="{FF2B5EF4-FFF2-40B4-BE49-F238E27FC236}">
                <a16:creationId xmlns:a16="http://schemas.microsoft.com/office/drawing/2014/main" id="{6C2806C5-B1B2-E7A3-42D8-5BE2FF39492B}"/>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23333" r="22222"/>
          <a:stretch/>
        </p:blipFill>
        <p:spPr>
          <a:xfrm>
            <a:off x="1259692" y="909378"/>
            <a:ext cx="1604858" cy="731520"/>
          </a:xfrm>
          <a:prstGeom prst="rect">
            <a:avLst/>
          </a:prstGeom>
        </p:spPr>
      </p:pic>
    </p:spTree>
    <p:extLst>
      <p:ext uri="{BB962C8B-B14F-4D97-AF65-F5344CB8AC3E}">
        <p14:creationId xmlns:p14="http://schemas.microsoft.com/office/powerpoint/2010/main" val="349223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0851D5C-0391-8C3C-CFDA-9B26DD635BBC}"/>
              </a:ext>
            </a:extLst>
          </p:cNvPr>
          <p:cNvGraphicFramePr>
            <a:graphicFrameLocks noGrp="1"/>
          </p:cNvGraphicFramePr>
          <p:nvPr>
            <p:extLst>
              <p:ext uri="{D42A27DB-BD31-4B8C-83A1-F6EECF244321}">
                <p14:modId xmlns:p14="http://schemas.microsoft.com/office/powerpoint/2010/main" val="3483581123"/>
              </p:ext>
            </p:extLst>
          </p:nvPr>
        </p:nvGraphicFramePr>
        <p:xfrm>
          <a:off x="163793" y="7185907"/>
          <a:ext cx="7315201" cy="2458197"/>
        </p:xfrm>
        <a:graphic>
          <a:graphicData uri="http://schemas.openxmlformats.org/drawingml/2006/table">
            <a:tbl>
              <a:tblPr firstRow="1" bandRow="1">
                <a:tableStyleId>{2D5ABB26-0587-4C30-8999-92F81FD0307C}</a:tableStyleId>
              </a:tblPr>
              <a:tblGrid>
                <a:gridCol w="1560257">
                  <a:extLst>
                    <a:ext uri="{9D8B030D-6E8A-4147-A177-3AD203B41FA5}">
                      <a16:colId xmlns:a16="http://schemas.microsoft.com/office/drawing/2014/main" val="1823716183"/>
                    </a:ext>
                  </a:extLst>
                </a:gridCol>
                <a:gridCol w="263334">
                  <a:extLst>
                    <a:ext uri="{9D8B030D-6E8A-4147-A177-3AD203B41FA5}">
                      <a16:colId xmlns:a16="http://schemas.microsoft.com/office/drawing/2014/main" val="1711870494"/>
                    </a:ext>
                  </a:extLst>
                </a:gridCol>
                <a:gridCol w="1790672">
                  <a:extLst>
                    <a:ext uri="{9D8B030D-6E8A-4147-A177-3AD203B41FA5}">
                      <a16:colId xmlns:a16="http://schemas.microsoft.com/office/drawing/2014/main" val="3368796299"/>
                    </a:ext>
                  </a:extLst>
                </a:gridCol>
                <a:gridCol w="1857698">
                  <a:extLst>
                    <a:ext uri="{9D8B030D-6E8A-4147-A177-3AD203B41FA5}">
                      <a16:colId xmlns:a16="http://schemas.microsoft.com/office/drawing/2014/main" val="1078110989"/>
                    </a:ext>
                  </a:extLst>
                </a:gridCol>
                <a:gridCol w="1843240">
                  <a:extLst>
                    <a:ext uri="{9D8B030D-6E8A-4147-A177-3AD203B41FA5}">
                      <a16:colId xmlns:a16="http://schemas.microsoft.com/office/drawing/2014/main" val="2233156983"/>
                    </a:ext>
                  </a:extLst>
                </a:gridCol>
              </a:tblGrid>
              <a:tr h="187656">
                <a:tc gridSpan="5">
                  <a:txBody>
                    <a:bodyPr/>
                    <a:lstStyle/>
                    <a:p>
                      <a:pPr marL="0" marR="0" lvl="0" indent="0" algn="ctr" defTabSz="195517" rtl="0" eaLnBrk="1" fontAlgn="auto" latinLnBrk="0" hangingPunct="1">
                        <a:lnSpc>
                          <a:spcPct val="100000"/>
                        </a:lnSpc>
                        <a:spcBef>
                          <a:spcPts val="0"/>
                        </a:spcBef>
                        <a:spcAft>
                          <a:spcPts val="0"/>
                        </a:spcAft>
                        <a:buClrTx/>
                        <a:buSzTx/>
                        <a:buFontTx/>
                        <a:buNone/>
                        <a:tabLst/>
                        <a:defRPr/>
                      </a:pPr>
                      <a:r>
                        <a:rPr lang="en-US" sz="900" b="1" kern="1200" dirty="0">
                          <a:solidFill>
                            <a:schemeClr val="tx1"/>
                          </a:solidFill>
                          <a:latin typeface="+mn-lt"/>
                          <a:ea typeface="+mn-ea"/>
                          <a:cs typeface="+mn-cs"/>
                        </a:rPr>
                        <a:t>Most Recent Oracle Executive Engagements (within the last 24 months)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381816085"/>
                  </a:ext>
                </a:extLst>
              </a:tr>
              <a:tr h="229653">
                <a:tc gridSpan="2">
                  <a:txBody>
                    <a:bodyPr/>
                    <a:lstStyle/>
                    <a:p>
                      <a:pPr algn="ctr"/>
                      <a:r>
                        <a:rPr lang="en-US" sz="900" b="1" dirty="0">
                          <a:solidFill>
                            <a:srgbClr val="2C5967"/>
                          </a:solidFill>
                        </a:rPr>
                        <a:t>Engagement Type</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solidFill>
                            <a:srgbClr val="2C5967"/>
                          </a:solidFill>
                        </a:rPr>
                        <a:t>Engagement Date/Location</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Oracle Executive Attendee</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solidFill>
                            <a:srgbClr val="2C5967"/>
                          </a:solidFill>
                          <a:latin typeface="+mn-lt"/>
                          <a:ea typeface="+mn-ea"/>
                          <a:cs typeface="+mn-cs"/>
                        </a:rPr>
                        <a:t>Main Customer Attendee(s)</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738558021"/>
                  </a:ext>
                </a:extLst>
              </a:tr>
              <a:tr h="189866">
                <a:tc gridSpan="2">
                  <a:txBody>
                    <a:bodyPr/>
                    <a:lstStyle/>
                    <a:p>
                      <a:r>
                        <a:t>1:1 Executive Briefing</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r>
                        <a:t>February 2026 / Redwood City</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Karen Williams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Sarah Johnson, David Park</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4021392085"/>
                  </a:ext>
                </a:extLst>
              </a:tr>
              <a:tr h="184150">
                <a:tc gridSpan="2">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3030098202"/>
                  </a:ext>
                </a:extLst>
              </a:tr>
              <a:tr h="196850">
                <a:tc gridSpan="2">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US" sz="900" b="0" dirty="0">
                        <a:solidFill>
                          <a:schemeClr val="tx1"/>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1477610"/>
                  </a:ext>
                </a:extLst>
              </a:tr>
              <a:tr h="189752">
                <a:tc gridSpan="5">
                  <a:txBody>
                    <a:bodyPr/>
                    <a:lstStyle/>
                    <a:p>
                      <a:pPr algn="ctr"/>
                      <a:r>
                        <a:rPr lang="en-US" sz="900" b="1" dirty="0">
                          <a:solidFill>
                            <a:schemeClr val="tx1"/>
                          </a:solidFill>
                        </a:rPr>
                        <a:t>Account Team</a:t>
                      </a:r>
                    </a:p>
                  </a:txBody>
                  <a:tcPr marL="45720" marR="45720" marT="0" marB="0" anchor="ct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hMerge="1">
                  <a:txBody>
                    <a:bodyPr/>
                    <a:lstStyle/>
                    <a:p>
                      <a:endParaRPr lang="en-US"/>
                    </a:p>
                  </a:txBody>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61076206"/>
                  </a:ext>
                </a:extLst>
              </a:tr>
              <a:tr h="229653">
                <a:tc>
                  <a:txBody>
                    <a:bodyPr/>
                    <a:lstStyle/>
                    <a:p>
                      <a:pPr algn="l"/>
                      <a:r>
                        <a:rPr lang="en-US" sz="900" b="1" dirty="0">
                          <a:solidFill>
                            <a:srgbClr val="2C5967"/>
                          </a:solidFill>
                        </a:rPr>
                        <a:t>SCD / LAM</a:t>
                      </a:r>
                    </a:p>
                    <a:p>
                      <a:pPr algn="l"/>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Karen Williams, Sr. Account Executive, karen.williams@oracle.com, (425) 555-7890</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285386381"/>
                  </a:ext>
                </a:extLst>
              </a:tr>
              <a:tr h="229653">
                <a:tc>
                  <a:txBody>
                    <a:bodyPr/>
                    <a:lstStyle/>
                    <a:p>
                      <a:pPr algn="l"/>
                      <a:r>
                        <a:rPr lang="en-US" sz="900" b="1" dirty="0">
                          <a:solidFill>
                            <a:srgbClr val="2C5967"/>
                          </a:solidFill>
                        </a:rPr>
                        <a:t>Other Account Manager(s)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Steven Lee, Strategic Account Manager, steven.lee@oracle.com, (425) 555-7891</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extLst>
                  <a:ext uri="{0D108BD9-81ED-4DB2-BD59-A6C34878D82A}">
                    <a16:rowId xmlns:a16="http://schemas.microsoft.com/office/drawing/2014/main" val="1885292419"/>
                  </a:ext>
                </a:extLst>
              </a:tr>
              <a:tr h="229653">
                <a:tc>
                  <a:txBody>
                    <a:bodyPr/>
                    <a:lstStyle/>
                    <a:p>
                      <a:pPr algn="l"/>
                      <a:r>
                        <a:rPr lang="en-US" sz="900" b="1" dirty="0">
                          <a:solidFill>
                            <a:srgbClr val="2C5967"/>
                          </a:solidFill>
                        </a:rPr>
                        <a:t>CSE / CSM</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4">
                  <a:txBody>
                    <a:bodyPr/>
                    <a:lstStyle/>
                    <a:p>
                      <a:r>
                        <a:t>Nancy Clark, Customer Success Manager, nancy.clark@oracle.com, (425) 555-7892</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pPr algn="ctr"/>
                      <a:endParaRPr lang="en-US" sz="900" b="1" dirty="0">
                        <a:solidFill>
                          <a:srgbClr val="2C5967"/>
                        </a:solidFill>
                        <a:latin typeface="Oracle Sans Light" panose="020B0403020204020204" pitchFamily="34" charset="0"/>
                        <a:cs typeface="Oracle Sans Light" panose="020B04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extLst>
                  <a:ext uri="{0D108BD9-81ED-4DB2-BD59-A6C34878D82A}">
                    <a16:rowId xmlns:a16="http://schemas.microsoft.com/office/drawing/2014/main" val="189300571"/>
                  </a:ext>
                </a:extLst>
              </a:tr>
              <a:tr h="229653">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Executive Sponsor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(Name, title, email, phone)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r>
                        <a:t>Richard Moore, SVP West Region Sales, richard.moore@oracle.com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62320209"/>
                  </a:ext>
                </a:extLst>
              </a:tr>
              <a:tr h="304910">
                <a:tc>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dirty="0">
                          <a:solidFill>
                            <a:srgbClr val="2C5967"/>
                          </a:solidFill>
                        </a:rPr>
                        <a:t>Implementation Partner</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b="0" dirty="0">
                          <a:solidFill>
                            <a:schemeClr val="tx1"/>
                          </a:solidFill>
                        </a:rPr>
                        <a:t>(Partner name and relevant info)</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gridSpan="4">
                  <a:txBody>
                    <a:bodyPr/>
                    <a:lstStyle/>
                    <a:p>
                      <a:r>
                        <a:t>Accenture - Cloud &amp; Data (Primary), Capgemini (Integration)</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05904968"/>
                  </a:ext>
                </a:extLst>
              </a:tr>
            </a:tbl>
          </a:graphicData>
        </a:graphic>
      </p:graphicFrame>
      <p:graphicFrame>
        <p:nvGraphicFramePr>
          <p:cNvPr id="4" name="Table 3">
            <a:extLst>
              <a:ext uri="{FF2B5EF4-FFF2-40B4-BE49-F238E27FC236}">
                <a16:creationId xmlns:a16="http://schemas.microsoft.com/office/drawing/2014/main" id="{128D44B6-3897-02DF-B6AF-7FA0950E93B9}"/>
              </a:ext>
            </a:extLst>
          </p:cNvPr>
          <p:cNvGraphicFramePr>
            <a:graphicFrameLocks noGrp="1"/>
          </p:cNvGraphicFramePr>
          <p:nvPr>
            <p:extLst>
              <p:ext uri="{D42A27DB-BD31-4B8C-83A1-F6EECF244321}">
                <p14:modId xmlns:p14="http://schemas.microsoft.com/office/powerpoint/2010/main" val="992411780"/>
              </p:ext>
            </p:extLst>
          </p:nvPr>
        </p:nvGraphicFramePr>
        <p:xfrm>
          <a:off x="163793" y="5967930"/>
          <a:ext cx="7311601" cy="1012893"/>
        </p:xfrm>
        <a:graphic>
          <a:graphicData uri="http://schemas.openxmlformats.org/drawingml/2006/table">
            <a:tbl>
              <a:tblPr firstRow="1" bandRow="1">
                <a:tableStyleId>{2D5ABB26-0587-4C30-8999-92F81FD0307C}</a:tableStyleId>
              </a:tblPr>
              <a:tblGrid>
                <a:gridCol w="1218600">
                  <a:extLst>
                    <a:ext uri="{9D8B030D-6E8A-4147-A177-3AD203B41FA5}">
                      <a16:colId xmlns:a16="http://schemas.microsoft.com/office/drawing/2014/main" val="1865643287"/>
                    </a:ext>
                  </a:extLst>
                </a:gridCol>
                <a:gridCol w="1493450">
                  <a:extLst>
                    <a:ext uri="{9D8B030D-6E8A-4147-A177-3AD203B41FA5}">
                      <a16:colId xmlns:a16="http://schemas.microsoft.com/office/drawing/2014/main" val="3872007410"/>
                    </a:ext>
                  </a:extLst>
                </a:gridCol>
                <a:gridCol w="1666615">
                  <a:extLst>
                    <a:ext uri="{9D8B030D-6E8A-4147-A177-3AD203B41FA5}">
                      <a16:colId xmlns:a16="http://schemas.microsoft.com/office/drawing/2014/main" val="2966371849"/>
                    </a:ext>
                  </a:extLst>
                </a:gridCol>
                <a:gridCol w="1714336">
                  <a:extLst>
                    <a:ext uri="{9D8B030D-6E8A-4147-A177-3AD203B41FA5}">
                      <a16:colId xmlns:a16="http://schemas.microsoft.com/office/drawing/2014/main" val="1743445744"/>
                    </a:ext>
                  </a:extLst>
                </a:gridCol>
                <a:gridCol w="1218600">
                  <a:extLst>
                    <a:ext uri="{9D8B030D-6E8A-4147-A177-3AD203B41FA5}">
                      <a16:colId xmlns:a16="http://schemas.microsoft.com/office/drawing/2014/main" val="3111226398"/>
                    </a:ext>
                  </a:extLst>
                </a:gridCol>
              </a:tblGrid>
              <a:tr h="318309">
                <a:tc>
                  <a:txBody>
                    <a:bodyPr/>
                    <a:lstStyle/>
                    <a:p>
                      <a:pPr algn="ctr"/>
                      <a:r>
                        <a:rPr lang="en-US" sz="900" b="1" dirty="0">
                          <a:ln>
                            <a:noFill/>
                          </a:ln>
                        </a:rPr>
                        <a:t>Last Audit Date</a:t>
                      </a:r>
                    </a:p>
                  </a:txBody>
                  <a:tcPr marL="0" marR="0" marT="0" marB="0" anchor="ctr">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Audit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Is </a:t>
                      </a:r>
                      <a:r>
                        <a:rPr lang="en-US" sz="900" b="1" dirty="0">
                          <a:ln>
                            <a:noFill/>
                          </a:ln>
                          <a:hlinkClick r:id="rId3"/>
                        </a:rPr>
                        <a:t>LMS Legal </a:t>
                      </a:r>
                      <a:r>
                        <a:rPr lang="en-US" sz="900" b="1" dirty="0">
                          <a:ln>
                            <a:noFill/>
                          </a:ln>
                        </a:rPr>
                        <a:t>Involved?</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kern="1200" dirty="0">
                          <a:ln>
                            <a:noFill/>
                          </a:ln>
                          <a:solidFill>
                            <a:schemeClr val="tx1"/>
                          </a:solidFill>
                          <a:latin typeface="+mn-lt"/>
                          <a:ea typeface="+mn-ea"/>
                          <a:cs typeface="+mn-cs"/>
                        </a:rPr>
                        <a:t>ULA Certification Active</a:t>
                      </a:r>
                    </a:p>
                  </a:txBody>
                  <a:tcPr marL="0" marR="0" marT="0"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900" b="1" dirty="0">
                          <a:ln>
                            <a:noFill/>
                          </a:ln>
                        </a:rPr>
                        <a:t>LMS Contact</a:t>
                      </a:r>
                    </a:p>
                  </a:txBody>
                  <a:tcPr marL="0" marR="0" marT="0" marB="0" anchor="ctr">
                    <a:lnL w="12700" cap="flat" cmpd="sng" algn="ctr">
                      <a:solidFill>
                        <a:schemeClr val="bg2"/>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839229030"/>
                  </a:ext>
                </a:extLst>
              </a:tr>
              <a:tr h="213888">
                <a:tc>
                  <a:txBody>
                    <a:bodyPr/>
                    <a:lstStyle/>
                    <a:p>
                      <a:r>
                        <a:t>September 2024</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No</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r>
                        <a:t>N/A</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endParaRPr lang="en-US" sz="900" b="0" dirty="0">
                        <a:ln>
                          <a:noFill/>
                        </a:ln>
                        <a:solidFill>
                          <a:schemeClr val="tx1"/>
                        </a:solidFill>
                        <a:latin typeface="+mn-lt"/>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912910007"/>
                  </a:ext>
                </a:extLst>
              </a:tr>
              <a:tr h="240348">
                <a:tc gridSpan="4">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r>
                        <a:rPr lang="en-US" sz="900" b="1" kern="1200" dirty="0">
                          <a:ln>
                            <a:noFill/>
                          </a:ln>
                          <a:solidFill>
                            <a:schemeClr val="tx1"/>
                          </a:solidFill>
                          <a:latin typeface="+mn-lt"/>
                          <a:ea typeface="+mn-ea"/>
                          <a:cs typeface="+mn-cs"/>
                          <a:hlinkClick r:id="rId4"/>
                        </a:rPr>
                        <a:t>Software Investment Advisor</a:t>
                      </a:r>
                      <a:r>
                        <a:rPr lang="en-US" sz="900" b="1" kern="1200" dirty="0">
                          <a:ln>
                            <a:noFill/>
                          </a:ln>
                          <a:solidFill>
                            <a:schemeClr val="tx1"/>
                          </a:solidFill>
                          <a:latin typeface="+mn-lt"/>
                          <a:ea typeface="+mn-ea"/>
                          <a:cs typeface="+mn-cs"/>
                        </a:rPr>
                        <a:t> (SIA) Engaged</a:t>
                      </a:r>
                    </a:p>
                  </a:txBody>
                  <a:tcPr marT="0" marB="0" anchor="ctr">
                    <a:lnR w="12700" cap="flat" cmpd="sng" algn="ctr">
                      <a:solidFill>
                        <a:schemeClr val="bg2"/>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endParaRPr lang="en-US" sz="10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sz="1000" dirty="0"/>
                    </a:p>
                  </a:txBody>
                  <a:tcPr marT="0" marB="0" anchor="ctr">
                    <a:lnL w="12700" cap="flat" cmpd="sng" algn="ctr">
                      <a:solidFill>
                        <a:schemeClr val="bg2"/>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tcPr>
                </a:tc>
                <a:tc>
                  <a:txBody>
                    <a:bodyPr/>
                    <a:lstStyle/>
                    <a:p>
                      <a:pPr marL="0" algn="ctr" defTabSz="195517" rtl="0" eaLnBrk="1" latinLnBrk="0" hangingPunct="1"/>
                      <a:r>
                        <a:rPr lang="en-US" sz="900" b="1" kern="1200" dirty="0">
                          <a:ln>
                            <a:noFill/>
                          </a:ln>
                          <a:solidFill>
                            <a:schemeClr val="tx1"/>
                          </a:solidFill>
                          <a:latin typeface="+mn-lt"/>
                          <a:ea typeface="+mn-ea"/>
                          <a:cs typeface="+mn-cs"/>
                        </a:rPr>
                        <a:t>SIA Contact</a:t>
                      </a:r>
                    </a:p>
                  </a:txBody>
                  <a:tcPr marT="0" marB="0" anchor="ctr">
                    <a:lnL w="12700" cap="flat" cmpd="sng" algn="ctr">
                      <a:solidFill>
                        <a:schemeClr val="bg2"/>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024768492"/>
                  </a:ext>
                </a:extLst>
              </a:tr>
              <a:tr h="240348">
                <a:tc gridSpan="4">
                  <a:txBody>
                    <a:bodyPr/>
                    <a:lstStyle/>
                    <a:p>
                      <a:r>
                        <a:t>Yes</a:t>
                      </a:r>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900" dirty="0"/>
                    </a:p>
                  </a:txBody>
                  <a:tcPr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sz="900" dirty="0"/>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a:txBody>
                    <a:bodyPr/>
                    <a:lstStyle/>
                    <a:p>
                      <a:r>
                        <a:t>Susan Gray, SIA Manager</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8495261"/>
                  </a:ext>
                </a:extLst>
              </a:tr>
            </a:tbl>
          </a:graphicData>
        </a:graphic>
      </p:graphicFrame>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EF274413-8361-3A83-5E67-963DD8B4A72E}"/>
                  </a:ext>
                </a:extLst>
              </p14:cNvPr>
              <p14:cNvContentPartPr/>
              <p14:nvPr/>
            </p14:nvContentPartPr>
            <p14:xfrm>
              <a:off x="283821" y="866301"/>
              <a:ext cx="360" cy="360"/>
            </p14:xfrm>
          </p:contentPart>
        </mc:Choice>
        <mc:Fallback xmlns="">
          <p:pic>
            <p:nvPicPr>
              <p:cNvPr id="5" name="Ink 4">
                <a:extLst>
                  <a:ext uri="{FF2B5EF4-FFF2-40B4-BE49-F238E27FC236}">
                    <a16:creationId xmlns:a16="http://schemas.microsoft.com/office/drawing/2014/main" id="{EF274413-8361-3A83-5E67-963DD8B4A72E}"/>
                  </a:ext>
                </a:extLst>
              </p:cNvPr>
              <p:cNvPicPr/>
              <p:nvPr/>
            </p:nvPicPr>
            <p:blipFill>
              <a:blip r:embed="rId6"/>
              <a:stretch>
                <a:fillRect/>
              </a:stretch>
            </p:blipFill>
            <p:spPr>
              <a:xfrm>
                <a:off x="279501" y="861981"/>
                <a:ext cx="9000" cy="9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9941224A-9B37-D514-4413-28344FEC0053}"/>
                  </a:ext>
                </a:extLst>
              </p14:cNvPr>
              <p14:cNvContentPartPr/>
              <p14:nvPr/>
            </p14:nvContentPartPr>
            <p14:xfrm>
              <a:off x="307941" y="858381"/>
              <a:ext cx="3600" cy="360"/>
            </p14:xfrm>
          </p:contentPart>
        </mc:Choice>
        <mc:Fallback xmlns="">
          <p:pic>
            <p:nvPicPr>
              <p:cNvPr id="6" name="Ink 5">
                <a:extLst>
                  <a:ext uri="{FF2B5EF4-FFF2-40B4-BE49-F238E27FC236}">
                    <a16:creationId xmlns:a16="http://schemas.microsoft.com/office/drawing/2014/main" id="{9941224A-9B37-D514-4413-28344FEC0053}"/>
                  </a:ext>
                </a:extLst>
              </p:cNvPr>
              <p:cNvPicPr/>
              <p:nvPr/>
            </p:nvPicPr>
            <p:blipFill>
              <a:blip r:embed="rId6"/>
              <a:stretch>
                <a:fillRect/>
              </a:stretch>
            </p:blipFill>
            <p:spPr>
              <a:xfrm>
                <a:off x="303621" y="854061"/>
                <a:ext cx="12240" cy="9000"/>
              </a:xfrm>
              <a:prstGeom prst="rect">
                <a:avLst/>
              </a:prstGeom>
            </p:spPr>
          </p:pic>
        </mc:Fallback>
      </mc:AlternateContent>
      <p:graphicFrame>
        <p:nvGraphicFramePr>
          <p:cNvPr id="7" name="Table 6">
            <a:extLst>
              <a:ext uri="{FF2B5EF4-FFF2-40B4-BE49-F238E27FC236}">
                <a16:creationId xmlns:a16="http://schemas.microsoft.com/office/drawing/2014/main" id="{C4990E67-9C3E-FD00-7895-E2EFB5B3B9D2}"/>
              </a:ext>
            </a:extLst>
          </p:cNvPr>
          <p:cNvGraphicFramePr>
            <a:graphicFrameLocks noGrp="1"/>
          </p:cNvGraphicFramePr>
          <p:nvPr>
            <p:extLst>
              <p:ext uri="{D42A27DB-BD31-4B8C-83A1-F6EECF244321}">
                <p14:modId xmlns:p14="http://schemas.microsoft.com/office/powerpoint/2010/main" val="2399448383"/>
              </p:ext>
            </p:extLst>
          </p:nvPr>
        </p:nvGraphicFramePr>
        <p:xfrm>
          <a:off x="163793" y="839114"/>
          <a:ext cx="7278998" cy="4937760"/>
        </p:xfrm>
        <a:graphic>
          <a:graphicData uri="http://schemas.openxmlformats.org/drawingml/2006/table">
            <a:tbl>
              <a:tblPr firstRow="1" bandRow="1">
                <a:tableStyleId>{2D5ABB26-0587-4C30-8999-92F81FD0307C}</a:tableStyleId>
              </a:tblPr>
              <a:tblGrid>
                <a:gridCol w="1198663">
                  <a:extLst>
                    <a:ext uri="{9D8B030D-6E8A-4147-A177-3AD203B41FA5}">
                      <a16:colId xmlns:a16="http://schemas.microsoft.com/office/drawing/2014/main" val="934969453"/>
                    </a:ext>
                  </a:extLst>
                </a:gridCol>
                <a:gridCol w="1946209">
                  <a:extLst>
                    <a:ext uri="{9D8B030D-6E8A-4147-A177-3AD203B41FA5}">
                      <a16:colId xmlns:a16="http://schemas.microsoft.com/office/drawing/2014/main" val="1382363182"/>
                    </a:ext>
                  </a:extLst>
                </a:gridCol>
                <a:gridCol w="4134126">
                  <a:extLst>
                    <a:ext uri="{9D8B030D-6E8A-4147-A177-3AD203B41FA5}">
                      <a16:colId xmlns:a16="http://schemas.microsoft.com/office/drawing/2014/main" val="3769453652"/>
                    </a:ext>
                  </a:extLst>
                </a:gridCol>
              </a:tblGrid>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Sarah Johnson, VP Enterprise IT, sarah.johnson@microsoft.com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Sarah Johnson, VP Enterprise IT, sarah.johnson@microsoft.com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145389527"/>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Owns enterprise data strategy. Wants best-of-breed where Azure does not meet bar. Open to Oracle for DB and data platform if integration story is clear.</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Owns enterprise data strategy. Wants best-of-breed where Azure does not meet bar. Open to Oracle for DB and data platform if integration story is clear.</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93680188"/>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18+ years in enterprise IT, former CIO at Fortune 500. Focus on cloud and data strategy.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18+ years in enterprise IT, former CIO at Fortune 500. Focus on cloud and data strategy.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524122"/>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David Park, Director Database &amp; Data Platform, david.park@microsoft.com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David Park, Director Database &amp; Data Platform, david.park@microsoft.com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83417940"/>
                  </a:ext>
                </a:extLst>
              </a:tr>
              <a:tr h="349337">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Technical decision maker for database tier. Interested in Exadata and Autonomous for specific workloads. Will ask detailed performance and ops questions.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Technical decision maker for database tier. Interested in Exadata and Autonomous for specific workloads. Will ask detailed performance and ops questions.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1040647383"/>
                  </a:ext>
                </a:extLst>
              </a:tr>
              <a:tr h="349337">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Former Oracle DBA and SQL Server lead. 15 years in database platforms.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Former Oracle DBA and SQL Server lead. 15 years in database platforms.</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7414671"/>
                  </a:ext>
                </a:extLst>
              </a:tr>
              <a:tr h="349337">
                <a:tc rowSpan="3">
                  <a:txBody>
                    <a:bodyPr/>
                    <a:lstStyle/>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Lisa Martinez, Head of Cloud Strategy, lisa.martinez@microsoft.com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Lisa Martinez, Head of Cloud Strategy, lisa.martinez@microsoft.com</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290201">
                <a:tc vMerge="1">
                  <a:txBody>
                    <a:bodyPr/>
                    <a:lstStyle/>
                    <a:p>
                      <a:pPr marL="0" marR="0" lvl="0" indent="0" algn="l" defTabSz="195517" rtl="0" eaLnBrk="1" fontAlgn="auto" latinLnBrk="0" hangingPunct="1">
                        <a:lnSpc>
                          <a:spcPct val="100000"/>
                        </a:lnSpc>
                        <a:spcBef>
                          <a:spcPts val="0"/>
                        </a:spcBef>
                        <a:spcAft>
                          <a:spcPts val="0"/>
                        </a:spcAft>
                        <a:buClrTx/>
                        <a:buSzTx/>
                        <a:buFontTx/>
                        <a:buNone/>
                        <a:tabLst/>
                        <a:defRPr/>
                      </a:pPr>
                      <a:endParaRPr lang="en-US" sz="700" dirty="0">
                        <a:solidFill>
                          <a:srgbClr val="67605B"/>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bg1"/>
                    </a:solidFill>
                  </a:tcPr>
                </a:tc>
                <a:tc>
                  <a:txBody>
                    <a:bodyPr/>
                    <a:lstStyle/>
                    <a:p>
                      <a:r>
                        <a:t>Owns cloud vendor strategy. Wants clear Oracle-Azure roadmap and cost model. Skeptical of adding another cloud but willing to listen.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r>
                        <a:t>Owns cloud vendor strategy. Wants clear Oracle-Azure roadmap and cost model. Skeptical of adding another cloud but willing to listen.</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201">
                <a:tc vMerge="1">
                  <a:txBody>
                    <a:bodyPr/>
                    <a:lstStyle/>
                    <a:p>
                      <a:pPr marL="0" algn="l" defTabSz="195517" rtl="0" eaLnBrk="1" latinLnBrk="0" hangingPunct="1"/>
                      <a:endParaRPr lang="en-US" sz="700" b="0" kern="1200" dirty="0">
                        <a:solidFill>
                          <a:srgbClr val="67605B"/>
                        </a:solidFill>
                        <a:latin typeface="+mn-lt"/>
                        <a:ea typeface="+mn-ea"/>
                        <a:cs typeface="+mn-cs"/>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t>Ex-AWS and Azure. 12 years in cloud architecture and strategy.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t>Ex-AWS and Azure. 12 years in cloud architecture and strategy.</a:t>
                      </a:r>
                    </a:p>
                  </a:txBody>
                  <a:tcPr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8918100"/>
                  </a:ext>
                </a:extLst>
              </a:tr>
            </a:tbl>
          </a:graphicData>
        </a:graphic>
      </p:graphicFrame>
      <p:pic>
        <p:nvPicPr>
          <p:cNvPr id="8" name="Picture 7" descr="A picture containing text&#10;&#10;Description automatically generated">
            <a:extLst>
              <a:ext uri="{FF2B5EF4-FFF2-40B4-BE49-F238E27FC236}">
                <a16:creationId xmlns:a16="http://schemas.microsoft.com/office/drawing/2014/main" id="{40F1D101-8E72-F518-2C92-B88D1D21AF82}"/>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1187424"/>
            <a:ext cx="914400" cy="914400"/>
          </a:xfrm>
          <a:prstGeom prst="rect">
            <a:avLst/>
          </a:prstGeom>
        </p:spPr>
      </p:pic>
      <p:pic>
        <p:nvPicPr>
          <p:cNvPr id="9" name="Picture 8" descr="A picture containing text&#10;&#10;Description automatically generated">
            <a:extLst>
              <a:ext uri="{FF2B5EF4-FFF2-40B4-BE49-F238E27FC236}">
                <a16:creationId xmlns:a16="http://schemas.microsoft.com/office/drawing/2014/main" id="{6C788A28-2438-E116-7642-79F36D1A078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11580" y="2845729"/>
            <a:ext cx="914400" cy="914400"/>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1FAFDF71-F32B-762E-7E79-A1DBDC97F03A}"/>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00947" y="4528440"/>
            <a:ext cx="914400" cy="914400"/>
          </a:xfrm>
          <a:prstGeom prst="rect">
            <a:avLst/>
          </a:prstGeom>
        </p:spPr>
      </p:pic>
    </p:spTree>
    <p:extLst>
      <p:ext uri="{BB962C8B-B14F-4D97-AF65-F5344CB8AC3E}">
        <p14:creationId xmlns:p14="http://schemas.microsoft.com/office/powerpoint/2010/main" val="154051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5BE8610-820A-AC5A-88D4-B97659AA2400}"/>
              </a:ext>
            </a:extLst>
          </p:cNvPr>
          <p:cNvSpPr txBox="1"/>
          <p:nvPr/>
        </p:nvSpPr>
        <p:spPr>
          <a:xfrm>
            <a:off x="165100" y="699700"/>
            <a:ext cx="5753100" cy="276999"/>
          </a:xfrm>
          <a:prstGeom prst="rect">
            <a:avLst/>
          </a:prstGeom>
          <a:noFill/>
        </p:spPr>
        <p:txBody>
          <a:bodyPr wrap="square" lIns="0" rtlCol="0">
            <a:spAutoFit/>
          </a:bodyPr>
          <a:lstStyle/>
          <a:p>
            <a:r>
              <a:rPr lang="en-US" sz="1200" b="1" dirty="0">
                <a:solidFill>
                  <a:srgbClr val="2C5967"/>
                </a:solidFill>
              </a:rPr>
              <a:t>Customer References </a:t>
            </a:r>
            <a:r>
              <a:rPr lang="en-US" sz="1200" i="1" dirty="0"/>
              <a:t>&lt;Delete / Add as needed&gt;</a:t>
            </a:r>
          </a:p>
        </p:txBody>
      </p:sp>
      <p:graphicFrame>
        <p:nvGraphicFramePr>
          <p:cNvPr id="12" name="Table 11">
            <a:extLst>
              <a:ext uri="{FF2B5EF4-FFF2-40B4-BE49-F238E27FC236}">
                <a16:creationId xmlns:a16="http://schemas.microsoft.com/office/drawing/2014/main" id="{39A809CB-3909-41C5-DD19-0FE95177DB66}"/>
              </a:ext>
            </a:extLst>
          </p:cNvPr>
          <p:cNvGraphicFramePr>
            <a:graphicFrameLocks noGrp="1"/>
          </p:cNvGraphicFramePr>
          <p:nvPr>
            <p:extLst>
              <p:ext uri="{D42A27DB-BD31-4B8C-83A1-F6EECF244321}">
                <p14:modId xmlns:p14="http://schemas.microsoft.com/office/powerpoint/2010/main" val="898793170"/>
              </p:ext>
            </p:extLst>
          </p:nvPr>
        </p:nvGraphicFramePr>
        <p:xfrm>
          <a:off x="165100" y="1028291"/>
          <a:ext cx="7391400"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4">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JPMorgan Chase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Financial Services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www.jpmorganchase.com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Exadata, Oracle Autonomous Database, Oracle on Azure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p>
                      <a:pPr marL="0" algn="l" defTabSz="195517" rtl="0" eaLnBrk="1" latinLnBrk="0" hangingPunct="1"/>
                      <a:endParaRPr lang="en-US" sz="900" b="1" kern="1200" dirty="0">
                        <a:solidFill>
                          <a:srgbClr val="2C5967"/>
                        </a:solidFill>
                        <a:latin typeface="+mn-lt"/>
                        <a:ea typeface="+mn-ea"/>
                        <a:cs typeface="+mn-cs"/>
                      </a:endParaRP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Multi-cloud strategy with Oracle and Azure. Exadata for core banking; Autonomous for analytics. Achieved 40% lower TCO and improved SLAs.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3" name="Table 12">
            <a:extLst>
              <a:ext uri="{FF2B5EF4-FFF2-40B4-BE49-F238E27FC236}">
                <a16:creationId xmlns:a16="http://schemas.microsoft.com/office/drawing/2014/main" id="{8FE09F1B-A6F4-9A2D-14A8-E18C921A3E02}"/>
              </a:ext>
            </a:extLst>
          </p:cNvPr>
          <p:cNvGraphicFramePr>
            <a:graphicFrameLocks noGrp="1"/>
          </p:cNvGraphicFramePr>
          <p:nvPr>
            <p:extLst>
              <p:ext uri="{D42A27DB-BD31-4B8C-83A1-F6EECF244321}">
                <p14:modId xmlns:p14="http://schemas.microsoft.com/office/powerpoint/2010/main" val="1597344447"/>
              </p:ext>
            </p:extLst>
          </p:nvPr>
        </p:nvGraphicFramePr>
        <p:xfrm>
          <a:off x="165100" y="4038318"/>
          <a:ext cx="7391399" cy="2641228"/>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AT&amp;T</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Telecommunications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www.att.com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Cloud, Oracle Database, Oracle Integration</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6">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Hybrid cloud with Oracle and public cloud. Consolidated 300+ DB instances; real-time data integration across clouds.</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graphicFrame>
        <p:nvGraphicFramePr>
          <p:cNvPr id="15" name="Table 14">
            <a:extLst>
              <a:ext uri="{FF2B5EF4-FFF2-40B4-BE49-F238E27FC236}">
                <a16:creationId xmlns:a16="http://schemas.microsoft.com/office/drawing/2014/main" id="{A61126C0-4ED0-BDDB-DA6B-2B848987F6A6}"/>
              </a:ext>
            </a:extLst>
          </p:cNvPr>
          <p:cNvGraphicFramePr>
            <a:graphicFrameLocks noGrp="1"/>
          </p:cNvGraphicFramePr>
          <p:nvPr>
            <p:extLst>
              <p:ext uri="{D42A27DB-BD31-4B8C-83A1-F6EECF244321}">
                <p14:modId xmlns:p14="http://schemas.microsoft.com/office/powerpoint/2010/main" val="2011324976"/>
              </p:ext>
            </p:extLst>
          </p:nvPr>
        </p:nvGraphicFramePr>
        <p:xfrm>
          <a:off x="165100" y="7027084"/>
          <a:ext cx="7391399" cy="2641229"/>
        </p:xfrm>
        <a:graphic>
          <a:graphicData uri="http://schemas.openxmlformats.org/drawingml/2006/table">
            <a:tbl>
              <a:tblPr firstRow="1" bandRow="1">
                <a:tableStyleId>{2D5ABB26-0587-4C30-8999-92F81FD0307C}</a:tableStyleId>
              </a:tblPr>
              <a:tblGrid>
                <a:gridCol w="1829776">
                  <a:extLst>
                    <a:ext uri="{9D8B030D-6E8A-4147-A177-3AD203B41FA5}">
                      <a16:colId xmlns:a16="http://schemas.microsoft.com/office/drawing/2014/main" val="1382363182"/>
                    </a:ext>
                  </a:extLst>
                </a:gridCol>
                <a:gridCol w="5561623">
                  <a:extLst>
                    <a:ext uri="{9D8B030D-6E8A-4147-A177-3AD203B41FA5}">
                      <a16:colId xmlns:a16="http://schemas.microsoft.com/office/drawing/2014/main" val="3769453652"/>
                    </a:ext>
                  </a:extLst>
                </a:gridCol>
              </a:tblGrid>
              <a:tr h="357783">
                <a:tc>
                  <a:txBody>
                    <a:bodyPr/>
                    <a:lstStyle/>
                    <a:p>
                      <a:pPr marL="0" algn="l" defTabSz="195517" rtl="0" eaLnBrk="1" latinLnBrk="0" hangingPunct="1"/>
                      <a:r>
                        <a:rPr lang="en-US" sz="900" b="1" kern="1200" dirty="0">
                          <a:solidFill>
                            <a:srgbClr val="2C5967"/>
                          </a:solidFill>
                          <a:latin typeface="+mn-lt"/>
                          <a:ea typeface="+mn-ea"/>
                          <a:cs typeface="+mn-cs"/>
                        </a:rPr>
                        <a:t>Customer Name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Walmart</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4197844847"/>
                  </a:ext>
                </a:extLst>
              </a:tr>
              <a:tr h="316780">
                <a:tc>
                  <a:txBody>
                    <a:bodyPr/>
                    <a:lstStyle/>
                    <a:p>
                      <a:pPr marL="0" algn="l" defTabSz="195517" rtl="0" eaLnBrk="1" latinLnBrk="0" hangingPunct="1"/>
                      <a:r>
                        <a:rPr lang="en-US" sz="900" b="1" kern="1200" dirty="0">
                          <a:solidFill>
                            <a:srgbClr val="2C5967"/>
                          </a:solidFill>
                          <a:latin typeface="+mn-lt"/>
                          <a:ea typeface="+mn-ea"/>
                          <a:cs typeface="+mn-cs"/>
                        </a:rPr>
                        <a:t>Customer Industry</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Retail</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86189404"/>
                  </a:ext>
                </a:extLst>
              </a:tr>
              <a:tr h="290380">
                <a:tc>
                  <a:txBody>
                    <a:bodyPr/>
                    <a:lstStyle/>
                    <a:p>
                      <a:pPr marL="0" algn="l" defTabSz="195517" rtl="0" eaLnBrk="1" latinLnBrk="0" hangingPunct="1"/>
                      <a:r>
                        <a:rPr lang="en-US" sz="900" b="1" kern="1200" dirty="0">
                          <a:solidFill>
                            <a:srgbClr val="2C5967"/>
                          </a:solidFill>
                          <a:latin typeface="+mn-lt"/>
                          <a:ea typeface="+mn-ea"/>
                          <a:cs typeface="+mn-cs"/>
                        </a:rPr>
                        <a:t>Customer Website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www.walmart.com</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2868918100"/>
                  </a:ext>
                </a:extLst>
              </a:tr>
              <a:tr h="567562">
                <a:tc>
                  <a:txBody>
                    <a:bodyPr/>
                    <a:lstStyle/>
                    <a:p>
                      <a:pPr marL="0" algn="l" defTabSz="195517" rtl="0" eaLnBrk="1" latinLnBrk="0" hangingPunct="1"/>
                      <a:r>
                        <a:rPr lang="en-US" sz="900" b="1" kern="1200" dirty="0">
                          <a:solidFill>
                            <a:srgbClr val="2C5967"/>
                          </a:solidFill>
                          <a:latin typeface="+mn-lt"/>
                          <a:ea typeface="+mn-ea"/>
                          <a:cs typeface="+mn-cs"/>
                        </a:rPr>
                        <a:t>Oracle Product(s)</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r>
                        <a:t>Oracle Autonomous Database, Oracle Cloud Infrastructure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76870"/>
                  </a:ext>
                </a:extLst>
              </a:tr>
              <a:tr h="488367">
                <a:tc>
                  <a:txBody>
                    <a:bodyPr/>
                    <a:lstStyle/>
                    <a:p>
                      <a:pPr marL="0" algn="l" defTabSz="195517" rtl="0" eaLnBrk="1" latinLnBrk="0" hangingPunct="1"/>
                      <a:r>
                        <a:rPr lang="en-US" sz="900" b="1" kern="1200" dirty="0">
                          <a:solidFill>
                            <a:srgbClr val="2C5967"/>
                          </a:solidFill>
                          <a:latin typeface="+mn-lt"/>
                          <a:ea typeface="+mn-ea"/>
                          <a:cs typeface="+mn-cs"/>
                        </a:rPr>
                        <a:t>Links</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link to customer story, customer video, etc.)</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a:txBody>
                    <a:bodyPr/>
                    <a:lstStyle/>
                    <a:p>
                      <a:endParaRPr lang="en-US" sz="900" dirty="0">
                        <a:solidFill>
                          <a:schemeClr val="tx1"/>
                        </a:solidFill>
                        <a:latin typeface="Oracle Sans" panose="020B0503020204020204" pitchFamily="34" charset="0"/>
                        <a:cs typeface="Oracle Sans" panose="020B0503020204020204" pitchFamily="34" charset="0"/>
                      </a:endParaRP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212662237"/>
                  </a:ext>
                </a:extLst>
              </a:tr>
              <a:tr h="620357">
                <a:tc>
                  <a:txBody>
                    <a:bodyPr/>
                    <a:lstStyle/>
                    <a:p>
                      <a:pPr marL="0" algn="l" defTabSz="195517" rtl="0" eaLnBrk="1" latinLnBrk="0" hangingPunct="1"/>
                      <a:r>
                        <a:rPr lang="en-US" sz="900" b="1" kern="1200" dirty="0">
                          <a:solidFill>
                            <a:srgbClr val="2C5967"/>
                          </a:solidFill>
                          <a:latin typeface="+mn-lt"/>
                          <a:ea typeface="+mn-ea"/>
                          <a:cs typeface="+mn-cs"/>
                        </a:rPr>
                        <a:t>Summary</a:t>
                      </a:r>
                    </a:p>
                    <a:p>
                      <a:pPr marL="0" marR="0" lvl="0" indent="0" algn="l" defTabSz="195517" rtl="0" eaLnBrk="1" fontAlgn="auto" latinLnBrk="0" hangingPunct="1">
                        <a:lnSpc>
                          <a:spcPct val="100000"/>
                        </a:lnSpc>
                        <a:spcBef>
                          <a:spcPts val="0"/>
                        </a:spcBef>
                        <a:spcAft>
                          <a:spcPts val="0"/>
                        </a:spcAft>
                        <a:buClrTx/>
                        <a:buSzTx/>
                        <a:buFontTx/>
                        <a:buNone/>
                        <a:tabLst/>
                        <a:defRPr/>
                      </a:pPr>
                      <a:r>
                        <a:rPr lang="en-US" sz="700" dirty="0">
                          <a:solidFill>
                            <a:schemeClr val="tx1"/>
                          </a:solidFill>
                          <a:latin typeface="Oracle Sans" panose="020B0503020204020204" pitchFamily="34" charset="0"/>
                          <a:cs typeface="Oracle Sans" panose="020B0503020204020204" pitchFamily="34" charset="0"/>
                        </a:rPr>
                        <a:t>(Provide a short summary of the customer’s business challenge and why they chose Oracle)</a:t>
                      </a:r>
                    </a:p>
                  </a:txBody>
                  <a:tcPr marT="0" marB="0" anchor="ctr">
                    <a:lnL w="12700" cap="flat" cmpd="sng" algn="ctr">
                      <a:no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t>Oracle for data warehouse and analytics alongside existing cloud. 35% faster reporting and unified data governance.</a:t>
                      </a:r>
                    </a:p>
                  </a:txBody>
                  <a:tcPr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1948662"/>
                  </a:ext>
                </a:extLst>
              </a:tr>
            </a:tbl>
          </a:graphicData>
        </a:graphic>
      </p:graphicFrame>
    </p:spTree>
    <p:extLst>
      <p:ext uri="{BB962C8B-B14F-4D97-AF65-F5344CB8AC3E}">
        <p14:creationId xmlns:p14="http://schemas.microsoft.com/office/powerpoint/2010/main" val="404484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FFDD695-A70C-C68B-AE05-B2F31B58D7E6}"/>
              </a:ext>
            </a:extLst>
          </p:cNvPr>
          <p:cNvGraphicFramePr>
            <a:graphicFrameLocks noGrp="1"/>
          </p:cNvGraphicFramePr>
          <p:nvPr>
            <p:extLst>
              <p:ext uri="{D42A27DB-BD31-4B8C-83A1-F6EECF244321}">
                <p14:modId xmlns:p14="http://schemas.microsoft.com/office/powerpoint/2010/main" val="3647879473"/>
              </p:ext>
            </p:extLst>
          </p:nvPr>
        </p:nvGraphicFramePr>
        <p:xfrm>
          <a:off x="228599" y="988622"/>
          <a:ext cx="7315201" cy="5701099"/>
        </p:xfrm>
        <a:graphic>
          <a:graphicData uri="http://schemas.openxmlformats.org/drawingml/2006/table">
            <a:tbl>
              <a:tblPr firstRow="1" bandRow="1">
                <a:tableStyleId>{2D5ABB26-0587-4C30-8999-92F81FD0307C}</a:tableStyleId>
              </a:tblPr>
              <a:tblGrid>
                <a:gridCol w="862422">
                  <a:extLst>
                    <a:ext uri="{9D8B030D-6E8A-4147-A177-3AD203B41FA5}">
                      <a16:colId xmlns:a16="http://schemas.microsoft.com/office/drawing/2014/main" val="1823716183"/>
                    </a:ext>
                  </a:extLst>
                </a:gridCol>
                <a:gridCol w="222078">
                  <a:extLst>
                    <a:ext uri="{9D8B030D-6E8A-4147-A177-3AD203B41FA5}">
                      <a16:colId xmlns:a16="http://schemas.microsoft.com/office/drawing/2014/main" val="2807854026"/>
                    </a:ext>
                  </a:extLst>
                </a:gridCol>
                <a:gridCol w="1003618">
                  <a:extLst>
                    <a:ext uri="{9D8B030D-6E8A-4147-A177-3AD203B41FA5}">
                      <a16:colId xmlns:a16="http://schemas.microsoft.com/office/drawing/2014/main" val="1088514063"/>
                    </a:ext>
                  </a:extLst>
                </a:gridCol>
                <a:gridCol w="420143">
                  <a:extLst>
                    <a:ext uri="{9D8B030D-6E8A-4147-A177-3AD203B41FA5}">
                      <a16:colId xmlns:a16="http://schemas.microsoft.com/office/drawing/2014/main" val="97867412"/>
                    </a:ext>
                  </a:extLst>
                </a:gridCol>
                <a:gridCol w="1106002">
                  <a:extLst>
                    <a:ext uri="{9D8B030D-6E8A-4147-A177-3AD203B41FA5}">
                      <a16:colId xmlns:a16="http://schemas.microsoft.com/office/drawing/2014/main" val="3345351580"/>
                    </a:ext>
                  </a:extLst>
                </a:gridCol>
                <a:gridCol w="134172">
                  <a:extLst>
                    <a:ext uri="{9D8B030D-6E8A-4147-A177-3AD203B41FA5}">
                      <a16:colId xmlns:a16="http://schemas.microsoft.com/office/drawing/2014/main" val="1078110989"/>
                    </a:ext>
                  </a:extLst>
                </a:gridCol>
                <a:gridCol w="1274666">
                  <a:extLst>
                    <a:ext uri="{9D8B030D-6E8A-4147-A177-3AD203B41FA5}">
                      <a16:colId xmlns:a16="http://schemas.microsoft.com/office/drawing/2014/main" val="3620614086"/>
                    </a:ext>
                  </a:extLst>
                </a:gridCol>
                <a:gridCol w="448860">
                  <a:extLst>
                    <a:ext uri="{9D8B030D-6E8A-4147-A177-3AD203B41FA5}">
                      <a16:colId xmlns:a16="http://schemas.microsoft.com/office/drawing/2014/main" val="3990942346"/>
                    </a:ext>
                  </a:extLst>
                </a:gridCol>
                <a:gridCol w="1104810">
                  <a:extLst>
                    <a:ext uri="{9D8B030D-6E8A-4147-A177-3AD203B41FA5}">
                      <a16:colId xmlns:a16="http://schemas.microsoft.com/office/drawing/2014/main" val="2233156983"/>
                    </a:ext>
                  </a:extLst>
                </a:gridCol>
                <a:gridCol w="738430">
                  <a:extLst>
                    <a:ext uri="{9D8B030D-6E8A-4147-A177-3AD203B41FA5}">
                      <a16:colId xmlns:a16="http://schemas.microsoft.com/office/drawing/2014/main" val="3363955813"/>
                    </a:ext>
                  </a:extLst>
                </a:gridCol>
              </a:tblGrid>
              <a:tr h="187453">
                <a:tc gridSpan="10">
                  <a:txBody>
                    <a:bodyPr/>
                    <a:lstStyle/>
                    <a:p>
                      <a:pPr algn="ctr"/>
                      <a:r>
                        <a:rPr lang="en-US" sz="900" b="1" dirty="0"/>
                        <a:t>Open Opportunities 12-18 Months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pPr algn="ctr"/>
                      <a:endParaRPr lang="en-US" sz="900" b="1" dirty="0"/>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pPr algn="ctr"/>
                      <a:endParaRPr lang="en-US" sz="900" b="1"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ctr"/>
                      <a:endParaRPr lang="en-US" sz="900" b="1" dirty="0"/>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2483486"/>
                  </a:ext>
                </a:extLst>
              </a:tr>
              <a:tr h="150243">
                <a:tc rowSpan="2" gridSpan="2">
                  <a:txBody>
                    <a:bodyPr/>
                    <a:lstStyle/>
                    <a:p>
                      <a:pPr algn="ctr"/>
                      <a:r>
                        <a:rPr lang="en-US" sz="900" b="1" dirty="0">
                          <a:solidFill>
                            <a:srgbClr val="2C5967"/>
                          </a:solidFill>
                        </a:rPr>
                        <a:t>Product Pillar</a:t>
                      </a:r>
                    </a:p>
                  </a:txBody>
                  <a:tcPr marL="0" marR="0" marT="0" marB="0" anchor="ctr">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gridSpan="2">
                  <a:txBody>
                    <a:bodyPr/>
                    <a:lstStyle/>
                    <a:p>
                      <a:pPr algn="ctr"/>
                      <a:r>
                        <a:rPr lang="en-US" sz="900" b="1" dirty="0">
                          <a:solidFill>
                            <a:srgbClr val="2C5967"/>
                          </a:solidFill>
                        </a:rPr>
                        <a:t>Product Line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a:txBody>
                    <a:bodyPr/>
                    <a:lstStyle/>
                    <a:p>
                      <a:pPr algn="ctr"/>
                      <a:r>
                        <a:rPr lang="en-US" sz="900" b="1" dirty="0">
                          <a:solidFill>
                            <a:srgbClr val="2C5967"/>
                          </a:solidFill>
                        </a:rPr>
                        <a:t>Top Open Opportunities (40% &amp; Above)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pPr algn="ct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solidFill>
                      <a:schemeClr val="tx1">
                        <a:lumMod val="10000"/>
                        <a:lumOff val="90000"/>
                      </a:schemeClr>
                    </a:solidFill>
                  </a:tcPr>
                </a:tc>
                <a:tc rowSpan="2" gridSpan="3">
                  <a:txBody>
                    <a:bodyPr/>
                    <a:lstStyle/>
                    <a:p>
                      <a:pPr algn="ctr"/>
                      <a:r>
                        <a:rPr lang="en-US" sz="900" b="1" dirty="0">
                          <a:solidFill>
                            <a:srgbClr val="2C5967"/>
                          </a:solidFill>
                        </a:rPr>
                        <a:t>Recent Wins ($M</a:t>
                      </a:r>
                      <a:r>
                        <a:rPr lang="en-US" sz="900" b="1" baseline="0" dirty="0">
                          <a:solidFill>
                            <a:srgbClr val="2C5967"/>
                          </a:solidFill>
                        </a:rPr>
                        <a:t> USD)</a:t>
                      </a:r>
                      <a:endParaRPr lang="en-US" sz="900" b="1" dirty="0">
                        <a:solidFill>
                          <a:srgbClr val="2C5967"/>
                        </a:solidFil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3282156939"/>
                  </a:ext>
                </a:extLst>
              </a:tr>
              <a:tr h="150243">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gridSpan="2">
                  <a:txBody>
                    <a:bodyPr/>
                    <a:lstStyle/>
                    <a:p>
                      <a:pPr algn="ctr"/>
                      <a:r>
                        <a:rPr lang="en-US" sz="800" b="0" dirty="0">
                          <a:solidFill>
                            <a:schemeClr val="tx1"/>
                          </a:solidFill>
                        </a:rPr>
                        <a:t>Deal Size ($M USD)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a:txBody>
                    <a:bodyPr/>
                    <a:lstStyle/>
                    <a:p>
                      <a:pPr algn="ctr"/>
                      <a:r>
                        <a:rPr lang="en-US" sz="800" b="0" dirty="0">
                          <a:solidFill>
                            <a:schemeClr val="tx1"/>
                          </a:solidFill>
                        </a:rPr>
                        <a:t>Revenue Probability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3666276628"/>
                  </a:ext>
                </a:extLst>
              </a:tr>
              <a:tr h="150243">
                <a:tc gridSpan="2">
                  <a:txBody>
                    <a:bodyPr/>
                    <a:lstStyle/>
                    <a:p>
                      <a:pPr algn="l"/>
                      <a:r>
                        <a:rPr lang="en-US" sz="900" b="1" dirty="0">
                          <a:solidFill>
                            <a:schemeClr val="tx1"/>
                          </a:solidFill>
                        </a:rPr>
                        <a:t>On Premise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49900936"/>
                  </a:ext>
                </a:extLst>
              </a:tr>
              <a:tr h="150243">
                <a:tc gridSpan="2">
                  <a:txBody>
                    <a:bodyPr/>
                    <a:lstStyle/>
                    <a:p>
                      <a:pPr algn="l"/>
                      <a:r>
                        <a:rPr lang="en-US" sz="900" b="1" dirty="0">
                          <a:solidFill>
                            <a:srgbClr val="67605B"/>
                          </a:solidFill>
                        </a:rPr>
                        <a:t>Applications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9839696"/>
                  </a:ext>
                </a:extLst>
              </a:tr>
              <a:tr h="150243">
                <a:tc gridSpan="2">
                  <a:txBody>
                    <a:bodyPr/>
                    <a:lstStyle/>
                    <a:p>
                      <a:pPr algn="l"/>
                      <a:r>
                        <a:rPr lang="en-US" sz="900" b="1" dirty="0">
                          <a:solidFill>
                            <a:srgbClr val="67605B"/>
                          </a:solidFill>
                        </a:rPr>
                        <a:t>Database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98146532"/>
                  </a:ext>
                </a:extLst>
              </a:tr>
              <a:tr h="150243">
                <a:tc gridSpan="2">
                  <a:txBody>
                    <a:bodyPr/>
                    <a:lstStyle/>
                    <a:p>
                      <a:pPr algn="l"/>
                      <a:r>
                        <a:rPr lang="en-US" sz="900" b="1" dirty="0">
                          <a:solidFill>
                            <a:srgbClr val="67605B"/>
                          </a:solidFill>
                        </a:rPr>
                        <a:t>Middleware</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53108882"/>
                  </a:ext>
                </a:extLst>
              </a:tr>
              <a:tr h="150243">
                <a:tc gridSpan="2">
                  <a:txBody>
                    <a:bodyPr/>
                    <a:lstStyle/>
                    <a:p>
                      <a:pPr algn="l"/>
                      <a:r>
                        <a:rPr lang="en-US" sz="900" b="1" dirty="0">
                          <a:solidFill>
                            <a:schemeClr val="tx1"/>
                          </a:solidFill>
                        </a:rPr>
                        <a:t>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31835710"/>
                  </a:ext>
                </a:extLst>
              </a:tr>
              <a:tr h="150243">
                <a:tc gridSpan="2">
                  <a:txBody>
                    <a:bodyPr/>
                    <a:lstStyle/>
                    <a:p>
                      <a:pPr algn="l"/>
                      <a:r>
                        <a:rPr lang="en-US" sz="900" b="1" dirty="0">
                          <a:solidFill>
                            <a:srgbClr val="67605B"/>
                          </a:solidFill>
                        </a:rPr>
                        <a:t>SaaS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r>
                        <a:t>$5M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r>
                        <a:t>50%</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48939904"/>
                  </a:ext>
                </a:extLst>
              </a:tr>
              <a:tr h="150243">
                <a:tc gridSpan="2">
                  <a:txBody>
                    <a:bodyPr/>
                    <a:lstStyle/>
                    <a:p>
                      <a:pPr algn="l"/>
                      <a:r>
                        <a:rPr lang="en-US" sz="900" b="1" dirty="0">
                          <a:solidFill>
                            <a:srgbClr val="67605B"/>
                          </a:solidFill>
                        </a:rPr>
                        <a:t>PaaS/IaaS</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r>
                        <a:t>$7M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r>
                        <a:t>55%</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71210498"/>
                  </a:ext>
                </a:extLst>
              </a:tr>
              <a:tr h="150243">
                <a:tc gridSpan="2">
                  <a:txBody>
                    <a:bodyPr/>
                    <a:lstStyle/>
                    <a:p>
                      <a:pPr algn="l"/>
                      <a:r>
                        <a:rPr lang="en-US" sz="900" b="1" dirty="0">
                          <a:solidFill>
                            <a:srgbClr val="67605B"/>
                          </a:solidFill>
                        </a:rPr>
                        <a:t>Other</a:t>
                      </a:r>
                    </a:p>
                  </a:txBody>
                  <a:tcPr marL="18288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rgbClr val="67605B"/>
                        </a:solidFill>
                      </a:endParaRPr>
                    </a:p>
                  </a:txBody>
                  <a:tcPr marL="18288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8274853"/>
                  </a:ext>
                </a:extLst>
              </a:tr>
              <a:tr h="150243">
                <a:tc gridSpan="2">
                  <a:txBody>
                    <a:bodyPr/>
                    <a:lstStyle/>
                    <a:p>
                      <a:pPr algn="l"/>
                      <a:r>
                        <a:rPr lang="en-US" sz="900" b="1" dirty="0">
                          <a:solidFill>
                            <a:schemeClr val="tx1"/>
                          </a:solidFill>
                        </a:rPr>
                        <a:t>GBU</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0505797"/>
                  </a:ext>
                </a:extLst>
              </a:tr>
              <a:tr h="150243">
                <a:tc gridSpan="2">
                  <a:txBody>
                    <a:bodyPr/>
                    <a:lstStyle/>
                    <a:p>
                      <a:pPr algn="l"/>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97692486"/>
                  </a:ext>
                </a:extLst>
              </a:tr>
              <a:tr h="150243">
                <a:tc gridSpan="2">
                  <a:txBody>
                    <a:bodyPr/>
                    <a:lstStyle/>
                    <a:p>
                      <a:pPr algn="l"/>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solidFill>
                      <a:schemeClr val="tx1">
                        <a:lumMod val="10000"/>
                        <a:lumOff val="90000"/>
                      </a:schemeClr>
                    </a:solid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2">
                  <a:txBody>
                    <a:bodyPr/>
                    <a:lstStyle/>
                    <a:p>
                      <a:r>
                        <a:t>$3M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r>
                        <a:t>60%</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gridSpan="3">
                  <a:txBody>
                    <a:bodyPr/>
                    <a:lstStyle/>
                    <a:p>
                      <a:pPr algn="ctr"/>
                      <a:endParaRPr lang="en-US" sz="900" b="0" dirty="0">
                        <a:solidFill>
                          <a:srgbClr val="ECEAE8"/>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25000"/>
                          <a:lumOff val="75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787955604"/>
                  </a:ext>
                </a:extLst>
              </a:tr>
              <a:tr h="258934">
                <a:tc gridSpan="4">
                  <a:txBody>
                    <a:bodyPr/>
                    <a:lstStyle/>
                    <a:p>
                      <a:pPr algn="l"/>
                      <a:r>
                        <a:rPr lang="en-US" sz="900" b="1" dirty="0">
                          <a:solidFill>
                            <a:schemeClr val="tx1"/>
                          </a:solidFill>
                        </a:rPr>
                        <a:t>Total Deals Size (License &amp; Cloud TCV)</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$15M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Customer Segment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25000"/>
                          <a:lumOff val="75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r>
                        <a:t>Strategic</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25000"/>
                          <a:lumOff val="75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125458006"/>
                  </a:ext>
                </a:extLst>
              </a:tr>
              <a:tr h="150243">
                <a:tc gridSpan="4">
                  <a:txBody>
                    <a:bodyPr/>
                    <a:lstStyle/>
                    <a:p>
                      <a:pPr algn="l"/>
                      <a:r>
                        <a:rPr lang="en-US" sz="900" b="1" dirty="0">
                          <a:solidFill>
                            <a:schemeClr val="tx1"/>
                          </a:solidFill>
                        </a:rPr>
                        <a:t>Total Addressable Market (TAM)</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3">
                  <a:txBody>
                    <a:bodyPr/>
                    <a:lstStyle/>
                    <a:p>
                      <a:r>
                        <a:t>$120M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gridSpan="2">
                  <a:txBody>
                    <a:bodyPr/>
                    <a:lstStyle/>
                    <a:p>
                      <a:pPr algn="l"/>
                      <a:r>
                        <a:rPr lang="en-US" sz="900" b="1" dirty="0">
                          <a:solidFill>
                            <a:schemeClr val="tx1"/>
                          </a:solidFill>
                        </a:rPr>
                        <a:t>Avg Annual Oracle Spend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a:txBody>
                    <a:bodyPr/>
                    <a:lstStyle/>
                    <a:p>
                      <a:r>
                        <a:t>$8M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3569600413"/>
                  </a:ext>
                </a:extLst>
              </a:tr>
              <a:tr h="150243">
                <a:tc gridSpan="4">
                  <a:txBody>
                    <a:bodyPr/>
                    <a:lstStyle/>
                    <a:p>
                      <a:pPr algn="l"/>
                      <a:r>
                        <a:rPr lang="en-US" sz="900" b="1" dirty="0">
                          <a:solidFill>
                            <a:schemeClr val="tx1"/>
                          </a:solidFill>
                        </a:rPr>
                        <a:t>Annual Company Revenue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gridSpan="3">
                  <a:txBody>
                    <a:bodyPr/>
                    <a:lstStyle/>
                    <a:p>
                      <a:r>
                        <a:t>$220B</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hMerge="1">
                  <a:txBody>
                    <a:bodyPr/>
                    <a:lstStyle/>
                    <a:p>
                      <a:pPr algn="ctr"/>
                      <a:endParaRPr lang="en-US" sz="90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tc gridSpan="2">
                  <a:txBody>
                    <a:bodyPr/>
                    <a:lstStyle/>
                    <a:p>
                      <a:pPr algn="l"/>
                      <a:r>
                        <a:rPr lang="en-US" sz="900" b="1" dirty="0">
                          <a:solidFill>
                            <a:schemeClr val="tx1"/>
                          </a:solidFill>
                        </a:rPr>
                        <a:t>Share of Wallet (SOW) %</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l"/>
                      <a:endParaRPr lang="en-US" sz="900" b="1" dirty="0">
                        <a:solidFill>
                          <a:schemeClr val="tx1"/>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a:txBody>
                    <a:bodyPr/>
                    <a:lstStyle/>
                    <a:p>
                      <a:r>
                        <a:t>0.01%</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tcPr>
                </a:tc>
                <a:extLst>
                  <a:ext uri="{0D108BD9-81ED-4DB2-BD59-A6C34878D82A}">
                    <a16:rowId xmlns:a16="http://schemas.microsoft.com/office/drawing/2014/main" val="951474957"/>
                  </a:ext>
                </a:extLst>
              </a:tr>
              <a:tr h="183583">
                <a:tc gridSpan="10">
                  <a:txBody>
                    <a:bodyPr/>
                    <a:lstStyle/>
                    <a:p>
                      <a:pPr algn="ctr"/>
                      <a:r>
                        <a:rPr lang="en-US" sz="900" b="1" dirty="0">
                          <a:solidFill>
                            <a:schemeClr val="tx1"/>
                          </a:solidFill>
                        </a:rPr>
                        <a:t>Product Footprint ($M USD)</a:t>
                      </a: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25000"/>
                        <a:lumOff val="75000"/>
                      </a:schemeClr>
                    </a:solidFill>
                  </a:tcPr>
                </a:tc>
                <a:tc hMerge="1">
                  <a:txBody>
                    <a:bodyPr/>
                    <a:lstStyle/>
                    <a:p>
                      <a:endParaRPr lang="en-US"/>
                    </a:p>
                  </a:txBody>
                  <a:tcPr/>
                </a:tc>
                <a:tc hMerge="1">
                  <a:txBody>
                    <a:bodyPr/>
                    <a:lstStyle/>
                    <a:p>
                      <a:endParaRPr lang="en-US"/>
                    </a:p>
                  </a:txBody>
                  <a:tcPr>
                    <a:lnT w="12700" cap="flat" cmpd="sng" algn="ctr">
                      <a:solidFill>
                        <a:schemeClr val="tx1">
                          <a:lumMod val="10000"/>
                          <a:lumOff val="90000"/>
                        </a:schemeClr>
                      </a:solidFill>
                      <a:prstDash val="solid"/>
                      <a:round/>
                      <a:headEnd type="none" w="med" len="med"/>
                      <a:tailEnd type="none" w="med" len="med"/>
                    </a:lnT>
                  </a:tcPr>
                </a:tc>
                <a:tc hMerge="1">
                  <a:txBody>
                    <a:bodyPr/>
                    <a:lstStyle/>
                    <a:p>
                      <a:endParaRPr lang="en-US"/>
                    </a:p>
                  </a:txBody>
                  <a:tcPr/>
                </a:tc>
                <a:tc hMerge="1">
                  <a:txBody>
                    <a:bodyPr/>
                    <a:lstStyle/>
                    <a:p>
                      <a:pPr algn="ctr"/>
                      <a:endParaRPr lang="en-US" sz="900" dirty="0">
                        <a:solidFill>
                          <a:srgbClr val="67605B"/>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pPr algn="l"/>
                      <a:endParaRPr lang="en-US" sz="900" b="1" dirty="0">
                        <a:solidFill>
                          <a:schemeClr val="tx1"/>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rgbClr val="2C5967"/>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lnT w="12700" cap="flat" cmpd="sng" algn="ctr">
                      <a:solidFill>
                        <a:srgbClr val="2C5967"/>
                      </a:solidFill>
                      <a:prstDash val="solid"/>
                      <a:round/>
                      <a:headEnd type="none" w="med" len="med"/>
                      <a:tailEnd type="none" w="med" len="med"/>
                    </a:lnT>
                  </a:tcPr>
                </a:tc>
                <a:tc hMerge="1">
                  <a:txBody>
                    <a:bodyPr/>
                    <a:lstStyle/>
                    <a:p>
                      <a:pPr algn="ctr"/>
                      <a:endParaRPr lang="en-US" sz="900" dirty="0">
                        <a:solidFill>
                          <a:srgbClr val="67605B"/>
                        </a:solidFill>
                      </a:endParaRPr>
                    </a:p>
                  </a:txBody>
                  <a:tcPr marL="45720" marR="45720" marT="0" marB="0" anchor="ctr">
                    <a:lnT w="12700" cap="flat" cmpd="sng" algn="ctr">
                      <a:solidFill>
                        <a:srgbClr val="2C5967"/>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tcPr>
                </a:tc>
                <a:extLst>
                  <a:ext uri="{0D108BD9-81ED-4DB2-BD59-A6C34878D82A}">
                    <a16:rowId xmlns:a16="http://schemas.microsoft.com/office/drawing/2014/main" val="662027050"/>
                  </a:ext>
                </a:extLst>
              </a:tr>
              <a:tr h="291301">
                <a:tc gridSpan="3">
                  <a:txBody>
                    <a:bodyPr/>
                    <a:lstStyle/>
                    <a:p>
                      <a:pPr algn="ctr"/>
                      <a:r>
                        <a:rPr lang="en-US" sz="900" b="1" dirty="0">
                          <a:solidFill>
                            <a:srgbClr val="2C5967"/>
                          </a:solidFill>
                        </a:rPr>
                        <a:t>Product Pillar</a:t>
                      </a:r>
                    </a:p>
                  </a:txBody>
                  <a:tcPr marL="45720" marR="45720" marT="0"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endParaRPr lang="en-US"/>
                    </a:p>
                  </a:txBody>
                  <a:tcPr>
                    <a:lnL w="12700" cap="flat" cmpd="sng" algn="ctr">
                      <a:solidFill>
                        <a:schemeClr val="bg1"/>
                      </a:solidFill>
                      <a:prstDash val="solid"/>
                      <a:round/>
                      <a:headEnd type="none" w="med" len="med"/>
                      <a:tailEnd type="none" w="med" len="med"/>
                    </a:lnL>
                  </a:tcPr>
                </a:tc>
                <a:tc gridSpan="2">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Current Annual Support Spend ($M USD)</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tc gridSpan="3">
                  <a:txBody>
                    <a:bodyPr/>
                    <a:lstStyle/>
                    <a:p>
                      <a:pPr algn="ctr"/>
                      <a:r>
                        <a:rPr lang="en-US" sz="900" b="1" dirty="0">
                          <a:solidFill>
                            <a:srgbClr val="2C5967"/>
                          </a:solidFill>
                        </a:rPr>
                        <a:t>Existing Footprint</a:t>
                      </a:r>
                      <a:br>
                        <a:rPr lang="en-US" sz="900" b="1" dirty="0">
                          <a:solidFill>
                            <a:srgbClr val="2C5967"/>
                          </a:solidFill>
                        </a:rPr>
                      </a:br>
                      <a:r>
                        <a:rPr lang="en-US" sz="900" b="1" dirty="0">
                          <a:solidFill>
                            <a:srgbClr val="2C5967"/>
                          </a:solidFill>
                        </a:rPr>
                        <a:t>(Product)</a:t>
                      </a:r>
                      <a:endParaRPr lang="en-US" sz="10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endParaRPr lang="en-US"/>
                    </a:p>
                  </a:txBody>
                  <a:tcPr/>
                </a:tc>
                <a:tc hMerge="1">
                  <a:txBody>
                    <a:bodyPr/>
                    <a:lstStyle/>
                    <a:p>
                      <a:pPr algn="ctr"/>
                      <a:r>
                        <a:rPr lang="en-US" sz="900" b="1">
                          <a:solidFill>
                            <a:srgbClr val="2C5967"/>
                          </a:solidFill>
                        </a:rPr>
                        <a:t>Existing Footprint (Product)</a:t>
                      </a:r>
                      <a:endParaRPr lang="en-US" sz="900" b="1" dirty="0">
                        <a:solidFill>
                          <a:srgbClr val="2C5967"/>
                        </a:solidFill>
                      </a:endParaRP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lumMod val="10000"/>
                        <a:lumOff val="90000"/>
                      </a:schemeClr>
                    </a:solidFill>
                  </a:tcPr>
                </a:tc>
                <a:tc gridSpan="2">
                  <a:txBody>
                    <a:bodyPr/>
                    <a:lstStyle/>
                    <a:p>
                      <a:pPr algn="ctr"/>
                      <a:r>
                        <a:rPr lang="en-US" sz="900" b="1" dirty="0">
                          <a:solidFill>
                            <a:srgbClr val="2C5967"/>
                          </a:solidFill>
                        </a:rPr>
                        <a:t>Competitors</a:t>
                      </a:r>
                      <a:br>
                        <a:rPr lang="en-US" sz="900" b="1" dirty="0">
                          <a:solidFill>
                            <a:srgbClr val="2C5967"/>
                          </a:solidFill>
                        </a:rPr>
                      </a:br>
                      <a:r>
                        <a:rPr lang="en-US" sz="900" b="1" dirty="0">
                          <a:solidFill>
                            <a:srgbClr val="2C5967"/>
                          </a:solidFill>
                        </a:rPr>
                        <a:t>(Product)</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solidFill>
                      <a:schemeClr val="tx1">
                        <a:lumMod val="10000"/>
                        <a:lumOff val="90000"/>
                      </a:schemeClr>
                    </a:solidFill>
                  </a:tcPr>
                </a:tc>
                <a:tc hMerge="1">
                  <a:txBody>
                    <a:bodyPr/>
                    <a:lstStyle/>
                    <a:p>
                      <a:pPr algn="ctr"/>
                      <a:r>
                        <a:rPr lang="en-US" sz="900" b="1" dirty="0">
                          <a:solidFill>
                            <a:srgbClr val="2C5967"/>
                          </a:solidFill>
                        </a:rPr>
                        <a:t>Competitors (</a:t>
                      </a:r>
                      <a:r>
                        <a:rPr lang="en-US" sz="900" b="1" dirty="0" err="1">
                          <a:solidFill>
                            <a:srgbClr val="2C5967"/>
                          </a:solidFill>
                        </a:rPr>
                        <a:t>Productr</a:t>
                      </a:r>
                      <a:r>
                        <a:rPr lang="en-US" sz="900" b="1" dirty="0">
                          <a:solidFill>
                            <a:srgbClr val="2C5967"/>
                          </a:solidFill>
                        </a:rPr>
                        <a:t>)</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02860817"/>
                  </a:ext>
                </a:extLst>
              </a:tr>
              <a:tr h="229653">
                <a:tc rowSpan="5">
                  <a:txBody>
                    <a:bodyPr/>
                    <a:lstStyle/>
                    <a:p>
                      <a:pPr algn="ctr"/>
                      <a:r>
                        <a:rPr lang="en-US" sz="900" b="1" dirty="0">
                          <a:solidFill>
                            <a:schemeClr val="tx1"/>
                          </a:solidFill>
                        </a:rPr>
                        <a:t>Software &amp; Cloud</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Applications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B w="12700" cap="flat" cmpd="sng" algn="ctr">
                      <a:solidFill>
                        <a:schemeClr val="tx1">
                          <a:lumMod val="10000"/>
                          <a:lumOff val="90000"/>
                        </a:schemeClr>
                      </a:solidFill>
                      <a:prstDash val="solid"/>
                      <a:round/>
                      <a:headEnd type="none" w="med" len="med"/>
                      <a:tailEnd type="none" w="med" len="med"/>
                    </a:lnB>
                    <a:noFill/>
                  </a:tcPr>
                </a:tc>
                <a:tc gridSpan="2">
                  <a:txBody>
                    <a:bodyPr/>
                    <a:lstStyle/>
                    <a:p>
                      <a:r>
                        <a:t>$3M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SAP, custom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Azure-native, SAP</a:t>
                      </a:r>
                    </a:p>
                  </a:txBody>
                  <a:tcPr>
                    <a:lnL w="12700" cap="flat" cmpd="sng" algn="ctr">
                      <a:solidFill>
                        <a:schemeClr val="tx1">
                          <a:lumMod val="10000"/>
                          <a:lumOff val="90000"/>
                        </a:schemeClr>
                      </a:solidFill>
                      <a:prstDash val="solid"/>
                      <a:round/>
                      <a:headEnd type="none" w="med" len="med"/>
                      <a:tailEnd type="none" w="med" len="med"/>
                    </a:lnL>
                    <a:lnT>
                      <a:noFill/>
                    </a:lnT>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lnT>
                      <a:noFill/>
                    </a:lnT>
                  </a:tcPr>
                </a:tc>
                <a:extLst>
                  <a:ext uri="{0D108BD9-81ED-4DB2-BD59-A6C34878D82A}">
                    <a16:rowId xmlns:a16="http://schemas.microsoft.com/office/drawing/2014/main" val="924429248"/>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Database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r>
                        <a:t>$4M</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r>
                        <a:t>Oracle Database (legacy), SQL Server, Azure SQL</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r>
                        <a:t>AWS RDS/Aurora, Azure SQL, Google Cloud SQL</a:t>
                      </a:r>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135319978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Middleware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24432615"/>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dirty="0"/>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noFill/>
                      <a:prstDash val="solid"/>
                      <a:round/>
                      <a:headEnd type="none" w="med" len="med"/>
                      <a:tailEnd type="none" w="med" len="med"/>
                    </a:lnB>
                    <a:noFil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814629311"/>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PaaS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dirty="0"/>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860978898"/>
                  </a:ext>
                </a:extLst>
              </a:tr>
              <a:tr h="229653">
                <a:tc gridSpan="3">
                  <a:txBody>
                    <a:bodyPr/>
                    <a:lstStyle/>
                    <a:p>
                      <a:pPr algn="r"/>
                      <a:r>
                        <a:rPr lang="en-US" sz="900" b="1" dirty="0">
                          <a:solidFill>
                            <a:schemeClr val="tx1"/>
                          </a:solidFill>
                        </a:rPr>
                        <a:t>IaaS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7218750"/>
                  </a:ext>
                </a:extLst>
              </a:tr>
              <a:tr h="229653">
                <a:tc rowSpan="3">
                  <a:txBody>
                    <a:bodyPr/>
                    <a:lstStyle/>
                    <a:p>
                      <a:pPr algn="ctr"/>
                      <a:r>
                        <a:rPr lang="en-US" sz="900" b="1" dirty="0">
                          <a:solidFill>
                            <a:schemeClr val="tx1"/>
                          </a:solidFill>
                        </a:rPr>
                        <a:t>Hardware</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gridSpan="2">
                  <a:txBody>
                    <a:bodyPr/>
                    <a:lstStyle/>
                    <a:p>
                      <a:pPr algn="r"/>
                      <a:r>
                        <a:rPr lang="en-US" sz="900" b="1" dirty="0">
                          <a:solidFill>
                            <a:srgbClr val="67605B"/>
                          </a:solidFill>
                        </a:rPr>
                        <a:t>Engineered Systems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616407640"/>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Servers – Exclude ES</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061991599"/>
                  </a:ext>
                </a:extLst>
              </a:tr>
              <a:tr h="229653">
                <a:tc vMerge="1">
                  <a:txBody>
                    <a:bodyPr/>
                    <a:lstStyle/>
                    <a:p>
                      <a:pPr algn="ctr"/>
                      <a:endParaRPr lang="en-US" sz="900" b="1" dirty="0">
                        <a:solidFill>
                          <a:srgbClr val="2C5967"/>
                        </a:solidFill>
                      </a:endParaRP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gridSpan="2">
                  <a:txBody>
                    <a:bodyPr/>
                    <a:lstStyle/>
                    <a:p>
                      <a:pPr algn="r"/>
                      <a:r>
                        <a:rPr lang="en-US" sz="900" b="1" dirty="0">
                          <a:solidFill>
                            <a:srgbClr val="67605B"/>
                          </a:solidFill>
                        </a:rPr>
                        <a:t>Storage</a:t>
                      </a: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612838464"/>
                  </a:ext>
                </a:extLst>
              </a:tr>
              <a:tr h="229653">
                <a:tc gridSpan="3">
                  <a:txBody>
                    <a:bodyPr/>
                    <a:lstStyle/>
                    <a:p>
                      <a:pPr algn="r"/>
                      <a:r>
                        <a:rPr lang="en-US" sz="900" b="1" dirty="0">
                          <a:solidFill>
                            <a:schemeClr val="tx1"/>
                          </a:solidFill>
                        </a:rPr>
                        <a:t>Services</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3517550448"/>
                  </a:ext>
                </a:extLst>
              </a:tr>
              <a:tr h="229653">
                <a:tc gridSpan="3">
                  <a:txBody>
                    <a:bodyPr/>
                    <a:lstStyle/>
                    <a:p>
                      <a:pPr algn="r"/>
                      <a:r>
                        <a:rPr lang="en-US" sz="900" b="1" dirty="0">
                          <a:solidFill>
                            <a:schemeClr val="tx1"/>
                          </a:solidFill>
                        </a:rPr>
                        <a:t>Other</a:t>
                      </a:r>
                    </a:p>
                  </a:txBody>
                  <a:tcPr marL="45720" marR="45720" marT="0" marB="0" anchor="ctr">
                    <a:lnR w="12700" cap="flat" cmpd="sng" algn="ctr">
                      <a:solidFill>
                        <a:schemeClr val="tx1">
                          <a:lumMod val="10000"/>
                          <a:lumOff val="9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C5967"/>
                      </a:solidFill>
                      <a:prstDash val="solid"/>
                      <a:round/>
                      <a:headEnd type="none" w="med" len="med"/>
                      <a:tailEnd type="none" w="med" len="med"/>
                    </a:lnB>
                    <a:solidFill>
                      <a:schemeClr val="tx1">
                        <a:lumMod val="10000"/>
                        <a:lumOff val="90000"/>
                      </a:schemeClr>
                    </a:solidFill>
                  </a:tcPr>
                </a:tc>
                <a:tc hMerge="1">
                  <a:txBody>
                    <a:bodyPr/>
                    <a:lstStyle/>
                    <a:p>
                      <a:pPr algn="ctr"/>
                      <a:endParaRPr lang="en-US" sz="900" b="1" dirty="0">
                        <a:solidFill>
                          <a:srgbClr val="2C5967"/>
                        </a:solidFill>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chemeClr val="tx1">
                          <a:lumMod val="10000"/>
                          <a:lumOff val="90000"/>
                        </a:schemeClr>
                      </a:solidFill>
                      <a:prstDash val="solid"/>
                      <a:round/>
                      <a:headEnd type="none" w="med" len="med"/>
                      <a:tailEnd type="none" w="med" len="med"/>
                    </a:lnB>
                    <a:noFill/>
                  </a:tcPr>
                </a:tc>
                <a:tc hMerge="1">
                  <a:txBody>
                    <a:bodyPr/>
                    <a:lstStyle/>
                    <a:p>
                      <a:endParaRPr lang="en-US"/>
                    </a:p>
                  </a:txBody>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gridSpan="3">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tc gridSpan="2">
                  <a:txBody>
                    <a:bodyPr/>
                    <a:lstStyle/>
                    <a:p>
                      <a:pPr algn="ctr"/>
                      <a:endParaRPr lang="en-US" sz="900" b="0" dirty="0">
                        <a:solidFill>
                          <a:srgbClr val="67605B"/>
                        </a:solidFill>
                        <a:latin typeface="Oracle Sans" panose="020B0503020204020204" pitchFamily="34" charset="0"/>
                        <a:cs typeface="Oracle Sans" panose="020B0503020204020204" pitchFamily="34" charset="0"/>
                      </a:endParaRPr>
                    </a:p>
                  </a:txBody>
                  <a:tcPr marL="45720" marR="45720" marT="0" marB="0" anchor="ctr">
                    <a:lnL w="12700" cap="flat" cmpd="sng" algn="ctr">
                      <a:solidFill>
                        <a:schemeClr val="tx1">
                          <a:lumMod val="10000"/>
                          <a:lumOff val="90000"/>
                        </a:schemeClr>
                      </a:solidFill>
                      <a:prstDash val="solid"/>
                      <a:round/>
                      <a:headEnd type="none" w="med" len="med"/>
                      <a:tailEnd type="none" w="med" len="med"/>
                    </a:lnL>
                    <a:lnR w="12700" cap="flat" cmpd="sng" algn="ctr">
                      <a:solidFill>
                        <a:schemeClr val="tx1">
                          <a:lumMod val="10000"/>
                          <a:lumOff val="90000"/>
                        </a:schemeClr>
                      </a:solidFill>
                      <a:prstDash val="solid"/>
                      <a:round/>
                      <a:headEnd type="none" w="med" len="med"/>
                      <a:tailEnd type="none" w="med" len="med"/>
                    </a:lnR>
                    <a:lnT w="12700" cap="flat" cmpd="sng" algn="ctr">
                      <a:solidFill>
                        <a:schemeClr val="tx1">
                          <a:lumMod val="10000"/>
                          <a:lumOff val="90000"/>
                        </a:schemeClr>
                      </a:solidFill>
                      <a:prstDash val="solid"/>
                      <a:round/>
                      <a:headEnd type="none" w="med" len="med"/>
                      <a:tailEnd type="none" w="med" len="med"/>
                    </a:lnT>
                    <a:lnB w="12700" cap="flat" cmpd="sng" algn="ctr">
                      <a:solidFill>
                        <a:srgbClr val="2C5967"/>
                      </a:solidFill>
                      <a:prstDash val="solid"/>
                      <a:round/>
                      <a:headEnd type="none" w="med" len="med"/>
                      <a:tailEnd type="none" w="med" len="med"/>
                    </a:lnB>
                    <a:noFill/>
                  </a:tcPr>
                </a:tc>
                <a:tc hMerge="1">
                  <a:txBody>
                    <a:bodyPr/>
                    <a:lstStyle/>
                    <a:p>
                      <a:endParaRPr lang="en-US"/>
                    </a:p>
                  </a:txBody>
                  <a:tcPr>
                    <a:lnL w="12700" cap="flat" cmpd="sng" algn="ctr">
                      <a:solidFill>
                        <a:schemeClr val="tx1">
                          <a:lumMod val="10000"/>
                          <a:lumOff val="90000"/>
                        </a:schemeClr>
                      </a:solidFill>
                      <a:prstDash val="solid"/>
                      <a:round/>
                      <a:headEnd type="none" w="med" len="med"/>
                      <a:tailEnd type="none" w="med" len="med"/>
                    </a:lnL>
                  </a:tcPr>
                </a:tc>
                <a:extLst>
                  <a:ext uri="{0D108BD9-81ED-4DB2-BD59-A6C34878D82A}">
                    <a16:rowId xmlns:a16="http://schemas.microsoft.com/office/drawing/2014/main" val="2530364602"/>
                  </a:ext>
                </a:extLst>
              </a:tr>
            </a:tbl>
          </a:graphicData>
        </a:graphic>
      </p:graphicFrame>
      <p:sp>
        <p:nvSpPr>
          <p:cNvPr id="2" name="TextBox 1">
            <a:extLst>
              <a:ext uri="{FF2B5EF4-FFF2-40B4-BE49-F238E27FC236}">
                <a16:creationId xmlns:a16="http://schemas.microsoft.com/office/drawing/2014/main" id="{88067B93-6AB8-723F-6ED4-82078C4B168C}"/>
              </a:ext>
            </a:extLst>
          </p:cNvPr>
          <p:cNvSpPr txBox="1"/>
          <p:nvPr/>
        </p:nvSpPr>
        <p:spPr>
          <a:xfrm>
            <a:off x="4978400" y="0"/>
            <a:ext cx="2794000" cy="369332"/>
          </a:xfrm>
          <a:prstGeom prst="rect">
            <a:avLst/>
          </a:prstGeom>
          <a:solidFill>
            <a:schemeClr val="accent2">
              <a:lumMod val="40000"/>
              <a:lumOff val="60000"/>
            </a:schemeClr>
          </a:solidFill>
        </p:spPr>
        <p:txBody>
          <a:bodyPr wrap="square" rtlCol="0">
            <a:spAutoFit/>
          </a:bodyPr>
          <a:lstStyle/>
          <a:p>
            <a:pPr algn="r"/>
            <a:r>
              <a:rPr lang="en-US" sz="900" b="1" i="1" dirty="0"/>
              <a:t>NOTE: Financials are planned to be available via a Customer Profile / Exec Dashboard in FY24</a:t>
            </a:r>
          </a:p>
        </p:txBody>
      </p:sp>
    </p:spTree>
    <p:extLst>
      <p:ext uri="{BB962C8B-B14F-4D97-AF65-F5344CB8AC3E}">
        <p14:creationId xmlns:p14="http://schemas.microsoft.com/office/powerpoint/2010/main" val="11348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Redwood_stripped">
  <a:themeElements>
    <a:clrScheme name="Redwood">
      <a:dk1>
        <a:srgbClr val="312D2A"/>
      </a:dk1>
      <a:lt1>
        <a:srgbClr val="FCFBFA"/>
      </a:lt1>
      <a:dk2>
        <a:srgbClr val="312D2A"/>
      </a:dk2>
      <a:lt2>
        <a:srgbClr val="FCFBFA"/>
      </a:lt2>
      <a:accent1>
        <a:srgbClr val="C74634"/>
      </a:accent1>
      <a:accent2>
        <a:srgbClr val="FACD62"/>
      </a:accent2>
      <a:accent3>
        <a:srgbClr val="94AFAF"/>
      </a:accent3>
      <a:accent4>
        <a:srgbClr val="2B6242"/>
      </a:accent4>
      <a:accent5>
        <a:srgbClr val="AE562C"/>
      </a:accent5>
      <a:accent6>
        <a:srgbClr val="759C6C"/>
      </a:accent6>
      <a:hlink>
        <a:srgbClr val="2C5967"/>
      </a:hlink>
      <a:folHlink>
        <a:srgbClr val="2C5967"/>
      </a:folHlink>
    </a:clrScheme>
    <a:fontScheme name="Oracle">
      <a:majorFont>
        <a:latin typeface="Georgia"/>
        <a:ea typeface=""/>
        <a:cs typeface=""/>
      </a:majorFont>
      <a:minorFont>
        <a:latin typeface="Oracl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Ocean">
      <a:srgbClr val="2C5967"/>
    </a:custClr>
    <a:custClr name="Surf">
      <a:srgbClr val="41817E"/>
    </a:custClr>
    <a:custClr name="Sand">
      <a:srgbClr val="E5DBBE"/>
    </a:custClr>
    <a:custClr name="Pebble">
      <a:srgbClr val="8B8580"/>
    </a:custClr>
    <a:custClr name="Granite">
      <a:srgbClr val="67605B"/>
    </a:custClr>
  </a:custClrLst>
  <a:extLst>
    <a:ext uri="{05A4C25C-085E-4340-85A3-A5531E510DB2}">
      <thm15:themeFamily xmlns:thm15="http://schemas.microsoft.com/office/thememl/2012/main" name="Executive Briefing Document Template" id="{AF9E81D2-4060-5849-94C1-99B370E0B450}" vid="{6B0EACC5-4AF0-7547-89FC-E147119284B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29476</TotalTime>
  <Words>3118</Words>
  <Application>Microsoft Macintosh PowerPoint</Application>
  <PresentationFormat>Custom</PresentationFormat>
  <Paragraphs>277</Paragraphs>
  <Slides>5</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Oracle Sans</vt:lpstr>
      <vt:lpstr>Oracle Sans Tab</vt:lpstr>
      <vt:lpstr>System Font Regular</vt:lpstr>
      <vt:lpstr>1_Redwood_stripped</vt:lpstr>
      <vt:lpstr>PowerPoint Presentation</vt:lpstr>
      <vt:lpstr>PowerPoint Presentation</vt:lpstr>
      <vt:lpstr>PowerPoint Presentation</vt:lpstr>
      <vt:lpstr>PowerPoint Presentation</vt:lpstr>
      <vt:lpstr>PowerPoint Presentation</vt:lpstr>
    </vt:vector>
  </TitlesOfParts>
  <Company>Oracle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Brittany Schmigel</dc:creator>
  <cp:lastModifiedBy>Lisa Kalfayan</cp:lastModifiedBy>
  <cp:revision>130</cp:revision>
  <dcterms:created xsi:type="dcterms:W3CDTF">2020-07-31T18:38:26Z</dcterms:created>
  <dcterms:modified xsi:type="dcterms:W3CDTF">2023-06-13T22:47:40Z</dcterms:modified>
</cp:coreProperties>
</file>