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Chatbots vs LLMs vs Autonomous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5DA3D9"/>
                </a:solidFill>
              </a:defRPr>
            </a:pPr>
            <a:r>
              <a:t>Understanding the Evolution of Conversational AI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What are AI Chatbots? – The Foundation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What are Large Language Models (LLMs)? – The Brain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What are Autonomous AI Agents? – The Complete Solution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Evolution: How Each Technology Addresses Previous Limitations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Real-World Applications &amp; Use Cases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Key Takeaways for Decision Makers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The Evolution of Conversational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45720"/>
          </a:xfrm>
          <a:prstGeom prst="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20240" y="3063240"/>
            <a:ext cx="320040" cy="32004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00400" cy="256032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5A5A6"/>
                </a:solidFill>
              </a:defRPr>
            </a:pPr>
            <a:r>
              <a:t>AI CHATBOTS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Rule-based systems with predefined responses. Limited to scripted conversations and keyword matching.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3063240"/>
            <a:ext cx="320040" cy="320040"/>
          </a:xfrm>
          <a:prstGeom prst="ellipse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3200400" cy="256032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16D9C"/>
                </a:solidFill>
              </a:defRPr>
            </a:pPr>
            <a:r>
              <a:t>LLMs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94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Deep learning models trained on vast text data. Generate human-like responses with contextual understanding.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306324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3657600"/>
            <a:ext cx="3200400" cy="2560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794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Autonomous systems that can reason, plan, use tools, and take actions to achieve complex goals.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23360" y="3017520"/>
            <a:ext cx="914400" cy="36576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863840" y="3017520"/>
            <a:ext cx="914400" cy="36576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AI Chatbots: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Rule-based or simple ML systems designed for specific tasks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Operate on predefined scripts, decision trees, and keyword matching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Follow If-Then-Else logic patterns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Popular examples: Traditional customer service bots, FAQ bots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Technology: Pattern matching, regular expressions, basic NLP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Best for: Simple, repetitive queries with known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From Chatbots to LLMs: Addressing Key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3035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66344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CHATBOT LIMITATIONS:</a:t>
            </a:r>
            <a:br/>
            <a:br/>
            <a:r>
              <a:t>• Cannot handle queries outside programmed scripts</a:t>
            </a:r>
            <a:br/>
            <a:br/>
            <a:r>
              <a:t>• Require manual updates for new scenarios</a:t>
            </a:r>
            <a:br/>
            <a:br/>
            <a:r>
              <a:t>• No understanding of context or nuance</a:t>
            </a:r>
            <a:br/>
            <a:br/>
            <a:r>
              <a:t>• Struggle with typos, slang, or variations</a:t>
            </a:r>
            <a:br/>
            <a:br/>
            <a:r>
              <a:t>• Cannot generate creative or novel responses</a:t>
            </a:r>
            <a:br/>
            <a:br/>
            <a:r>
              <a:t>• Limited to single-turn interactions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3474720"/>
            <a:ext cx="822960" cy="4572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097280"/>
            <a:ext cx="5029200" cy="5303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466344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LLMs SOLVE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Understand natural language variations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Generate contextually relevant responses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Handle ambiguous or complex queries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Learn patterns from vast training 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Provide creative, nuanced answers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Maintain conversation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Large Language Models (LLMs):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Deep neural networks trained on billions of text parameters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Understand context, semantics, and generate human-like text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Examples: GPT-4, Claude, Gemini, LLaMA, PaLM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Can summarize, translate, code, reason, and create content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Stateless by default – each conversation starts fresh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Technology: Transformer architecture, attention mechanisms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LLM Capabilities vs Chatbots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4864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Traditional Chatbots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Keyword matching 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Pre-written responses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Single domain expertise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Cannot handle variations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 reasoning 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Static knowledge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54864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Semantic understanding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Dynamic text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Multi-domain knowledge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Handle typos &amp; variations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Basic reasoning &amp; logic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Vast trained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From LLMs to Agents: Bridging Critical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3035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66344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LLM LIMITATIONS:</a:t>
            </a:r>
            <a:br/>
            <a:br/>
            <a:r>
              <a:t>• Cannot take real-world actions</a:t>
            </a:r>
            <a:br/>
            <a:br/>
            <a:r>
              <a:t>• No memory of past interactions</a:t>
            </a:r>
            <a:br/>
            <a:br/>
            <a:r>
              <a:t>• Cannot access real-time information</a:t>
            </a:r>
            <a:br/>
            <a:br/>
            <a:r>
              <a:t>• Single response only – no planning</a:t>
            </a:r>
            <a:br/>
            <a:br/>
            <a:r>
              <a:t>• Cannot use external tools or APIs</a:t>
            </a:r>
            <a:br/>
            <a:br/>
            <a:r>
              <a:t>• Knowledge cutoff date limitation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3474720"/>
            <a:ext cx="822960" cy="4572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097280"/>
            <a:ext cx="5029200" cy="5303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466344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AI AGENTS SOLVE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Execute multi-step workflows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Persistent memory &amp; context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Real-time web/database access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Plan, reason, and iterate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Integrate with any tool/API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Always up-to-date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🔧 The Secret Sauce: Tool Calling (Function Calling)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7295" cy="128016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41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Tool Calling allows LLMs to interact with external systems by generating structured function calls instead of just text. This is what transforms a chatbot into an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926080"/>
            <a:ext cx="2743200" cy="10972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 LLM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 Web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💻 Code Interpreter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56032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🔍 Search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02336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Data Analysis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3474720" y="2834640"/>
            <a:ext cx="1097280" cy="320040"/>
          </a:xfrm>
          <a:prstGeom prst="lef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3474720" y="4206240"/>
            <a:ext cx="1097280" cy="320040"/>
          </a:xfrm>
          <a:prstGeom prst="lef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80960" y="2834640"/>
            <a:ext cx="914400" cy="32004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80960" y="4206240"/>
            <a:ext cx="914400" cy="32004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16D9C"/>
                </a:solidFill>
              </a:defRPr>
            </a:pPr>
            <a:r>
              <a:t>📚 Learn more: platform.openai.com/docs/guides/function-calling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Real-World Tool Examples: LLM + Tools = Power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822960" cy="8229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Web Browsing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ChatGPT + 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097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Search real-time info, read articles, access current data beyond training cutoff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68880"/>
            <a:ext cx="822960" cy="822960"/>
          </a:xfrm>
          <a:prstGeom prst="ellipse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Code Interpreter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ChatGPT +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Execute code, analyze data, create charts, process files in real-time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931920"/>
            <a:ext cx="822960" cy="8229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Image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ChatGPT + DALL-E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5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Create images from text descriptions, edit existing images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394960"/>
            <a:ext cx="822960" cy="822960"/>
          </a:xfrm>
          <a:prstGeom prst="ellipse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94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Custom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806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Any LLM + Your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86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Connect to databases, CRMs, internal tools, trigger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How Function Calling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651760" cy="20116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"What's the weather in NYC?"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011680"/>
            <a:ext cx="365760" cy="27432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188720"/>
            <a:ext cx="2651760" cy="20116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LLM 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I need to call get_weather()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2011680"/>
            <a:ext cx="365760" cy="27432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265176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 Executes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API returns: 72°F, Sunny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2011680"/>
            <a:ext cx="365760" cy="27432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1188720"/>
            <a:ext cx="265176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4️⃣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LLM Responds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"It's 72°F and sunny in NYC!"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11277295" cy="1463040"/>
          </a:xfrm>
          <a:prstGeom prst="roundRect">
            <a:avLst/>
          </a:prstGeom>
          <a:solidFill>
            <a:srgbClr val="FFF8E7"/>
          </a:solidFill>
          <a:ln w="25400">
            <a:solidFill>
              <a:srgbClr val="E9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97A3B"/>
                </a:solidFill>
              </a:defRPr>
            </a:pPr>
            <a:r>
              <a:t>💡 KEY INSIGHT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The LLM doesn't execute code or call APIs itself. It generates a structured request (JSON), the system executes it, and returns results to the LLM to formulate a response.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5303520" cy="1188720"/>
          </a:xfrm>
          <a:prstGeom prst="roundRect">
            <a:avLst/>
          </a:prstGeom>
          <a:solidFill>
            <a:srgbClr val="FFEBEB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❌ Without Tools (Pure LLM)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"I don't have access to real-time weather data."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94960"/>
            <a:ext cx="5303520" cy="1188720"/>
          </a:xfrm>
          <a:prstGeom prst="roundRect">
            <a:avLst/>
          </a:prstGeom>
          <a:solidFill>
            <a:srgbClr val="E8F8F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✅ With Tools (Agent)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"It's currently 72°F and sunny in New York City!"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From Tool-Enabled LLMs to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+ 1 Tool = Enhanced Capability (e.g., ChatGPT + Web)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Multiple Tools = Flexible Problem Solving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Tools + Memory = Contextual Assistant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Tools + Memory + Planning = AUTONOMOUS AGENT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Agent = LLM that can decide WHICH tools to use, WHEN to use them, and iterate until goal is achieved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Complete Comparison: Chatbots vs LLMs vs AI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3657600" cy="50292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CHATBOTS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Rule-based logic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Scripted responses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No external access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Cannot take actions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No memory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Simple queries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822960"/>
            <a:ext cx="3657600" cy="50292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Pattern recognition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Generated responses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Knowledge from training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Text output only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Session-based context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Complex conversations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822960"/>
            <a:ext cx="365760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Reasoning + planning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Tool-enabled actions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Real-time data access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Execute workflows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Persistent memory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Goal-oriented behavior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Choosing the Right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CHATBOTS: Simple, repetitive, high-volume tasks with known answers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LLMs: Language understanding, content generation, flexible conversations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Tools: When you need real-time data or specific capabilities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AI AGENTS: Complex goals requiring planning, multiple tools, and iteration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Start simple → Add tools → Scale to agents as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CHATBOTS → LLMs: From scripts to understanding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LLMs → LLM+Tools: From knowing to accessing (via Function Calling)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LLM+Tools → Agents: From single actions to autonomous goal pursuit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TOOL CALLING is the bridge that enables LLMs to interact with the world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Agents = LLM + Tools + Memory + Planning + Autonomy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5DA3D9"/>
                </a:solidFill>
              </a:defRPr>
            </a:pPr>
            <a:r>
              <a:t>From Chatbots to Agents: The AI Evolution Continues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